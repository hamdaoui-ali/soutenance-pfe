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Ouverture : la migration est présentée comme une route gouvernée entre un état legacy et un état moderne. Préciser que le projet réel réalisé chez CGI est confidentiel et que le deck représente une version démo fictive et anonymisée. Sources : rapport, page de garde ; storyboard et source-map du dépôt.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Annoncer les sept chapitres. La carte sert à donner au jury une trajectoire de lecture ; elle ne remplace pas le détail oral. Source : storyboard-18-slides.md.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Raconter le déclencheur : un grand client aérien vise une migration cloud à horizon fin 2027. Le portefeuille legacy doit évoluer vers Azure tout en conservant la disponibilité des applications. Ne citer aucun nom client. Sources : rapport pp. 14–22 ; contexte fourni par le porteur du projet ; source-map.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Faire apparaître la tension réelle : les mêmes équipes gèrent maintenance, incidents, optimisation et migration progressive. La continuité fonctionnelle reste la priorité du client. Les risques visibles sont la perte de contexte, le rework, les décisions dispersées et les preuves difficiles à relier. Sources : rapport pp. 20–22 ; storyboard.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Expliquer la bascule : les prompts et pratiques individuelles capitalisent un savoir utile, mais ne passent plus à l'échelle d'un portefeuille. La réflexion mène à une Migration Factory multi-agents avec validation humaine. Java/Spring Boot et Angular sont le périmètre démontré ; les autres écosystèmes restent une vision cible. Sources : rapport pp. 22, 41–51 et 84–85 ; source-map.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Lire l'architecture de haut en bas : l'humain fixe l'intention et autorise, l'orchestrateur porte l'état et les transitions, les agents produisent des propositions, les services déterministes exécutent et vérifient, le registre conserve les preuves. Sources : rapport pp. 41–51.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Montrer que Java et Angular n'ont pas la même toolchain. Ils partagent toutefois les contrats de gouvernance : état, gate, checksum, validation et historique. Sources : rapport pp. 41–51 et 52–65.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Décrire le parcours comme une progression par états. Les gates structurent les passages critiques et chaque transformation revient vers une preuve de validation. Source : rapport pp. 41–51 et 52–65 ; matrice de références de la démo.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Présenter Java/Spring Boot comme le parcours de référence le plus mature : Spring Boot 2.1, 2.7, 3.5 et 4.0 avec Java 11, 17 et 21, Maven et OpenRewrite. Ne pas transformer cette trajectoire en promesse de couverture universelle. Sources : rapport pp. 52–64 et 70–79.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Préciser les frontières Angular : 18→19 et 19→20 sont scellées ; 20→21 est préparée mais non démarrée. Une migration 11→21 n'est pas démontrée. Sources : rapport pp. 53–55, 65–66 et 70–79 ; source-map.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agents sont spécialisés et bornés : analyse, review, planification, transformation, réparation et assistance. Aucun agent ne reçoit un accès libre au terminal ou au système de fichiers. La décision sensible reste humaine. Sources : rapport pp. 43–51 et 61–64.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Décrire la réparation comme un changement contrôlé : échec gelé, contexte réuni, proposition, review, décision humaine, application isolée, build/test et revalidation. Les checksums, tentatives bornées et historiques évitent le retry aveugle. Sources : rapport pp. 50–51, 63–65 et 78–79 ; matrice de références de la démo.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Faire la démonstration autour d'une seule décision : inspecter la correction Angular G10, vérifier la preuve, puis approuver, modifier ou rejeter. Préciser que l'interface est locale, déterministe, anonymisée et basée sur des états préparés ; elle ne connecte pas le backend CGI, Maven, npm ou Azure. Sources : DEMO-RECORDING.md et source-reference-matrix.md.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Présenter uniquement les observations disponibles : 607 tests backend réussis et 4 ignorés ; contrôles frontend de type, conformité et build validés ; baseline frontend de 12 à 11 échecs après intégration ; transitions Angular 18→19 et 19→20 scellées. Ce sont des preuves ponctuelles, pas un benchmark global. Sources : rapport p. 66 et pp. 70–81.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Relier chaque difficulté à la réponse technique décrite dans le rapport : diff structuré, manifeste backend, catalogue de profils versionné et base SQLite autoritaire réconciliée. Sources : rapport pp. 65 et 81–84.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Assumer les limites : authentification et rôles non livrés, benchmark manuel contrôlé absent, CI commune absente, couverture Angular incomplète, coûts et durées LLM non consolidés. Présenter sécurité, instrumentation, benchmark et nouveaux écosystèmes comme perspectives. Sources : rapport pp. 82–85.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Conclure sur le principe architectural : les agents raisonnent et proposent ; les services déterministes exécutent et vérifient ; l'humain contrôle les décisions sensibles. La contribution est une automatisation gouvernée, traçable et revalidable, pas une autonomie totale. Sources : rapport pp. 84–85.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Ouvrir la discussion sur les choix d'architecture, les preuves et les limites assumées. Ne pas introduire de nouveau résultat. Source : storyboard-18-slides.md.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sv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sv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117"/>
        </a:solidFill>
      </p:bgPr>
    </p:bg>
    <p:spTree>
      <p:nvGrpSpPr>
        <p:cNvPr id="1" name=""/>
        <p:cNvGrpSpPr/>
        <p:nvPr/>
      </p:nvGrpSpPr>
      <p:grpSpPr>
        <a:xfrm>
          <a:off x="0" y="0"/>
          <a:ext cx="0" cy="0"/>
          <a:chOff x="0" y="0"/>
          <a:chExt cx="0" cy="0"/>
        </a:xfrm>
      </p:grpSpPr>
      <p:sp>
        <p:nvSpPr>
          <p:cNvPr id="2" name="Shape 0"/>
          <p:cNvSpPr/>
          <p:nvPr/>
        </p:nvSpPr>
        <p:spPr>
          <a:xfrm>
            <a:off x="658368" y="621792"/>
            <a:ext cx="548640" cy="0"/>
          </a:xfrm>
          <a:prstGeom prst="line">
            <a:avLst/>
          </a:prstGeom>
          <a:noFill/>
          <a:ln w="27940">
            <a:solidFill>
              <a:srgbClr val="68D6E8"/>
            </a:solidFill>
            <a:prstDash val="solid"/>
          </a:ln>
        </p:spPr>
      </p:sp>
      <p:sp>
        <p:nvSpPr>
          <p:cNvPr id="3" name="Text 1"/>
          <p:cNvSpPr/>
          <p:nvPr/>
        </p:nvSpPr>
        <p:spPr>
          <a:xfrm>
            <a:off x="1353312" y="512064"/>
            <a:ext cx="1645920" cy="182880"/>
          </a:xfrm>
          <a:prstGeom prst="rect">
            <a:avLst/>
          </a:prstGeom>
          <a:noFill/>
          <a:ln/>
        </p:spPr>
        <p:txBody>
          <a:bodyPr wrap="square" lIns="0" tIns="0" rIns="0" bIns="0" rtlCol="0" anchor="ctr">
            <a:normAutofit/>
          </a:bodyPr>
          <a:lstStyle/>
          <a:p>
            <a:pPr algn="l" indent="0" marL="0">
              <a:buNone/>
            </a:pPr>
            <a:r>
              <a:rPr lang="en-US" sz="900" b="1" spc="120" kern="0" dirty="0">
                <a:solidFill>
                  <a:srgbClr val="68D6E8"/>
                </a:solidFill>
                <a:latin typeface="Aptos Mono" pitchFamily="34" charset="0"/>
                <a:ea typeface="Aptos Mono" pitchFamily="34" charset="-122"/>
                <a:cs typeface="Aptos Mono" pitchFamily="34" charset="-120"/>
              </a:rPr>
              <a:t>PFE / 2026</a:t>
            </a:r>
            <a:endParaRPr lang="en-US" sz="900" dirty="0"/>
          </a:p>
        </p:txBody>
      </p:sp>
      <p:sp>
        <p:nvSpPr>
          <p:cNvPr id="4" name="Text 2"/>
          <p:cNvSpPr/>
          <p:nvPr/>
        </p:nvSpPr>
        <p:spPr>
          <a:xfrm>
            <a:off x="658368" y="1097280"/>
            <a:ext cx="4023360" cy="164592"/>
          </a:xfrm>
          <a:prstGeom prst="rect">
            <a:avLst/>
          </a:prstGeom>
          <a:noFill/>
          <a:ln/>
        </p:spPr>
        <p:txBody>
          <a:bodyPr wrap="square" lIns="0" tIns="0" rIns="0" bIns="0" rtlCol="0" anchor="ctr">
            <a:normAutofit/>
          </a:bodyPr>
          <a:lstStyle/>
          <a:p>
            <a:pPr algn="l" indent="0" marL="0">
              <a:buNone/>
            </a:pPr>
            <a:r>
              <a:rPr lang="en-US" sz="800" b="1" spc="115" kern="0" dirty="0">
                <a:solidFill>
                  <a:srgbClr val="9EADB8"/>
                </a:solidFill>
                <a:latin typeface="Aptos Mono" pitchFamily="34" charset="0"/>
                <a:ea typeface="Aptos Mono" pitchFamily="34" charset="-122"/>
                <a:cs typeface="Aptos Mono" pitchFamily="34" charset="-120"/>
              </a:rPr>
              <a:t>VERSION DÉMO · PROJET CONFIDENTIEL</a:t>
            </a:r>
            <a:endParaRPr lang="en-US" sz="800" dirty="0"/>
          </a:p>
        </p:txBody>
      </p:sp>
      <p:sp>
        <p:nvSpPr>
          <p:cNvPr id="5" name="Text 3"/>
          <p:cNvSpPr/>
          <p:nvPr/>
        </p:nvSpPr>
        <p:spPr>
          <a:xfrm>
            <a:off x="658368" y="1426464"/>
            <a:ext cx="5806440" cy="1325880"/>
          </a:xfrm>
          <a:prstGeom prst="rect">
            <a:avLst/>
          </a:prstGeom>
          <a:noFill/>
          <a:ln/>
        </p:spPr>
        <p:txBody>
          <a:bodyPr wrap="square" lIns="0" tIns="0" rIns="0" bIns="0" rtlCol="0" anchor="t">
            <a:normAutofit/>
          </a:bodyPr>
          <a:lstStyle/>
          <a:p>
            <a:pPr algn="l" indent="0" marL="0">
              <a:buNone/>
            </a:pPr>
            <a:r>
              <a:rPr lang="en-US" sz="4400" b="1" dirty="0">
                <a:solidFill>
                  <a:srgbClr val="F5F7F8"/>
                </a:solidFill>
                <a:latin typeface="Aptos Display" pitchFamily="34" charset="0"/>
                <a:ea typeface="Aptos Display" pitchFamily="34" charset="-122"/>
                <a:cs typeface="Aptos Display" pitchFamily="34" charset="-120"/>
              </a:rPr>
              <a:t>Agentic</a:t>
            </a:r>
            <a:endParaRPr lang="en-US" sz="4400" dirty="0"/>
          </a:p>
          <a:p>
            <a:pPr algn="l" indent="0" marL="0">
              <a:buNone/>
            </a:pPr>
            <a:r>
              <a:rPr lang="en-US" sz="4400" b="1" dirty="0">
                <a:solidFill>
                  <a:srgbClr val="F5F7F8"/>
                </a:solidFill>
                <a:latin typeface="Aptos Display" pitchFamily="34" charset="0"/>
                <a:ea typeface="Aptos Display" pitchFamily="34" charset="-122"/>
                <a:cs typeface="Aptos Display" pitchFamily="34" charset="-120"/>
              </a:rPr>
              <a:t>Migration Platform</a:t>
            </a:r>
            <a:endParaRPr lang="en-US" sz="4400" dirty="0"/>
          </a:p>
        </p:txBody>
      </p:sp>
      <p:sp>
        <p:nvSpPr>
          <p:cNvPr id="6" name="Text 4"/>
          <p:cNvSpPr/>
          <p:nvPr/>
        </p:nvSpPr>
        <p:spPr>
          <a:xfrm>
            <a:off x="694944" y="3090672"/>
            <a:ext cx="4800600" cy="603504"/>
          </a:xfrm>
          <a:prstGeom prst="rect">
            <a:avLst/>
          </a:prstGeom>
          <a:noFill/>
          <a:ln/>
        </p:spPr>
        <p:txBody>
          <a:bodyPr wrap="square" lIns="0" tIns="0" rIns="0" bIns="0" rtlCol="0" anchor="t">
            <a:normAutofit/>
          </a:bodyPr>
          <a:lstStyle/>
          <a:p>
            <a:pPr algn="l" indent="0" marL="0">
              <a:buNone/>
            </a:pPr>
            <a:r>
              <a:rPr lang="en-US" sz="1800" b="1" dirty="0">
                <a:solidFill>
                  <a:srgbClr val="68D6E8"/>
                </a:solidFill>
                <a:latin typeface="Aptos Display" pitchFamily="34" charset="0"/>
                <a:ea typeface="Aptos Display" pitchFamily="34" charset="-122"/>
                <a:cs typeface="Aptos Display" pitchFamily="34" charset="-120"/>
              </a:rPr>
              <a:t>Migration legacy gouvernée,</a:t>
            </a:r>
            <a:endParaRPr lang="en-US" sz="1800" dirty="0"/>
          </a:p>
          <a:p>
            <a:pPr algn="l" indent="0" marL="0">
              <a:buNone/>
            </a:pPr>
            <a:r>
              <a:rPr lang="en-US" sz="1800" b="1" dirty="0">
                <a:solidFill>
                  <a:srgbClr val="68D6E8"/>
                </a:solidFill>
                <a:latin typeface="Aptos Display" pitchFamily="34" charset="0"/>
                <a:ea typeface="Aptos Display" pitchFamily="34" charset="-122"/>
                <a:cs typeface="Aptos Display" pitchFamily="34" charset="-120"/>
              </a:rPr>
              <a:t>traçable et vérifiable.</a:t>
            </a:r>
            <a:endParaRPr lang="en-US" sz="1800" dirty="0"/>
          </a:p>
        </p:txBody>
      </p:sp>
      <p:sp>
        <p:nvSpPr>
          <p:cNvPr id="7" name="Text 5"/>
          <p:cNvSpPr/>
          <p:nvPr/>
        </p:nvSpPr>
        <p:spPr>
          <a:xfrm>
            <a:off x="694944" y="3968496"/>
            <a:ext cx="5166360" cy="256032"/>
          </a:xfrm>
          <a:prstGeom prst="rect">
            <a:avLst/>
          </a:prstGeom>
          <a:noFill/>
          <a:ln/>
        </p:spPr>
        <p:txBody>
          <a:bodyPr wrap="square" lIns="0" tIns="0" rIns="0" bIns="0" rtlCol="0" anchor="t">
            <a:normAutofit/>
          </a:bodyPr>
          <a:lstStyle/>
          <a:p>
            <a:pPr algn="l" indent="0" marL="0">
              <a:buNone/>
            </a:pPr>
            <a:r>
              <a:rPr lang="en-US" sz="1220" dirty="0">
                <a:solidFill>
                  <a:srgbClr val="9EADB8"/>
                </a:solidFill>
                <a:latin typeface="Aptos" pitchFamily="34" charset="0"/>
                <a:ea typeface="Aptos" pitchFamily="34" charset="-122"/>
                <a:cs typeface="Aptos" pitchFamily="34" charset="-120"/>
              </a:rPr>
              <a:t>Une Migration Factory gouvernée pour Java / Spring Boot et Angular</a:t>
            </a:r>
            <a:endParaRPr lang="en-US" sz="1220" dirty="0"/>
          </a:p>
        </p:txBody>
      </p:sp>
      <p:sp>
        <p:nvSpPr>
          <p:cNvPr id="8" name="Text 6"/>
          <p:cNvSpPr/>
          <p:nvPr/>
        </p:nvSpPr>
        <p:spPr>
          <a:xfrm>
            <a:off x="694944" y="5998464"/>
            <a:ext cx="4434840" cy="164592"/>
          </a:xfrm>
          <a:prstGeom prst="rect">
            <a:avLst/>
          </a:prstGeom>
          <a:noFill/>
          <a:ln/>
        </p:spPr>
        <p:txBody>
          <a:bodyPr wrap="square" lIns="0" tIns="0" rIns="0" bIns="0" rtlCol="0" anchor="ctr">
            <a:normAutofit/>
          </a:bodyPr>
          <a:lstStyle/>
          <a:p>
            <a:pPr algn="l" indent="0" marL="0">
              <a:buNone/>
            </a:pPr>
            <a:r>
              <a:rPr lang="en-US" sz="800" b="1" spc="100" kern="0" dirty="0">
                <a:solidFill>
                  <a:srgbClr val="6C7F89"/>
                </a:solidFill>
                <a:latin typeface="Aptos Mono" pitchFamily="34" charset="0"/>
                <a:ea typeface="Aptos Mono" pitchFamily="34" charset="-122"/>
                <a:cs typeface="Aptos Mono" pitchFamily="34" charset="-120"/>
              </a:rPr>
              <a:t>DECK DE SOUTENANCE · VERSION ANONYMISÉE</a:t>
            </a:r>
            <a:endParaRPr lang="en-US" sz="800" dirty="0"/>
          </a:p>
        </p:txBody>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6565392" y="1005840"/>
            <a:ext cx="4919472" cy="3346704"/>
          </a:xfrm>
          <a:prstGeom prst="rect">
            <a:avLst/>
          </a:prstGeom>
        </p:spPr>
      </p:pic>
      <p:sp>
        <p:nvSpPr>
          <p:cNvPr id="10" name="Text 7"/>
          <p:cNvSpPr/>
          <p:nvPr/>
        </p:nvSpPr>
        <p:spPr>
          <a:xfrm>
            <a:off x="6839712" y="1152144"/>
            <a:ext cx="1481328" cy="155448"/>
          </a:xfrm>
          <a:prstGeom prst="rect">
            <a:avLst/>
          </a:prstGeom>
          <a:noFill/>
          <a:ln/>
        </p:spPr>
        <p:txBody>
          <a:bodyPr wrap="square" lIns="0" tIns="0" rIns="0" bIns="0" rtlCol="0" anchor="ctr">
            <a:normAutofit/>
          </a:bodyPr>
          <a:lstStyle/>
          <a:p>
            <a:pPr algn="l" indent="0" marL="0">
              <a:buNone/>
            </a:pPr>
            <a:r>
              <a:rPr lang="en-US" sz="800" b="1" spc="85" kern="0" dirty="0">
                <a:solidFill>
                  <a:srgbClr val="68D6E8"/>
                </a:solidFill>
                <a:latin typeface="Aptos Mono" pitchFamily="34" charset="0"/>
                <a:ea typeface="Aptos Mono" pitchFamily="34" charset="-122"/>
                <a:cs typeface="Aptos Mono" pitchFamily="34" charset="-120"/>
              </a:rPr>
              <a:t>LEGACY</a:t>
            </a:r>
            <a:endParaRPr lang="en-US" sz="800" dirty="0"/>
          </a:p>
        </p:txBody>
      </p:sp>
      <p:sp>
        <p:nvSpPr>
          <p:cNvPr id="11" name="Text 8"/>
          <p:cNvSpPr/>
          <p:nvPr/>
        </p:nvSpPr>
        <p:spPr>
          <a:xfrm>
            <a:off x="6839712" y="1353312"/>
            <a:ext cx="1481328" cy="164592"/>
          </a:xfrm>
          <a:prstGeom prst="rect">
            <a:avLst/>
          </a:prstGeom>
          <a:noFill/>
          <a:ln/>
        </p:spPr>
        <p:txBody>
          <a:bodyPr wrap="square" lIns="0" tIns="0" rIns="0" bIns="0" rtlCol="0" anchor="t">
            <a:normAutofit/>
          </a:bodyPr>
          <a:lstStyle/>
          <a:p>
            <a:pPr algn="l" indent="0" marL="0">
              <a:buNone/>
            </a:pPr>
            <a:r>
              <a:rPr lang="en-US" sz="950" dirty="0">
                <a:solidFill>
                  <a:srgbClr val="9EADB8"/>
                </a:solidFill>
                <a:latin typeface="Aptos" pitchFamily="34" charset="0"/>
                <a:ea typeface="Aptos" pitchFamily="34" charset="-122"/>
                <a:cs typeface="Aptos" pitchFamily="34" charset="-120"/>
              </a:rPr>
              <a:t>état source</a:t>
            </a:r>
            <a:endParaRPr lang="en-US" sz="950" dirty="0"/>
          </a:p>
        </p:txBody>
      </p:sp>
      <p:sp>
        <p:nvSpPr>
          <p:cNvPr id="12" name="Text 9"/>
          <p:cNvSpPr/>
          <p:nvPr/>
        </p:nvSpPr>
        <p:spPr>
          <a:xfrm>
            <a:off x="7936992" y="2039112"/>
            <a:ext cx="1481328" cy="155448"/>
          </a:xfrm>
          <a:prstGeom prst="rect">
            <a:avLst/>
          </a:prstGeom>
          <a:noFill/>
          <a:ln/>
        </p:spPr>
        <p:txBody>
          <a:bodyPr wrap="square" lIns="0" tIns="0" rIns="0" bIns="0" rtlCol="0" anchor="ctr">
            <a:normAutofit/>
          </a:bodyPr>
          <a:lstStyle/>
          <a:p>
            <a:pPr algn="l" indent="0" marL="0">
              <a:buNone/>
            </a:pPr>
            <a:r>
              <a:rPr lang="en-US" sz="800" b="1" spc="85" kern="0" dirty="0">
                <a:solidFill>
                  <a:srgbClr val="4E9DFF"/>
                </a:solidFill>
                <a:latin typeface="Aptos Mono" pitchFamily="34" charset="0"/>
                <a:ea typeface="Aptos Mono" pitchFamily="34" charset="-122"/>
                <a:cs typeface="Aptos Mono" pitchFamily="34" charset="-120"/>
              </a:rPr>
              <a:t>CONTROL PLANE</a:t>
            </a:r>
            <a:endParaRPr lang="en-US" sz="800" dirty="0"/>
          </a:p>
        </p:txBody>
      </p:sp>
      <p:sp>
        <p:nvSpPr>
          <p:cNvPr id="13" name="Text 10"/>
          <p:cNvSpPr/>
          <p:nvPr/>
        </p:nvSpPr>
        <p:spPr>
          <a:xfrm>
            <a:off x="7936992" y="2240280"/>
            <a:ext cx="1481328" cy="164592"/>
          </a:xfrm>
          <a:prstGeom prst="rect">
            <a:avLst/>
          </a:prstGeom>
          <a:noFill/>
          <a:ln/>
        </p:spPr>
        <p:txBody>
          <a:bodyPr wrap="square" lIns="0" tIns="0" rIns="0" bIns="0" rtlCol="0" anchor="t">
            <a:normAutofit/>
          </a:bodyPr>
          <a:lstStyle/>
          <a:p>
            <a:pPr algn="l" indent="0" marL="0">
              <a:buNone/>
            </a:pPr>
            <a:r>
              <a:rPr lang="en-US" sz="950" dirty="0">
                <a:solidFill>
                  <a:srgbClr val="9EADB8"/>
                </a:solidFill>
                <a:latin typeface="Aptos" pitchFamily="34" charset="0"/>
                <a:ea typeface="Aptos" pitchFamily="34" charset="-122"/>
                <a:cs typeface="Aptos" pitchFamily="34" charset="-120"/>
              </a:rPr>
              <a:t>agents + gates</a:t>
            </a:r>
            <a:endParaRPr lang="en-US" sz="950" dirty="0"/>
          </a:p>
        </p:txBody>
      </p:sp>
      <p:sp>
        <p:nvSpPr>
          <p:cNvPr id="14" name="Text 11"/>
          <p:cNvSpPr/>
          <p:nvPr/>
        </p:nvSpPr>
        <p:spPr>
          <a:xfrm>
            <a:off x="9015984" y="2935224"/>
            <a:ext cx="1481328" cy="155448"/>
          </a:xfrm>
          <a:prstGeom prst="rect">
            <a:avLst/>
          </a:prstGeom>
          <a:noFill/>
          <a:ln/>
        </p:spPr>
        <p:txBody>
          <a:bodyPr wrap="square" lIns="0" tIns="0" rIns="0" bIns="0" rtlCol="0" anchor="ctr">
            <a:normAutofit/>
          </a:bodyPr>
          <a:lstStyle/>
          <a:p>
            <a:pPr algn="l" indent="0" marL="0">
              <a:buNone/>
            </a:pPr>
            <a:r>
              <a:rPr lang="en-US" sz="800" b="1" spc="85" kern="0" dirty="0">
                <a:solidFill>
                  <a:srgbClr val="F4B84A"/>
                </a:solidFill>
                <a:latin typeface="Aptos Mono" pitchFamily="34" charset="0"/>
                <a:ea typeface="Aptos Mono" pitchFamily="34" charset="-122"/>
                <a:cs typeface="Aptos Mono" pitchFamily="34" charset="-120"/>
              </a:rPr>
              <a:t>EVIDENCE</a:t>
            </a:r>
            <a:endParaRPr lang="en-US" sz="800" dirty="0"/>
          </a:p>
        </p:txBody>
      </p:sp>
      <p:sp>
        <p:nvSpPr>
          <p:cNvPr id="15" name="Text 12"/>
          <p:cNvSpPr/>
          <p:nvPr/>
        </p:nvSpPr>
        <p:spPr>
          <a:xfrm>
            <a:off x="9015984" y="3136392"/>
            <a:ext cx="1481328" cy="164592"/>
          </a:xfrm>
          <a:prstGeom prst="rect">
            <a:avLst/>
          </a:prstGeom>
          <a:noFill/>
          <a:ln/>
        </p:spPr>
        <p:txBody>
          <a:bodyPr wrap="square" lIns="0" tIns="0" rIns="0" bIns="0" rtlCol="0" anchor="t">
            <a:normAutofit/>
          </a:bodyPr>
          <a:lstStyle/>
          <a:p>
            <a:pPr algn="l" indent="0" marL="0">
              <a:buNone/>
            </a:pPr>
            <a:r>
              <a:rPr lang="en-US" sz="950" dirty="0">
                <a:solidFill>
                  <a:srgbClr val="9EADB8"/>
                </a:solidFill>
                <a:latin typeface="Aptos" pitchFamily="34" charset="0"/>
                <a:ea typeface="Aptos" pitchFamily="34" charset="-122"/>
                <a:cs typeface="Aptos" pitchFamily="34" charset="-120"/>
              </a:rPr>
              <a:t>preuve</a:t>
            </a:r>
            <a:endParaRPr lang="en-US" sz="950" dirty="0"/>
          </a:p>
        </p:txBody>
      </p:sp>
      <p:sp>
        <p:nvSpPr>
          <p:cNvPr id="16" name="Text 13"/>
          <p:cNvSpPr/>
          <p:nvPr/>
        </p:nvSpPr>
        <p:spPr>
          <a:xfrm>
            <a:off x="10094976" y="3858768"/>
            <a:ext cx="1481328" cy="155448"/>
          </a:xfrm>
          <a:prstGeom prst="rect">
            <a:avLst/>
          </a:prstGeom>
          <a:noFill/>
          <a:ln/>
        </p:spPr>
        <p:txBody>
          <a:bodyPr wrap="square" lIns="0" tIns="0" rIns="0" bIns="0" rtlCol="0" anchor="ctr">
            <a:normAutofit/>
          </a:bodyPr>
          <a:lstStyle/>
          <a:p>
            <a:pPr algn="l" indent="0" marL="0">
              <a:buNone/>
            </a:pPr>
            <a:r>
              <a:rPr lang="en-US" sz="800" b="1" spc="85" kern="0" dirty="0">
                <a:solidFill>
                  <a:srgbClr val="41D3AE"/>
                </a:solidFill>
                <a:latin typeface="Aptos Mono" pitchFamily="34" charset="0"/>
                <a:ea typeface="Aptos Mono" pitchFamily="34" charset="-122"/>
                <a:cs typeface="Aptos Mono" pitchFamily="34" charset="-120"/>
              </a:rPr>
              <a:t>MODERN</a:t>
            </a:r>
            <a:endParaRPr lang="en-US" sz="800" dirty="0"/>
          </a:p>
        </p:txBody>
      </p:sp>
      <p:sp>
        <p:nvSpPr>
          <p:cNvPr id="17" name="Text 14"/>
          <p:cNvSpPr/>
          <p:nvPr/>
        </p:nvSpPr>
        <p:spPr>
          <a:xfrm>
            <a:off x="10094976" y="4059936"/>
            <a:ext cx="1481328" cy="164592"/>
          </a:xfrm>
          <a:prstGeom prst="rect">
            <a:avLst/>
          </a:prstGeom>
          <a:noFill/>
          <a:ln/>
        </p:spPr>
        <p:txBody>
          <a:bodyPr wrap="square" lIns="0" tIns="0" rIns="0" bIns="0" rtlCol="0" anchor="t">
            <a:normAutofit/>
          </a:bodyPr>
          <a:lstStyle/>
          <a:p>
            <a:pPr algn="l" indent="0" marL="0">
              <a:buNone/>
            </a:pPr>
            <a:r>
              <a:rPr lang="en-US" sz="950" dirty="0">
                <a:solidFill>
                  <a:srgbClr val="9EADB8"/>
                </a:solidFill>
                <a:latin typeface="Aptos" pitchFamily="34" charset="0"/>
                <a:ea typeface="Aptos" pitchFamily="34" charset="-122"/>
                <a:cs typeface="Aptos" pitchFamily="34" charset="-120"/>
              </a:rPr>
              <a:t>état cible</a:t>
            </a:r>
            <a:endParaRPr lang="en-US" sz="950" dirty="0"/>
          </a:p>
        </p:txBody>
      </p:sp>
      <p:sp>
        <p:nvSpPr>
          <p:cNvPr id="18" name="Shape 15"/>
          <p:cNvSpPr/>
          <p:nvPr/>
        </p:nvSpPr>
        <p:spPr>
          <a:xfrm>
            <a:off x="6784848" y="5138928"/>
            <a:ext cx="4096512" cy="0"/>
          </a:xfrm>
          <a:prstGeom prst="line">
            <a:avLst/>
          </a:prstGeom>
          <a:noFill/>
          <a:ln w="11430">
            <a:solidFill>
              <a:srgbClr val="344653">
                <a:alpha val="85000"/>
              </a:srgbClr>
            </a:solidFill>
            <a:prstDash val="solid"/>
          </a:ln>
        </p:spPr>
      </p:sp>
      <p:sp>
        <p:nvSpPr>
          <p:cNvPr id="19" name="Text 16"/>
          <p:cNvSpPr/>
          <p:nvPr/>
        </p:nvSpPr>
        <p:spPr>
          <a:xfrm>
            <a:off x="6784848" y="5340096"/>
            <a:ext cx="1389888" cy="164592"/>
          </a:xfrm>
          <a:prstGeom prst="rect">
            <a:avLst/>
          </a:prstGeom>
          <a:noFill/>
          <a:ln/>
        </p:spPr>
        <p:txBody>
          <a:bodyPr wrap="square" lIns="0" tIns="0" rIns="0" bIns="0" rtlCol="0" anchor="ctr">
            <a:normAutofit/>
          </a:bodyPr>
          <a:lstStyle/>
          <a:p>
            <a:pPr algn="l" indent="0" marL="0">
              <a:buNone/>
            </a:pPr>
            <a:r>
              <a:rPr lang="en-US" sz="800" b="1" spc="100" kern="0" dirty="0">
                <a:solidFill>
                  <a:srgbClr val="68D6E8"/>
                </a:solidFill>
                <a:latin typeface="Aptos Mono" pitchFamily="34" charset="0"/>
                <a:ea typeface="Aptos Mono" pitchFamily="34" charset="-122"/>
                <a:cs typeface="Aptos Mono" pitchFamily="34" charset="-120"/>
              </a:rPr>
              <a:t>REASONING</a:t>
            </a:r>
            <a:endParaRPr lang="en-US" sz="800" dirty="0"/>
          </a:p>
        </p:txBody>
      </p:sp>
      <p:sp>
        <p:nvSpPr>
          <p:cNvPr id="20" name="Text 17"/>
          <p:cNvSpPr/>
          <p:nvPr/>
        </p:nvSpPr>
        <p:spPr>
          <a:xfrm>
            <a:off x="8275320" y="5340096"/>
            <a:ext cx="1133856" cy="164592"/>
          </a:xfrm>
          <a:prstGeom prst="rect">
            <a:avLst/>
          </a:prstGeom>
          <a:noFill/>
          <a:ln/>
        </p:spPr>
        <p:txBody>
          <a:bodyPr wrap="square" lIns="0" tIns="0" rIns="0" bIns="0" rtlCol="0" anchor="ctr">
            <a:normAutofit/>
          </a:bodyPr>
          <a:lstStyle/>
          <a:p>
            <a:pPr algn="l" indent="0" marL="0">
              <a:buNone/>
            </a:pPr>
            <a:r>
              <a:rPr lang="en-US" sz="800" b="1" spc="100" kern="0" dirty="0">
                <a:solidFill>
                  <a:srgbClr val="F4B84A"/>
                </a:solidFill>
                <a:latin typeface="Aptos Mono" pitchFamily="34" charset="0"/>
                <a:ea typeface="Aptos Mono" pitchFamily="34" charset="-122"/>
                <a:cs typeface="Aptos Mono" pitchFamily="34" charset="-120"/>
              </a:rPr>
              <a:t>CONTROL</a:t>
            </a:r>
            <a:endParaRPr lang="en-US" sz="800" dirty="0"/>
          </a:p>
        </p:txBody>
      </p:sp>
      <p:sp>
        <p:nvSpPr>
          <p:cNvPr id="21" name="Text 18"/>
          <p:cNvSpPr/>
          <p:nvPr/>
        </p:nvSpPr>
        <p:spPr>
          <a:xfrm>
            <a:off x="9564624" y="5340096"/>
            <a:ext cx="1298448" cy="164592"/>
          </a:xfrm>
          <a:prstGeom prst="rect">
            <a:avLst/>
          </a:prstGeom>
          <a:noFill/>
          <a:ln/>
        </p:spPr>
        <p:txBody>
          <a:bodyPr wrap="square" lIns="0" tIns="0" rIns="0" bIns="0" rtlCol="0" anchor="ctr">
            <a:normAutofit/>
          </a:bodyPr>
          <a:lstStyle/>
          <a:p>
            <a:pPr algn="l" indent="0" marL="0">
              <a:buNone/>
            </a:pPr>
            <a:r>
              <a:rPr lang="en-US" sz="800" b="1" spc="100" kern="0" dirty="0">
                <a:solidFill>
                  <a:srgbClr val="41D3AE"/>
                </a:solidFill>
                <a:latin typeface="Aptos Mono" pitchFamily="34" charset="0"/>
                <a:ea typeface="Aptos Mono" pitchFamily="34" charset="-122"/>
                <a:cs typeface="Aptos Mono" pitchFamily="34" charset="-120"/>
              </a:rPr>
              <a:t>EVIDENCE</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117"/>
        </a:solidFill>
      </p:bgPr>
    </p:bg>
    <p:spTree>
      <p:nvGrpSpPr>
        <p:cNvPr id="1" name=""/>
        <p:cNvGrpSpPr/>
        <p:nvPr/>
      </p:nvGrpSpPr>
      <p:grpSpPr>
        <a:xfrm>
          <a:off x="0" y="0"/>
          <a:ext cx="0" cy="0"/>
          <a:chOff x="0" y="0"/>
          <a:chExt cx="0" cy="0"/>
        </a:xfrm>
      </p:grpSpPr>
      <p:sp>
        <p:nvSpPr>
          <p:cNvPr id="2" name="Shape 0"/>
          <p:cNvSpPr/>
          <p:nvPr/>
        </p:nvSpPr>
        <p:spPr>
          <a:xfrm>
            <a:off x="658368" y="621792"/>
            <a:ext cx="548640" cy="0"/>
          </a:xfrm>
          <a:prstGeom prst="line">
            <a:avLst/>
          </a:prstGeom>
          <a:noFill/>
          <a:ln w="27940">
            <a:solidFill>
              <a:srgbClr val="68D6E8"/>
            </a:solidFill>
            <a:prstDash val="solid"/>
          </a:ln>
        </p:spPr>
      </p:sp>
      <p:sp>
        <p:nvSpPr>
          <p:cNvPr id="3" name="Text 1"/>
          <p:cNvSpPr/>
          <p:nvPr/>
        </p:nvSpPr>
        <p:spPr>
          <a:xfrm>
            <a:off x="1353312" y="512064"/>
            <a:ext cx="3291840" cy="182880"/>
          </a:xfrm>
          <a:prstGeom prst="rect">
            <a:avLst/>
          </a:prstGeom>
          <a:noFill/>
          <a:ln/>
        </p:spPr>
        <p:txBody>
          <a:bodyPr wrap="square" lIns="0" tIns="0" rIns="0" bIns="0" rtlCol="0" anchor="ctr">
            <a:normAutofit/>
          </a:bodyPr>
          <a:lstStyle/>
          <a:p>
            <a:pPr algn="l" indent="0" marL="0">
              <a:buNone/>
            </a:pPr>
            <a:r>
              <a:rPr lang="en-US" sz="900" b="1" spc="130" kern="0" dirty="0">
                <a:solidFill>
                  <a:srgbClr val="68D6E8"/>
                </a:solidFill>
                <a:latin typeface="Aptos Mono" pitchFamily="34" charset="0"/>
                <a:ea typeface="Aptos Mono" pitchFamily="34" charset="-122"/>
                <a:cs typeface="Aptos Mono" pitchFamily="34" charset="-120"/>
              </a:rPr>
              <a:t>LE FIL DE LA SOUTENANCE</a:t>
            </a:r>
            <a:endParaRPr lang="en-US" sz="900" dirty="0"/>
          </a:p>
        </p:txBody>
      </p:sp>
      <p:sp>
        <p:nvSpPr>
          <p:cNvPr id="4" name="Text 2"/>
          <p:cNvSpPr/>
          <p:nvPr/>
        </p:nvSpPr>
        <p:spPr>
          <a:xfrm>
            <a:off x="658368" y="1024128"/>
            <a:ext cx="6766560" cy="493776"/>
          </a:xfrm>
          <a:prstGeom prst="rect">
            <a:avLst/>
          </a:prstGeom>
          <a:noFill/>
          <a:ln/>
        </p:spPr>
        <p:txBody>
          <a:bodyPr wrap="square" lIns="0" tIns="0" rIns="0" bIns="0" rtlCol="0" anchor="ctr">
            <a:normAutofit/>
          </a:bodyPr>
          <a:lstStyle/>
          <a:p>
            <a:pPr algn="l" indent="0" marL="0">
              <a:buNone/>
            </a:pPr>
            <a:r>
              <a:rPr lang="en-US" sz="3600" b="1" dirty="0">
                <a:solidFill>
                  <a:srgbClr val="F5F7F8"/>
                </a:solidFill>
                <a:latin typeface="Aptos Display" pitchFamily="34" charset="0"/>
                <a:ea typeface="Aptos Display" pitchFamily="34" charset="-122"/>
                <a:cs typeface="Aptos Display" pitchFamily="34" charset="-120"/>
              </a:rPr>
              <a:t>Plan de présentation</a:t>
            </a:r>
            <a:endParaRPr lang="en-US" sz="3600" dirty="0"/>
          </a:p>
        </p:txBody>
      </p:sp>
      <p:sp>
        <p:nvSpPr>
          <p:cNvPr id="5" name="Text 3"/>
          <p:cNvSpPr/>
          <p:nvPr/>
        </p:nvSpPr>
        <p:spPr>
          <a:xfrm>
            <a:off x="694944" y="1664208"/>
            <a:ext cx="7772400" cy="237744"/>
          </a:xfrm>
          <a:prstGeom prst="rect">
            <a:avLst/>
          </a:prstGeom>
          <a:noFill/>
          <a:ln/>
        </p:spPr>
        <p:txBody>
          <a:bodyPr wrap="square" lIns="0" tIns="0" rIns="0" bIns="0" rtlCol="0" anchor="t">
            <a:normAutofit/>
          </a:bodyPr>
          <a:lstStyle/>
          <a:p>
            <a:pPr algn="l" indent="0" marL="0">
              <a:buNone/>
            </a:pPr>
            <a:r>
              <a:rPr lang="en-US" sz="1300" dirty="0">
                <a:solidFill>
                  <a:srgbClr val="9EADB8"/>
                </a:solidFill>
                <a:latin typeface="Aptos" pitchFamily="34" charset="0"/>
                <a:ea typeface="Aptos" pitchFamily="34" charset="-122"/>
                <a:cs typeface="Aptos" pitchFamily="34" charset="-120"/>
              </a:rPr>
              <a:t>Une trajectoire unique : du besoin métier aux preuves de contrôle.</a:t>
            </a:r>
            <a:endParaRPr lang="en-US" sz="1300" dirty="0"/>
          </a:p>
        </p:txBody>
      </p:sp>
      <p:sp>
        <p:nvSpPr>
          <p:cNvPr id="6" name="Shape 4"/>
          <p:cNvSpPr/>
          <p:nvPr/>
        </p:nvSpPr>
        <p:spPr>
          <a:xfrm>
            <a:off x="1060704" y="3401568"/>
            <a:ext cx="9235440" cy="0"/>
          </a:xfrm>
          <a:prstGeom prst="line">
            <a:avLst/>
          </a:prstGeom>
          <a:noFill/>
          <a:ln w="27940">
            <a:solidFill>
              <a:srgbClr val="344653"/>
            </a:solidFill>
            <a:prstDash val="solid"/>
          </a:ln>
        </p:spPr>
      </p:sp>
      <p:sp>
        <p:nvSpPr>
          <p:cNvPr id="7" name="Shape 5"/>
          <p:cNvSpPr/>
          <p:nvPr/>
        </p:nvSpPr>
        <p:spPr>
          <a:xfrm>
            <a:off x="932688" y="3218688"/>
            <a:ext cx="365760" cy="365760"/>
          </a:xfrm>
          <a:prstGeom prst="ellipse">
            <a:avLst/>
          </a:prstGeom>
          <a:solidFill>
            <a:srgbClr val="68D6E8"/>
          </a:solidFill>
          <a:ln w="19050">
            <a:solidFill>
              <a:srgbClr val="68D6E8"/>
            </a:solidFill>
            <a:prstDash val="solid"/>
          </a:ln>
        </p:spPr>
      </p:sp>
      <p:sp>
        <p:nvSpPr>
          <p:cNvPr id="8" name="Text 6"/>
          <p:cNvSpPr/>
          <p:nvPr/>
        </p:nvSpPr>
        <p:spPr>
          <a:xfrm>
            <a:off x="1019556" y="3346704"/>
            <a:ext cx="192024" cy="109728"/>
          </a:xfrm>
          <a:prstGeom prst="rect">
            <a:avLst/>
          </a:prstGeom>
          <a:noFill/>
          <a:ln/>
        </p:spPr>
        <p:txBody>
          <a:bodyPr wrap="square" lIns="0" tIns="0" rIns="0" bIns="0" rtlCol="0" anchor="ctr">
            <a:normAutofit/>
          </a:bodyPr>
          <a:lstStyle/>
          <a:p>
            <a:pPr algn="ctr" indent="0" marL="0">
              <a:buNone/>
            </a:pPr>
            <a:r>
              <a:rPr lang="en-US" sz="670" b="1" spc="20" kern="0" dirty="0">
                <a:solidFill>
                  <a:srgbClr val="101820"/>
                </a:solidFill>
                <a:latin typeface="Aptos Mono" pitchFamily="34" charset="0"/>
                <a:ea typeface="Aptos Mono" pitchFamily="34" charset="-122"/>
                <a:cs typeface="Aptos Mono" pitchFamily="34" charset="-120"/>
              </a:rPr>
              <a:t>01</a:t>
            </a:r>
            <a:endParaRPr lang="en-US" sz="670" dirty="0"/>
          </a:p>
        </p:txBody>
      </p:sp>
      <p:sp>
        <p:nvSpPr>
          <p:cNvPr id="9" name="Shape 7"/>
          <p:cNvSpPr/>
          <p:nvPr/>
        </p:nvSpPr>
        <p:spPr>
          <a:xfrm>
            <a:off x="1115568" y="3200400"/>
            <a:ext cx="0" cy="-365760"/>
          </a:xfrm>
          <a:prstGeom prst="line">
            <a:avLst/>
          </a:prstGeom>
          <a:noFill/>
          <a:ln w="11430">
            <a:solidFill>
              <a:srgbClr val="6C7F89"/>
            </a:solidFill>
            <a:prstDash val="solid"/>
          </a:ln>
        </p:spPr>
      </p:sp>
      <p:sp>
        <p:nvSpPr>
          <p:cNvPr id="10" name="Text 8"/>
          <p:cNvSpPr/>
          <p:nvPr/>
        </p:nvSpPr>
        <p:spPr>
          <a:xfrm>
            <a:off x="585216" y="2505456"/>
            <a:ext cx="1097280" cy="201168"/>
          </a:xfrm>
          <a:prstGeom prst="rect">
            <a:avLst/>
          </a:prstGeom>
          <a:noFill/>
          <a:ln/>
        </p:spPr>
        <p:txBody>
          <a:bodyPr wrap="square" lIns="0" tIns="0" rIns="0" bIns="0" rtlCol="0" anchor="ctr">
            <a:normAutofit/>
          </a:bodyPr>
          <a:lstStyle/>
          <a:p>
            <a:pPr algn="ctr" indent="0" marL="0">
              <a:buNone/>
            </a:pPr>
            <a:r>
              <a:rPr lang="en-US" sz="1240" b="1" dirty="0">
                <a:solidFill>
                  <a:srgbClr val="68D6E8"/>
                </a:solidFill>
                <a:latin typeface="Aptos Display" pitchFamily="34" charset="0"/>
                <a:ea typeface="Aptos Display" pitchFamily="34" charset="-122"/>
                <a:cs typeface="Aptos Display" pitchFamily="34" charset="-120"/>
              </a:rPr>
              <a:t>Contexte</a:t>
            </a:r>
            <a:endParaRPr lang="en-US" sz="1240" dirty="0"/>
          </a:p>
        </p:txBody>
      </p:sp>
      <p:sp>
        <p:nvSpPr>
          <p:cNvPr id="11" name="Text 9"/>
          <p:cNvSpPr/>
          <p:nvPr/>
        </p:nvSpPr>
        <p:spPr>
          <a:xfrm>
            <a:off x="521208" y="2807208"/>
            <a:ext cx="1225296" cy="237744"/>
          </a:xfrm>
          <a:prstGeom prst="rect">
            <a:avLst/>
          </a:prstGeom>
          <a:noFill/>
          <a:ln/>
        </p:spPr>
        <p:txBody>
          <a:bodyPr wrap="square" lIns="0" tIns="0" rIns="0" bIns="0" rtlCol="0" anchor="t">
            <a:normAutofit/>
          </a:bodyPr>
          <a:lstStyle/>
          <a:p>
            <a:pPr algn="ctr" indent="0" marL="0">
              <a:buNone/>
            </a:pPr>
            <a:r>
              <a:rPr lang="en-US" sz="850" dirty="0">
                <a:solidFill>
                  <a:srgbClr val="9EADB8"/>
                </a:solidFill>
                <a:latin typeface="Aptos" pitchFamily="34" charset="0"/>
                <a:ea typeface="Aptos" pitchFamily="34" charset="-122"/>
                <a:cs typeface="Aptos" pitchFamily="34" charset="-120"/>
              </a:rPr>
              <a:t>Le déclencheur</a:t>
            </a:r>
            <a:endParaRPr lang="en-US" sz="850" dirty="0"/>
          </a:p>
        </p:txBody>
      </p:sp>
      <p:sp>
        <p:nvSpPr>
          <p:cNvPr id="12" name="Shape 10"/>
          <p:cNvSpPr/>
          <p:nvPr/>
        </p:nvSpPr>
        <p:spPr>
          <a:xfrm>
            <a:off x="2468880" y="3218688"/>
            <a:ext cx="365760" cy="365760"/>
          </a:xfrm>
          <a:prstGeom prst="ellipse">
            <a:avLst/>
          </a:prstGeom>
          <a:solidFill>
            <a:srgbClr val="131D26"/>
          </a:solidFill>
          <a:ln w="19050">
            <a:solidFill>
              <a:srgbClr val="6C7F89"/>
            </a:solidFill>
            <a:prstDash val="solid"/>
          </a:ln>
        </p:spPr>
      </p:sp>
      <p:sp>
        <p:nvSpPr>
          <p:cNvPr id="13" name="Text 11"/>
          <p:cNvSpPr/>
          <p:nvPr/>
        </p:nvSpPr>
        <p:spPr>
          <a:xfrm>
            <a:off x="2555748" y="3346704"/>
            <a:ext cx="192024" cy="109728"/>
          </a:xfrm>
          <a:prstGeom prst="rect">
            <a:avLst/>
          </a:prstGeom>
          <a:noFill/>
          <a:ln/>
        </p:spPr>
        <p:txBody>
          <a:bodyPr wrap="square" lIns="0" tIns="0" rIns="0" bIns="0" rtlCol="0" anchor="ctr">
            <a:normAutofit/>
          </a:bodyPr>
          <a:lstStyle/>
          <a:p>
            <a:pPr algn="ctr" indent="0" marL="0">
              <a:buNone/>
            </a:pPr>
            <a:r>
              <a:rPr lang="en-US" sz="670" b="1" spc="20" kern="0" dirty="0">
                <a:solidFill>
                  <a:srgbClr val="9EADB8"/>
                </a:solidFill>
                <a:latin typeface="Aptos Mono" pitchFamily="34" charset="0"/>
                <a:ea typeface="Aptos Mono" pitchFamily="34" charset="-122"/>
                <a:cs typeface="Aptos Mono" pitchFamily="34" charset="-120"/>
              </a:rPr>
              <a:t>02</a:t>
            </a:r>
            <a:endParaRPr lang="en-US" sz="670" dirty="0"/>
          </a:p>
        </p:txBody>
      </p:sp>
      <p:sp>
        <p:nvSpPr>
          <p:cNvPr id="14" name="Shape 12"/>
          <p:cNvSpPr/>
          <p:nvPr/>
        </p:nvSpPr>
        <p:spPr>
          <a:xfrm>
            <a:off x="2651760" y="3621024"/>
            <a:ext cx="0" cy="365760"/>
          </a:xfrm>
          <a:prstGeom prst="line">
            <a:avLst/>
          </a:prstGeom>
          <a:noFill/>
          <a:ln w="11430">
            <a:solidFill>
              <a:srgbClr val="6C7F89"/>
            </a:solidFill>
            <a:prstDash val="solid"/>
          </a:ln>
        </p:spPr>
      </p:sp>
      <p:sp>
        <p:nvSpPr>
          <p:cNvPr id="15" name="Text 13"/>
          <p:cNvSpPr/>
          <p:nvPr/>
        </p:nvSpPr>
        <p:spPr>
          <a:xfrm>
            <a:off x="2121408" y="3749040"/>
            <a:ext cx="1097280" cy="201168"/>
          </a:xfrm>
          <a:prstGeom prst="rect">
            <a:avLst/>
          </a:prstGeom>
          <a:noFill/>
          <a:ln/>
        </p:spPr>
        <p:txBody>
          <a:bodyPr wrap="square" lIns="0" tIns="0" rIns="0" bIns="0" rtlCol="0" anchor="ctr">
            <a:normAutofit/>
          </a:bodyPr>
          <a:lstStyle/>
          <a:p>
            <a:pPr algn="ctr" indent="0" marL="0">
              <a:buNone/>
            </a:pPr>
            <a:r>
              <a:rPr lang="en-US" sz="1240" b="1" dirty="0">
                <a:solidFill>
                  <a:srgbClr val="F5F7F8"/>
                </a:solidFill>
                <a:latin typeface="Aptos Display" pitchFamily="34" charset="0"/>
                <a:ea typeface="Aptos Display" pitchFamily="34" charset="-122"/>
                <a:cs typeface="Aptos Display" pitchFamily="34" charset="-120"/>
              </a:rPr>
              <a:t>Solution</a:t>
            </a:r>
            <a:endParaRPr lang="en-US" sz="1240" dirty="0"/>
          </a:p>
        </p:txBody>
      </p:sp>
      <p:sp>
        <p:nvSpPr>
          <p:cNvPr id="16" name="Text 14"/>
          <p:cNvSpPr/>
          <p:nvPr/>
        </p:nvSpPr>
        <p:spPr>
          <a:xfrm>
            <a:off x="2057400" y="4078224"/>
            <a:ext cx="1225296" cy="237744"/>
          </a:xfrm>
          <a:prstGeom prst="rect">
            <a:avLst/>
          </a:prstGeom>
          <a:noFill/>
          <a:ln/>
        </p:spPr>
        <p:txBody>
          <a:bodyPr wrap="square" lIns="0" tIns="0" rIns="0" bIns="0" rtlCol="0" anchor="t">
            <a:normAutofit/>
          </a:bodyPr>
          <a:lstStyle/>
          <a:p>
            <a:pPr algn="ctr" indent="0" marL="0">
              <a:buNone/>
            </a:pPr>
            <a:r>
              <a:rPr lang="en-US" sz="850" dirty="0">
                <a:solidFill>
                  <a:srgbClr val="9EADB8"/>
                </a:solidFill>
                <a:latin typeface="Aptos" pitchFamily="34" charset="0"/>
                <a:ea typeface="Aptos" pitchFamily="34" charset="-122"/>
                <a:cs typeface="Aptos" pitchFamily="34" charset="-120"/>
              </a:rPr>
              <a:t>La réponse</a:t>
            </a:r>
            <a:endParaRPr lang="en-US" sz="850" dirty="0"/>
          </a:p>
        </p:txBody>
      </p:sp>
      <p:sp>
        <p:nvSpPr>
          <p:cNvPr id="17" name="Shape 15"/>
          <p:cNvSpPr/>
          <p:nvPr/>
        </p:nvSpPr>
        <p:spPr>
          <a:xfrm>
            <a:off x="4014216" y="3218688"/>
            <a:ext cx="365760" cy="365760"/>
          </a:xfrm>
          <a:prstGeom prst="ellipse">
            <a:avLst/>
          </a:prstGeom>
          <a:solidFill>
            <a:srgbClr val="131D26"/>
          </a:solidFill>
          <a:ln w="19050">
            <a:solidFill>
              <a:srgbClr val="6C7F89"/>
            </a:solidFill>
            <a:prstDash val="solid"/>
          </a:ln>
        </p:spPr>
      </p:sp>
      <p:sp>
        <p:nvSpPr>
          <p:cNvPr id="18" name="Text 16"/>
          <p:cNvSpPr/>
          <p:nvPr/>
        </p:nvSpPr>
        <p:spPr>
          <a:xfrm>
            <a:off x="4101084" y="3346704"/>
            <a:ext cx="192024" cy="109728"/>
          </a:xfrm>
          <a:prstGeom prst="rect">
            <a:avLst/>
          </a:prstGeom>
          <a:noFill/>
          <a:ln/>
        </p:spPr>
        <p:txBody>
          <a:bodyPr wrap="square" lIns="0" tIns="0" rIns="0" bIns="0" rtlCol="0" anchor="ctr">
            <a:normAutofit/>
          </a:bodyPr>
          <a:lstStyle/>
          <a:p>
            <a:pPr algn="ctr" indent="0" marL="0">
              <a:buNone/>
            </a:pPr>
            <a:r>
              <a:rPr lang="en-US" sz="670" b="1" spc="20" kern="0" dirty="0">
                <a:solidFill>
                  <a:srgbClr val="9EADB8"/>
                </a:solidFill>
                <a:latin typeface="Aptos Mono" pitchFamily="34" charset="0"/>
                <a:ea typeface="Aptos Mono" pitchFamily="34" charset="-122"/>
                <a:cs typeface="Aptos Mono" pitchFamily="34" charset="-120"/>
              </a:rPr>
              <a:t>03</a:t>
            </a:r>
            <a:endParaRPr lang="en-US" sz="670" dirty="0"/>
          </a:p>
        </p:txBody>
      </p:sp>
      <p:sp>
        <p:nvSpPr>
          <p:cNvPr id="19" name="Shape 17"/>
          <p:cNvSpPr/>
          <p:nvPr/>
        </p:nvSpPr>
        <p:spPr>
          <a:xfrm>
            <a:off x="4197096" y="3200400"/>
            <a:ext cx="0" cy="-365760"/>
          </a:xfrm>
          <a:prstGeom prst="line">
            <a:avLst/>
          </a:prstGeom>
          <a:noFill/>
          <a:ln w="11430">
            <a:solidFill>
              <a:srgbClr val="6C7F89"/>
            </a:solidFill>
            <a:prstDash val="solid"/>
          </a:ln>
        </p:spPr>
      </p:sp>
      <p:sp>
        <p:nvSpPr>
          <p:cNvPr id="20" name="Text 18"/>
          <p:cNvSpPr/>
          <p:nvPr/>
        </p:nvSpPr>
        <p:spPr>
          <a:xfrm>
            <a:off x="3666744" y="2505456"/>
            <a:ext cx="1097280" cy="201168"/>
          </a:xfrm>
          <a:prstGeom prst="rect">
            <a:avLst/>
          </a:prstGeom>
          <a:noFill/>
          <a:ln/>
        </p:spPr>
        <p:txBody>
          <a:bodyPr wrap="square" lIns="0" tIns="0" rIns="0" bIns="0" rtlCol="0" anchor="ctr">
            <a:normAutofit/>
          </a:bodyPr>
          <a:lstStyle/>
          <a:p>
            <a:pPr algn="ctr" indent="0" marL="0">
              <a:buNone/>
            </a:pPr>
            <a:r>
              <a:rPr lang="en-US" sz="1240" b="1" dirty="0">
                <a:solidFill>
                  <a:srgbClr val="F5F7F8"/>
                </a:solidFill>
                <a:latin typeface="Aptos Display" pitchFamily="34" charset="0"/>
                <a:ea typeface="Aptos Display" pitchFamily="34" charset="-122"/>
                <a:cs typeface="Aptos Display" pitchFamily="34" charset="-120"/>
              </a:rPr>
              <a:t>Architecture</a:t>
            </a:r>
            <a:endParaRPr lang="en-US" sz="1240" dirty="0"/>
          </a:p>
        </p:txBody>
      </p:sp>
      <p:sp>
        <p:nvSpPr>
          <p:cNvPr id="21" name="Text 19"/>
          <p:cNvSpPr/>
          <p:nvPr/>
        </p:nvSpPr>
        <p:spPr>
          <a:xfrm>
            <a:off x="3602736" y="2807208"/>
            <a:ext cx="1225296" cy="237744"/>
          </a:xfrm>
          <a:prstGeom prst="rect">
            <a:avLst/>
          </a:prstGeom>
          <a:noFill/>
          <a:ln/>
        </p:spPr>
        <p:txBody>
          <a:bodyPr wrap="square" lIns="0" tIns="0" rIns="0" bIns="0" rtlCol="0" anchor="t">
            <a:normAutofit/>
          </a:bodyPr>
          <a:lstStyle/>
          <a:p>
            <a:pPr algn="ctr" indent="0" marL="0">
              <a:buNone/>
            </a:pPr>
            <a:r>
              <a:rPr lang="en-US" sz="850" dirty="0">
                <a:solidFill>
                  <a:srgbClr val="9EADB8"/>
                </a:solidFill>
                <a:latin typeface="Aptos" pitchFamily="34" charset="0"/>
                <a:ea typeface="Aptos" pitchFamily="34" charset="-122"/>
                <a:cs typeface="Aptos" pitchFamily="34" charset="-120"/>
              </a:rPr>
              <a:t>Les frontières</a:t>
            </a:r>
            <a:endParaRPr lang="en-US" sz="850" dirty="0"/>
          </a:p>
        </p:txBody>
      </p:sp>
      <p:sp>
        <p:nvSpPr>
          <p:cNvPr id="22" name="Shape 20"/>
          <p:cNvSpPr/>
          <p:nvPr/>
        </p:nvSpPr>
        <p:spPr>
          <a:xfrm>
            <a:off x="5559552" y="3218688"/>
            <a:ext cx="365760" cy="365760"/>
          </a:xfrm>
          <a:prstGeom prst="ellipse">
            <a:avLst/>
          </a:prstGeom>
          <a:solidFill>
            <a:srgbClr val="131D26"/>
          </a:solidFill>
          <a:ln w="19050">
            <a:solidFill>
              <a:srgbClr val="6C7F89"/>
            </a:solidFill>
            <a:prstDash val="solid"/>
          </a:ln>
        </p:spPr>
      </p:sp>
      <p:sp>
        <p:nvSpPr>
          <p:cNvPr id="23" name="Text 21"/>
          <p:cNvSpPr/>
          <p:nvPr/>
        </p:nvSpPr>
        <p:spPr>
          <a:xfrm>
            <a:off x="5646420" y="3346704"/>
            <a:ext cx="192024" cy="109728"/>
          </a:xfrm>
          <a:prstGeom prst="rect">
            <a:avLst/>
          </a:prstGeom>
          <a:noFill/>
          <a:ln/>
        </p:spPr>
        <p:txBody>
          <a:bodyPr wrap="square" lIns="0" tIns="0" rIns="0" bIns="0" rtlCol="0" anchor="ctr">
            <a:normAutofit/>
          </a:bodyPr>
          <a:lstStyle/>
          <a:p>
            <a:pPr algn="ctr" indent="0" marL="0">
              <a:buNone/>
            </a:pPr>
            <a:r>
              <a:rPr lang="en-US" sz="670" b="1" spc="20" kern="0" dirty="0">
                <a:solidFill>
                  <a:srgbClr val="9EADB8"/>
                </a:solidFill>
                <a:latin typeface="Aptos Mono" pitchFamily="34" charset="0"/>
                <a:ea typeface="Aptos Mono" pitchFamily="34" charset="-122"/>
                <a:cs typeface="Aptos Mono" pitchFamily="34" charset="-120"/>
              </a:rPr>
              <a:t>04</a:t>
            </a:r>
            <a:endParaRPr lang="en-US" sz="670" dirty="0"/>
          </a:p>
        </p:txBody>
      </p:sp>
      <p:sp>
        <p:nvSpPr>
          <p:cNvPr id="24" name="Shape 22"/>
          <p:cNvSpPr/>
          <p:nvPr/>
        </p:nvSpPr>
        <p:spPr>
          <a:xfrm>
            <a:off x="5742432" y="3621024"/>
            <a:ext cx="0" cy="365760"/>
          </a:xfrm>
          <a:prstGeom prst="line">
            <a:avLst/>
          </a:prstGeom>
          <a:noFill/>
          <a:ln w="11430">
            <a:solidFill>
              <a:srgbClr val="6C7F89"/>
            </a:solidFill>
            <a:prstDash val="solid"/>
          </a:ln>
        </p:spPr>
      </p:sp>
      <p:sp>
        <p:nvSpPr>
          <p:cNvPr id="25" name="Text 23"/>
          <p:cNvSpPr/>
          <p:nvPr/>
        </p:nvSpPr>
        <p:spPr>
          <a:xfrm>
            <a:off x="5212080" y="3749040"/>
            <a:ext cx="1097280" cy="201168"/>
          </a:xfrm>
          <a:prstGeom prst="rect">
            <a:avLst/>
          </a:prstGeom>
          <a:noFill/>
          <a:ln/>
        </p:spPr>
        <p:txBody>
          <a:bodyPr wrap="square" lIns="0" tIns="0" rIns="0" bIns="0" rtlCol="0" anchor="ctr">
            <a:normAutofit/>
          </a:bodyPr>
          <a:lstStyle/>
          <a:p>
            <a:pPr algn="ctr" indent="0" marL="0">
              <a:buNone/>
            </a:pPr>
            <a:r>
              <a:rPr lang="en-US" sz="1240" b="1" dirty="0">
                <a:solidFill>
                  <a:srgbClr val="F5F7F8"/>
                </a:solidFill>
                <a:latin typeface="Aptos Display" pitchFamily="34" charset="0"/>
                <a:ea typeface="Aptos Display" pitchFamily="34" charset="-122"/>
                <a:cs typeface="Aptos Display" pitchFamily="34" charset="-120"/>
              </a:rPr>
              <a:t>Réalisation</a:t>
            </a:r>
            <a:endParaRPr lang="en-US" sz="1240" dirty="0"/>
          </a:p>
        </p:txBody>
      </p:sp>
      <p:sp>
        <p:nvSpPr>
          <p:cNvPr id="26" name="Text 24"/>
          <p:cNvSpPr/>
          <p:nvPr/>
        </p:nvSpPr>
        <p:spPr>
          <a:xfrm>
            <a:off x="5148072" y="4078224"/>
            <a:ext cx="1225296" cy="237744"/>
          </a:xfrm>
          <a:prstGeom prst="rect">
            <a:avLst/>
          </a:prstGeom>
          <a:noFill/>
          <a:ln/>
        </p:spPr>
        <p:txBody>
          <a:bodyPr wrap="square" lIns="0" tIns="0" rIns="0" bIns="0" rtlCol="0" anchor="t">
            <a:normAutofit/>
          </a:bodyPr>
          <a:lstStyle/>
          <a:p>
            <a:pPr algn="ctr" indent="0" marL="0">
              <a:buNone/>
            </a:pPr>
            <a:r>
              <a:rPr lang="en-US" sz="850" dirty="0">
                <a:solidFill>
                  <a:srgbClr val="9EADB8"/>
                </a:solidFill>
                <a:latin typeface="Aptos" pitchFamily="34" charset="0"/>
                <a:ea typeface="Aptos" pitchFamily="34" charset="-122"/>
                <a:cs typeface="Aptos" pitchFamily="34" charset="-120"/>
              </a:rPr>
              <a:t>Les axes</a:t>
            </a:r>
            <a:endParaRPr lang="en-US" sz="850" dirty="0"/>
          </a:p>
        </p:txBody>
      </p:sp>
      <p:sp>
        <p:nvSpPr>
          <p:cNvPr id="27" name="Shape 25"/>
          <p:cNvSpPr/>
          <p:nvPr/>
        </p:nvSpPr>
        <p:spPr>
          <a:xfrm>
            <a:off x="7104888" y="3218688"/>
            <a:ext cx="365760" cy="365760"/>
          </a:xfrm>
          <a:prstGeom prst="ellipse">
            <a:avLst/>
          </a:prstGeom>
          <a:solidFill>
            <a:srgbClr val="131D26"/>
          </a:solidFill>
          <a:ln w="19050">
            <a:solidFill>
              <a:srgbClr val="6C7F89"/>
            </a:solidFill>
            <a:prstDash val="solid"/>
          </a:ln>
        </p:spPr>
      </p:sp>
      <p:sp>
        <p:nvSpPr>
          <p:cNvPr id="28" name="Text 26"/>
          <p:cNvSpPr/>
          <p:nvPr/>
        </p:nvSpPr>
        <p:spPr>
          <a:xfrm>
            <a:off x="7191756" y="3346704"/>
            <a:ext cx="192024" cy="109728"/>
          </a:xfrm>
          <a:prstGeom prst="rect">
            <a:avLst/>
          </a:prstGeom>
          <a:noFill/>
          <a:ln/>
        </p:spPr>
        <p:txBody>
          <a:bodyPr wrap="square" lIns="0" tIns="0" rIns="0" bIns="0" rtlCol="0" anchor="ctr">
            <a:normAutofit/>
          </a:bodyPr>
          <a:lstStyle/>
          <a:p>
            <a:pPr algn="ctr" indent="0" marL="0">
              <a:buNone/>
            </a:pPr>
            <a:r>
              <a:rPr lang="en-US" sz="670" b="1" spc="20" kern="0" dirty="0">
                <a:solidFill>
                  <a:srgbClr val="9EADB8"/>
                </a:solidFill>
                <a:latin typeface="Aptos Mono" pitchFamily="34" charset="0"/>
                <a:ea typeface="Aptos Mono" pitchFamily="34" charset="-122"/>
                <a:cs typeface="Aptos Mono" pitchFamily="34" charset="-120"/>
              </a:rPr>
              <a:t>05</a:t>
            </a:r>
            <a:endParaRPr lang="en-US" sz="670" dirty="0"/>
          </a:p>
        </p:txBody>
      </p:sp>
      <p:sp>
        <p:nvSpPr>
          <p:cNvPr id="29" name="Shape 27"/>
          <p:cNvSpPr/>
          <p:nvPr/>
        </p:nvSpPr>
        <p:spPr>
          <a:xfrm>
            <a:off x="7287768" y="3200400"/>
            <a:ext cx="0" cy="-365760"/>
          </a:xfrm>
          <a:prstGeom prst="line">
            <a:avLst/>
          </a:prstGeom>
          <a:noFill/>
          <a:ln w="11430">
            <a:solidFill>
              <a:srgbClr val="6C7F89"/>
            </a:solidFill>
            <a:prstDash val="solid"/>
          </a:ln>
        </p:spPr>
      </p:sp>
      <p:sp>
        <p:nvSpPr>
          <p:cNvPr id="30" name="Text 28"/>
          <p:cNvSpPr/>
          <p:nvPr/>
        </p:nvSpPr>
        <p:spPr>
          <a:xfrm>
            <a:off x="6757416" y="2505456"/>
            <a:ext cx="1097280" cy="201168"/>
          </a:xfrm>
          <a:prstGeom prst="rect">
            <a:avLst/>
          </a:prstGeom>
          <a:noFill/>
          <a:ln/>
        </p:spPr>
        <p:txBody>
          <a:bodyPr wrap="square" lIns="0" tIns="0" rIns="0" bIns="0" rtlCol="0" anchor="ctr">
            <a:normAutofit/>
          </a:bodyPr>
          <a:lstStyle/>
          <a:p>
            <a:pPr algn="ctr" indent="0" marL="0">
              <a:buNone/>
            </a:pPr>
            <a:r>
              <a:rPr lang="en-US" sz="1240" b="1" dirty="0">
                <a:solidFill>
                  <a:srgbClr val="F5F7F8"/>
                </a:solidFill>
                <a:latin typeface="Aptos Display" pitchFamily="34" charset="0"/>
                <a:ea typeface="Aptos Display" pitchFamily="34" charset="-122"/>
                <a:cs typeface="Aptos Display" pitchFamily="34" charset="-120"/>
              </a:rPr>
              <a:t>Démo</a:t>
            </a:r>
            <a:endParaRPr lang="en-US" sz="1240" dirty="0"/>
          </a:p>
        </p:txBody>
      </p:sp>
      <p:sp>
        <p:nvSpPr>
          <p:cNvPr id="31" name="Text 29"/>
          <p:cNvSpPr/>
          <p:nvPr/>
        </p:nvSpPr>
        <p:spPr>
          <a:xfrm>
            <a:off x="6693408" y="2807208"/>
            <a:ext cx="1225296" cy="237744"/>
          </a:xfrm>
          <a:prstGeom prst="rect">
            <a:avLst/>
          </a:prstGeom>
          <a:noFill/>
          <a:ln/>
        </p:spPr>
        <p:txBody>
          <a:bodyPr wrap="square" lIns="0" tIns="0" rIns="0" bIns="0" rtlCol="0" anchor="t">
            <a:normAutofit/>
          </a:bodyPr>
          <a:lstStyle/>
          <a:p>
            <a:pPr algn="ctr" indent="0" marL="0">
              <a:buNone/>
            </a:pPr>
            <a:r>
              <a:rPr lang="en-US" sz="850" dirty="0">
                <a:solidFill>
                  <a:srgbClr val="9EADB8"/>
                </a:solidFill>
                <a:latin typeface="Aptos" pitchFamily="34" charset="0"/>
                <a:ea typeface="Aptos" pitchFamily="34" charset="-122"/>
                <a:cs typeface="Aptos" pitchFamily="34" charset="-120"/>
              </a:rPr>
              <a:t>Une décision</a:t>
            </a:r>
            <a:endParaRPr lang="en-US" sz="850" dirty="0"/>
          </a:p>
        </p:txBody>
      </p:sp>
      <p:sp>
        <p:nvSpPr>
          <p:cNvPr id="32" name="Shape 30"/>
          <p:cNvSpPr/>
          <p:nvPr/>
        </p:nvSpPr>
        <p:spPr>
          <a:xfrm>
            <a:off x="8650224" y="3218688"/>
            <a:ext cx="365760" cy="365760"/>
          </a:xfrm>
          <a:prstGeom prst="ellipse">
            <a:avLst/>
          </a:prstGeom>
          <a:solidFill>
            <a:srgbClr val="131D26"/>
          </a:solidFill>
          <a:ln w="19050">
            <a:solidFill>
              <a:srgbClr val="6C7F89"/>
            </a:solidFill>
            <a:prstDash val="solid"/>
          </a:ln>
        </p:spPr>
      </p:sp>
      <p:sp>
        <p:nvSpPr>
          <p:cNvPr id="33" name="Text 31"/>
          <p:cNvSpPr/>
          <p:nvPr/>
        </p:nvSpPr>
        <p:spPr>
          <a:xfrm>
            <a:off x="8737092" y="3346704"/>
            <a:ext cx="192024" cy="109728"/>
          </a:xfrm>
          <a:prstGeom prst="rect">
            <a:avLst/>
          </a:prstGeom>
          <a:noFill/>
          <a:ln/>
        </p:spPr>
        <p:txBody>
          <a:bodyPr wrap="square" lIns="0" tIns="0" rIns="0" bIns="0" rtlCol="0" anchor="ctr">
            <a:normAutofit/>
          </a:bodyPr>
          <a:lstStyle/>
          <a:p>
            <a:pPr algn="ctr" indent="0" marL="0">
              <a:buNone/>
            </a:pPr>
            <a:r>
              <a:rPr lang="en-US" sz="670" b="1" spc="20" kern="0" dirty="0">
                <a:solidFill>
                  <a:srgbClr val="9EADB8"/>
                </a:solidFill>
                <a:latin typeface="Aptos Mono" pitchFamily="34" charset="0"/>
                <a:ea typeface="Aptos Mono" pitchFamily="34" charset="-122"/>
                <a:cs typeface="Aptos Mono" pitchFamily="34" charset="-120"/>
              </a:rPr>
              <a:t>06</a:t>
            </a:r>
            <a:endParaRPr lang="en-US" sz="670" dirty="0"/>
          </a:p>
        </p:txBody>
      </p:sp>
      <p:sp>
        <p:nvSpPr>
          <p:cNvPr id="34" name="Shape 32"/>
          <p:cNvSpPr/>
          <p:nvPr/>
        </p:nvSpPr>
        <p:spPr>
          <a:xfrm>
            <a:off x="8833104" y="3621024"/>
            <a:ext cx="0" cy="365760"/>
          </a:xfrm>
          <a:prstGeom prst="line">
            <a:avLst/>
          </a:prstGeom>
          <a:noFill/>
          <a:ln w="11430">
            <a:solidFill>
              <a:srgbClr val="6C7F89"/>
            </a:solidFill>
            <a:prstDash val="solid"/>
          </a:ln>
        </p:spPr>
      </p:sp>
      <p:sp>
        <p:nvSpPr>
          <p:cNvPr id="35" name="Text 33"/>
          <p:cNvSpPr/>
          <p:nvPr/>
        </p:nvSpPr>
        <p:spPr>
          <a:xfrm>
            <a:off x="8302752" y="3749040"/>
            <a:ext cx="1097280" cy="201168"/>
          </a:xfrm>
          <a:prstGeom prst="rect">
            <a:avLst/>
          </a:prstGeom>
          <a:noFill/>
          <a:ln/>
        </p:spPr>
        <p:txBody>
          <a:bodyPr wrap="square" lIns="0" tIns="0" rIns="0" bIns="0" rtlCol="0" anchor="ctr">
            <a:normAutofit/>
          </a:bodyPr>
          <a:lstStyle/>
          <a:p>
            <a:pPr algn="ctr" indent="0" marL="0">
              <a:buNone/>
            </a:pPr>
            <a:r>
              <a:rPr lang="en-US" sz="1240" b="1" dirty="0">
                <a:solidFill>
                  <a:srgbClr val="F5F7F8"/>
                </a:solidFill>
                <a:latin typeface="Aptos Display" pitchFamily="34" charset="0"/>
                <a:ea typeface="Aptos Display" pitchFamily="34" charset="-122"/>
                <a:cs typeface="Aptos Display" pitchFamily="34" charset="-120"/>
              </a:rPr>
              <a:t>Résultats</a:t>
            </a:r>
            <a:endParaRPr lang="en-US" sz="1240" dirty="0"/>
          </a:p>
        </p:txBody>
      </p:sp>
      <p:sp>
        <p:nvSpPr>
          <p:cNvPr id="36" name="Text 34"/>
          <p:cNvSpPr/>
          <p:nvPr/>
        </p:nvSpPr>
        <p:spPr>
          <a:xfrm>
            <a:off x="8238744" y="4078224"/>
            <a:ext cx="1225296" cy="237744"/>
          </a:xfrm>
          <a:prstGeom prst="rect">
            <a:avLst/>
          </a:prstGeom>
          <a:noFill/>
          <a:ln/>
        </p:spPr>
        <p:txBody>
          <a:bodyPr wrap="square" lIns="0" tIns="0" rIns="0" bIns="0" rtlCol="0" anchor="t">
            <a:normAutofit/>
          </a:bodyPr>
          <a:lstStyle/>
          <a:p>
            <a:pPr algn="ctr" indent="0" marL="0">
              <a:buNone/>
            </a:pPr>
            <a:r>
              <a:rPr lang="en-US" sz="850" dirty="0">
                <a:solidFill>
                  <a:srgbClr val="9EADB8"/>
                </a:solidFill>
                <a:latin typeface="Aptos" pitchFamily="34" charset="0"/>
                <a:ea typeface="Aptos" pitchFamily="34" charset="-122"/>
                <a:cs typeface="Aptos" pitchFamily="34" charset="-120"/>
              </a:rPr>
              <a:t>Les preuves</a:t>
            </a:r>
            <a:endParaRPr lang="en-US" sz="850" dirty="0"/>
          </a:p>
        </p:txBody>
      </p:sp>
      <p:sp>
        <p:nvSpPr>
          <p:cNvPr id="37" name="Shape 35"/>
          <p:cNvSpPr/>
          <p:nvPr/>
        </p:nvSpPr>
        <p:spPr>
          <a:xfrm>
            <a:off x="10195560" y="3218688"/>
            <a:ext cx="365760" cy="365760"/>
          </a:xfrm>
          <a:prstGeom prst="ellipse">
            <a:avLst/>
          </a:prstGeom>
          <a:solidFill>
            <a:srgbClr val="131D26"/>
          </a:solidFill>
          <a:ln w="19050">
            <a:solidFill>
              <a:srgbClr val="6C7F89"/>
            </a:solidFill>
            <a:prstDash val="solid"/>
          </a:ln>
        </p:spPr>
      </p:sp>
      <p:sp>
        <p:nvSpPr>
          <p:cNvPr id="38" name="Text 36"/>
          <p:cNvSpPr/>
          <p:nvPr/>
        </p:nvSpPr>
        <p:spPr>
          <a:xfrm>
            <a:off x="10282428" y="3346704"/>
            <a:ext cx="192024" cy="109728"/>
          </a:xfrm>
          <a:prstGeom prst="rect">
            <a:avLst/>
          </a:prstGeom>
          <a:noFill/>
          <a:ln/>
        </p:spPr>
        <p:txBody>
          <a:bodyPr wrap="square" lIns="0" tIns="0" rIns="0" bIns="0" rtlCol="0" anchor="ctr">
            <a:normAutofit/>
          </a:bodyPr>
          <a:lstStyle/>
          <a:p>
            <a:pPr algn="ctr" indent="0" marL="0">
              <a:buNone/>
            </a:pPr>
            <a:r>
              <a:rPr lang="en-US" sz="670" b="1" spc="20" kern="0" dirty="0">
                <a:solidFill>
                  <a:srgbClr val="9EADB8"/>
                </a:solidFill>
                <a:latin typeface="Aptos Mono" pitchFamily="34" charset="0"/>
                <a:ea typeface="Aptos Mono" pitchFamily="34" charset="-122"/>
                <a:cs typeface="Aptos Mono" pitchFamily="34" charset="-120"/>
              </a:rPr>
              <a:t>07</a:t>
            </a:r>
            <a:endParaRPr lang="en-US" sz="670" dirty="0"/>
          </a:p>
        </p:txBody>
      </p:sp>
      <p:sp>
        <p:nvSpPr>
          <p:cNvPr id="39" name="Shape 37"/>
          <p:cNvSpPr/>
          <p:nvPr/>
        </p:nvSpPr>
        <p:spPr>
          <a:xfrm>
            <a:off x="10378440" y="3200400"/>
            <a:ext cx="0" cy="-365760"/>
          </a:xfrm>
          <a:prstGeom prst="line">
            <a:avLst/>
          </a:prstGeom>
          <a:noFill/>
          <a:ln w="11430">
            <a:solidFill>
              <a:srgbClr val="6C7F89"/>
            </a:solidFill>
            <a:prstDash val="solid"/>
          </a:ln>
        </p:spPr>
      </p:sp>
      <p:sp>
        <p:nvSpPr>
          <p:cNvPr id="40" name="Text 38"/>
          <p:cNvSpPr/>
          <p:nvPr/>
        </p:nvSpPr>
        <p:spPr>
          <a:xfrm>
            <a:off x="9848088" y="2505456"/>
            <a:ext cx="1097280" cy="201168"/>
          </a:xfrm>
          <a:prstGeom prst="rect">
            <a:avLst/>
          </a:prstGeom>
          <a:noFill/>
          <a:ln/>
        </p:spPr>
        <p:txBody>
          <a:bodyPr wrap="square" lIns="0" tIns="0" rIns="0" bIns="0" rtlCol="0" anchor="ctr">
            <a:normAutofit/>
          </a:bodyPr>
          <a:lstStyle/>
          <a:p>
            <a:pPr algn="ctr" indent="0" marL="0">
              <a:buNone/>
            </a:pPr>
            <a:r>
              <a:rPr lang="en-US" sz="1240" b="1" dirty="0">
                <a:solidFill>
                  <a:srgbClr val="F5F7F8"/>
                </a:solidFill>
                <a:latin typeface="Aptos Display" pitchFamily="34" charset="0"/>
                <a:ea typeface="Aptos Display" pitchFamily="34" charset="-122"/>
                <a:cs typeface="Aptos Display" pitchFamily="34" charset="-120"/>
              </a:rPr>
              <a:t>Conclusion</a:t>
            </a:r>
            <a:endParaRPr lang="en-US" sz="1240" dirty="0"/>
          </a:p>
        </p:txBody>
      </p:sp>
      <p:sp>
        <p:nvSpPr>
          <p:cNvPr id="41" name="Text 39"/>
          <p:cNvSpPr/>
          <p:nvPr/>
        </p:nvSpPr>
        <p:spPr>
          <a:xfrm>
            <a:off x="9784080" y="2807208"/>
            <a:ext cx="1225296" cy="237744"/>
          </a:xfrm>
          <a:prstGeom prst="rect">
            <a:avLst/>
          </a:prstGeom>
          <a:noFill/>
          <a:ln/>
        </p:spPr>
        <p:txBody>
          <a:bodyPr wrap="square" lIns="0" tIns="0" rIns="0" bIns="0" rtlCol="0" anchor="t">
            <a:normAutofit/>
          </a:bodyPr>
          <a:lstStyle/>
          <a:p>
            <a:pPr algn="ctr" indent="0" marL="0">
              <a:buNone/>
            </a:pPr>
            <a:r>
              <a:rPr lang="en-US" sz="850" dirty="0">
                <a:solidFill>
                  <a:srgbClr val="9EADB8"/>
                </a:solidFill>
                <a:latin typeface="Aptos" pitchFamily="34" charset="0"/>
                <a:ea typeface="Aptos" pitchFamily="34" charset="-122"/>
                <a:cs typeface="Aptos" pitchFamily="34" charset="-120"/>
              </a:rPr>
              <a:t>Le principe</a:t>
            </a:r>
            <a:endParaRPr lang="en-US" sz="850" dirty="0"/>
          </a:p>
        </p:txBody>
      </p:sp>
      <p:sp>
        <p:nvSpPr>
          <p:cNvPr id="42" name="Shape 40"/>
          <p:cNvSpPr/>
          <p:nvPr/>
        </p:nvSpPr>
        <p:spPr>
          <a:xfrm>
            <a:off x="694944" y="5596128"/>
            <a:ext cx="10808208" cy="0"/>
          </a:xfrm>
          <a:prstGeom prst="line">
            <a:avLst/>
          </a:prstGeom>
          <a:noFill/>
          <a:ln w="10160">
            <a:solidFill>
              <a:srgbClr val="344653">
                <a:alpha val="85000"/>
              </a:srgbClr>
            </a:solidFill>
            <a:prstDash val="solid"/>
          </a:ln>
        </p:spPr>
      </p:sp>
      <p:sp>
        <p:nvSpPr>
          <p:cNvPr id="43" name="Text 41"/>
          <p:cNvSpPr/>
          <p:nvPr/>
        </p:nvSpPr>
        <p:spPr>
          <a:xfrm>
            <a:off x="694944" y="5833872"/>
            <a:ext cx="1005840" cy="237744"/>
          </a:xfrm>
          <a:prstGeom prst="rect">
            <a:avLst/>
          </a:prstGeom>
          <a:noFill/>
          <a:ln/>
        </p:spPr>
        <p:txBody>
          <a:bodyPr wrap="square" lIns="0" tIns="0" rIns="0" bIns="0" rtlCol="0" anchor="ctr">
            <a:normAutofit/>
          </a:bodyPr>
          <a:lstStyle/>
          <a:p>
            <a:pPr algn="l" indent="0" marL="0">
              <a:buNone/>
            </a:pPr>
            <a:r>
              <a:rPr lang="en-US" sz="1800" b="1" dirty="0">
                <a:solidFill>
                  <a:srgbClr val="F5F7F8"/>
                </a:solidFill>
                <a:latin typeface="Aptos Display" pitchFamily="34" charset="0"/>
                <a:ea typeface="Aptos Display" pitchFamily="34" charset="-122"/>
                <a:cs typeface="Aptos Display" pitchFamily="34" charset="-120"/>
              </a:rPr>
              <a:t>18 slides</a:t>
            </a:r>
            <a:endParaRPr lang="en-US" sz="1800" dirty="0"/>
          </a:p>
        </p:txBody>
      </p:sp>
      <p:sp>
        <p:nvSpPr>
          <p:cNvPr id="44" name="Text 42"/>
          <p:cNvSpPr/>
          <p:nvPr/>
        </p:nvSpPr>
        <p:spPr>
          <a:xfrm>
            <a:off x="2066544" y="5870448"/>
            <a:ext cx="1371600" cy="201168"/>
          </a:xfrm>
          <a:prstGeom prst="rect">
            <a:avLst/>
          </a:prstGeom>
          <a:noFill/>
          <a:ln/>
        </p:spPr>
        <p:txBody>
          <a:bodyPr wrap="square" lIns="0" tIns="0" rIns="0" bIns="0" rtlCol="0" anchor="ctr">
            <a:normAutofit/>
          </a:bodyPr>
          <a:lstStyle/>
          <a:p>
            <a:pPr algn="l" indent="0" marL="0">
              <a:buNone/>
            </a:pPr>
            <a:r>
              <a:rPr lang="en-US" sz="1120" b="1" dirty="0">
                <a:solidFill>
                  <a:srgbClr val="68D6E8"/>
                </a:solidFill>
                <a:latin typeface="Aptos Mono" pitchFamily="34" charset="0"/>
                <a:ea typeface="Aptos Mono" pitchFamily="34" charset="-122"/>
                <a:cs typeface="Aptos Mono" pitchFamily="34" charset="-120"/>
              </a:rPr>
              <a:t>7 chapitres</a:t>
            </a:r>
            <a:endParaRPr lang="en-US" sz="1120" dirty="0"/>
          </a:p>
        </p:txBody>
      </p:sp>
      <p:sp>
        <p:nvSpPr>
          <p:cNvPr id="45" name="Text 43"/>
          <p:cNvSpPr/>
          <p:nvPr/>
        </p:nvSpPr>
        <p:spPr>
          <a:xfrm>
            <a:off x="3877056" y="5870448"/>
            <a:ext cx="2926080" cy="201168"/>
          </a:xfrm>
          <a:prstGeom prst="rect">
            <a:avLst/>
          </a:prstGeom>
          <a:noFill/>
          <a:ln/>
        </p:spPr>
        <p:txBody>
          <a:bodyPr wrap="square" lIns="0" tIns="0" rIns="0" bIns="0" rtlCol="0" anchor="ctr">
            <a:normAutofit/>
          </a:bodyPr>
          <a:lstStyle/>
          <a:p>
            <a:pPr algn="l" indent="0" marL="0">
              <a:buNone/>
            </a:pPr>
            <a:r>
              <a:rPr lang="en-US" sz="1120" b="1" dirty="0">
                <a:solidFill>
                  <a:srgbClr val="9EADB8"/>
                </a:solidFill>
                <a:latin typeface="Aptos Mono" pitchFamily="34" charset="0"/>
                <a:ea typeface="Aptos Mono" pitchFamily="34" charset="-122"/>
                <a:cs typeface="Aptos Mono" pitchFamily="34" charset="-120"/>
              </a:rPr>
              <a:t>1 message principal par slide</a:t>
            </a:r>
            <a:endParaRPr lang="en-US" sz="1120" dirty="0"/>
          </a:p>
        </p:txBody>
      </p:sp>
      <p:sp>
        <p:nvSpPr>
          <p:cNvPr id="46" name="Text 44"/>
          <p:cNvSpPr/>
          <p:nvPr/>
        </p:nvSpPr>
        <p:spPr>
          <a:xfrm>
            <a:off x="7772400" y="5870448"/>
            <a:ext cx="3310128" cy="201168"/>
          </a:xfrm>
          <a:prstGeom prst="rect">
            <a:avLst/>
          </a:prstGeom>
          <a:noFill/>
          <a:ln/>
        </p:spPr>
        <p:txBody>
          <a:bodyPr wrap="square" lIns="0" tIns="0" rIns="0" bIns="0" rtlCol="0" anchor="ctr">
            <a:normAutofit/>
          </a:bodyPr>
          <a:lstStyle/>
          <a:p>
            <a:pPr algn="r" indent="0" marL="0">
              <a:buNone/>
            </a:pPr>
            <a:r>
              <a:rPr lang="en-US" sz="1040" i="1" dirty="0">
                <a:solidFill>
                  <a:srgbClr val="9EADB8"/>
                </a:solidFill>
                <a:latin typeface="Aptos" pitchFamily="34" charset="0"/>
                <a:ea typeface="Aptos" pitchFamily="34" charset="-122"/>
                <a:cs typeface="Aptos" pitchFamily="34" charset="-120"/>
              </a:rPr>
              <a:t>La carte reste visible ; le détail se raconte.</a:t>
            </a:r>
            <a:endParaRPr lang="en-US" sz="10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117"/>
        </a:solidFill>
      </p:bgPr>
    </p:bg>
    <p:spTree>
      <p:nvGrpSpPr>
        <p:cNvPr id="1" name=""/>
        <p:cNvGrpSpPr/>
        <p:nvPr/>
      </p:nvGrpSpPr>
      <p:grpSpPr>
        <a:xfrm>
          <a:off x="0" y="0"/>
          <a:ext cx="0" cy="0"/>
          <a:chOff x="0" y="0"/>
          <a:chExt cx="0" cy="0"/>
        </a:xfrm>
      </p:grpSpPr>
      <p:sp>
        <p:nvSpPr>
          <p:cNvPr id="2" name="Shape 0"/>
          <p:cNvSpPr/>
          <p:nvPr/>
        </p:nvSpPr>
        <p:spPr>
          <a:xfrm>
            <a:off x="676656" y="411480"/>
            <a:ext cx="10735056" cy="0"/>
          </a:xfrm>
          <a:prstGeom prst="line">
            <a:avLst/>
          </a:prstGeom>
          <a:noFill/>
          <a:ln w="10160">
            <a:solidFill>
              <a:srgbClr val="344653">
                <a:alpha val="85000"/>
              </a:srgbClr>
            </a:solidFill>
            <a:prstDash val="solid"/>
          </a:ln>
        </p:spPr>
      </p:sp>
      <p:sp>
        <p:nvSpPr>
          <p:cNvPr id="3" name="Shape 1"/>
          <p:cNvSpPr/>
          <p:nvPr/>
        </p:nvSpPr>
        <p:spPr>
          <a:xfrm>
            <a:off x="658368" y="356616"/>
            <a:ext cx="109728" cy="109728"/>
          </a:xfrm>
          <a:prstGeom prst="ellipse">
            <a:avLst/>
          </a:prstGeom>
          <a:solidFill>
            <a:srgbClr val="68D6E8"/>
          </a:solidFill>
          <a:ln w="12700">
            <a:solidFill>
              <a:srgbClr val="68D6E8">
                <a:alpha val="0"/>
              </a:srgbClr>
            </a:solidFill>
            <a:prstDash val="solid"/>
          </a:ln>
        </p:spPr>
      </p:sp>
      <p:sp>
        <p:nvSpPr>
          <p:cNvPr id="4" name="Text 2"/>
          <p:cNvSpPr/>
          <p:nvPr/>
        </p:nvSpPr>
        <p:spPr>
          <a:xfrm>
            <a:off x="822960" y="201168"/>
            <a:ext cx="1207008" cy="164592"/>
          </a:xfrm>
          <a:prstGeom prst="rect">
            <a:avLst/>
          </a:prstGeom>
          <a:noFill/>
          <a:ln/>
        </p:spPr>
        <p:txBody>
          <a:bodyPr wrap="square" lIns="0" tIns="0" rIns="0" bIns="0" rtlCol="0" anchor="ctr">
            <a:normAutofit/>
          </a:bodyPr>
          <a:lstStyle/>
          <a:p>
            <a:pPr algn="l" indent="0" marL="0">
              <a:buNone/>
            </a:pPr>
            <a:r>
              <a:rPr lang="en-US" sz="810" b="1" dirty="0">
                <a:solidFill>
                  <a:srgbClr val="68D6E8"/>
                </a:solidFill>
                <a:latin typeface="Aptos" pitchFamily="34" charset="0"/>
                <a:ea typeface="Aptos" pitchFamily="34" charset="-122"/>
                <a:cs typeface="Aptos" pitchFamily="34" charset="-120"/>
              </a:rPr>
              <a:t>Contexte</a:t>
            </a:r>
            <a:endParaRPr lang="en-US" sz="810" dirty="0"/>
          </a:p>
        </p:txBody>
      </p:sp>
      <p:sp>
        <p:nvSpPr>
          <p:cNvPr id="5" name="Shape 3"/>
          <p:cNvSpPr/>
          <p:nvPr/>
        </p:nvSpPr>
        <p:spPr>
          <a:xfrm>
            <a:off x="804672" y="521208"/>
            <a:ext cx="731520" cy="0"/>
          </a:xfrm>
          <a:prstGeom prst="line">
            <a:avLst/>
          </a:prstGeom>
          <a:noFill/>
          <a:ln w="22860">
            <a:solidFill>
              <a:srgbClr val="68D6E8"/>
            </a:solidFill>
            <a:prstDash val="solid"/>
          </a:ln>
        </p:spPr>
      </p:sp>
      <p:sp>
        <p:nvSpPr>
          <p:cNvPr id="6" name="Shape 4"/>
          <p:cNvSpPr/>
          <p:nvPr/>
        </p:nvSpPr>
        <p:spPr>
          <a:xfrm>
            <a:off x="2130552" y="356616"/>
            <a:ext cx="73152" cy="73152"/>
          </a:xfrm>
          <a:prstGeom prst="ellipse">
            <a:avLst/>
          </a:prstGeom>
          <a:solidFill>
            <a:srgbClr val="344653">
              <a:alpha val="80000"/>
            </a:srgbClr>
          </a:solidFill>
          <a:ln w="12700">
            <a:solidFill>
              <a:srgbClr val="344653">
                <a:alpha val="0"/>
              </a:srgbClr>
            </a:solidFill>
            <a:prstDash val="solid"/>
          </a:ln>
        </p:spPr>
      </p:sp>
      <p:sp>
        <p:nvSpPr>
          <p:cNvPr id="7" name="Text 5"/>
          <p:cNvSpPr/>
          <p:nvPr/>
        </p:nvSpPr>
        <p:spPr>
          <a:xfrm>
            <a:off x="2295144" y="201168"/>
            <a:ext cx="1207008" cy="164592"/>
          </a:xfrm>
          <a:prstGeom prst="rect">
            <a:avLst/>
          </a:prstGeom>
          <a:noFill/>
          <a:ln/>
        </p:spPr>
        <p:txBody>
          <a:bodyPr wrap="square" lIns="0" tIns="0" rIns="0" bIns="0" rtlCol="0" anchor="ctr">
            <a:normAutofit/>
          </a:bodyPr>
          <a:lstStyle/>
          <a:p>
            <a:pPr algn="l" indent="0" marL="0">
              <a:buNone/>
            </a:pPr>
            <a:r>
              <a:rPr lang="en-US" sz="760" dirty="0">
                <a:solidFill>
                  <a:srgbClr val="9EADB8"/>
                </a:solidFill>
                <a:latin typeface="Aptos" pitchFamily="34" charset="0"/>
                <a:ea typeface="Aptos" pitchFamily="34" charset="-122"/>
                <a:cs typeface="Aptos" pitchFamily="34" charset="-120"/>
              </a:rPr>
              <a:t>Solution</a:t>
            </a:r>
            <a:endParaRPr lang="en-US" sz="760" dirty="0"/>
          </a:p>
        </p:txBody>
      </p:sp>
      <p:sp>
        <p:nvSpPr>
          <p:cNvPr id="8" name="Shape 6"/>
          <p:cNvSpPr/>
          <p:nvPr/>
        </p:nvSpPr>
        <p:spPr>
          <a:xfrm>
            <a:off x="3493008" y="356616"/>
            <a:ext cx="73152" cy="73152"/>
          </a:xfrm>
          <a:prstGeom prst="ellipse">
            <a:avLst/>
          </a:prstGeom>
          <a:solidFill>
            <a:srgbClr val="344653">
              <a:alpha val="80000"/>
            </a:srgbClr>
          </a:solidFill>
          <a:ln w="12700">
            <a:solidFill>
              <a:srgbClr val="344653">
                <a:alpha val="0"/>
              </a:srgbClr>
            </a:solidFill>
            <a:prstDash val="solid"/>
          </a:ln>
        </p:spPr>
      </p:sp>
      <p:sp>
        <p:nvSpPr>
          <p:cNvPr id="9" name="Text 7"/>
          <p:cNvSpPr/>
          <p:nvPr/>
        </p:nvSpPr>
        <p:spPr>
          <a:xfrm>
            <a:off x="3657600" y="201168"/>
            <a:ext cx="1207008" cy="164592"/>
          </a:xfrm>
          <a:prstGeom prst="rect">
            <a:avLst/>
          </a:prstGeom>
          <a:noFill/>
          <a:ln/>
        </p:spPr>
        <p:txBody>
          <a:bodyPr wrap="square" lIns="0" tIns="0" rIns="0" bIns="0" rtlCol="0" anchor="ctr">
            <a:normAutofit/>
          </a:bodyPr>
          <a:lstStyle/>
          <a:p>
            <a:pPr algn="l" indent="0" marL="0">
              <a:buNone/>
            </a:pPr>
            <a:r>
              <a:rPr lang="en-US" sz="760" dirty="0">
                <a:solidFill>
                  <a:srgbClr val="9EADB8"/>
                </a:solidFill>
                <a:latin typeface="Aptos" pitchFamily="34" charset="0"/>
                <a:ea typeface="Aptos" pitchFamily="34" charset="-122"/>
                <a:cs typeface="Aptos" pitchFamily="34" charset="-120"/>
              </a:rPr>
              <a:t>Architecture</a:t>
            </a:r>
            <a:endParaRPr lang="en-US" sz="760" dirty="0"/>
          </a:p>
        </p:txBody>
      </p:sp>
      <p:sp>
        <p:nvSpPr>
          <p:cNvPr id="10" name="Shape 8"/>
          <p:cNvSpPr/>
          <p:nvPr/>
        </p:nvSpPr>
        <p:spPr>
          <a:xfrm>
            <a:off x="5001768" y="356616"/>
            <a:ext cx="73152" cy="73152"/>
          </a:xfrm>
          <a:prstGeom prst="ellipse">
            <a:avLst/>
          </a:prstGeom>
          <a:solidFill>
            <a:srgbClr val="344653">
              <a:alpha val="80000"/>
            </a:srgbClr>
          </a:solidFill>
          <a:ln w="12700">
            <a:solidFill>
              <a:srgbClr val="344653">
                <a:alpha val="0"/>
              </a:srgbClr>
            </a:solidFill>
            <a:prstDash val="solid"/>
          </a:ln>
        </p:spPr>
      </p:sp>
      <p:sp>
        <p:nvSpPr>
          <p:cNvPr id="11" name="Text 9"/>
          <p:cNvSpPr/>
          <p:nvPr/>
        </p:nvSpPr>
        <p:spPr>
          <a:xfrm>
            <a:off x="5166360" y="201168"/>
            <a:ext cx="1097280" cy="164592"/>
          </a:xfrm>
          <a:prstGeom prst="rect">
            <a:avLst/>
          </a:prstGeom>
          <a:noFill/>
          <a:ln/>
        </p:spPr>
        <p:txBody>
          <a:bodyPr wrap="square" lIns="0" tIns="0" rIns="0" bIns="0" rtlCol="0" anchor="ctr">
            <a:normAutofit/>
          </a:bodyPr>
          <a:lstStyle/>
          <a:p>
            <a:pPr algn="l" indent="0" marL="0">
              <a:buNone/>
            </a:pPr>
            <a:r>
              <a:rPr lang="en-US" sz="760" dirty="0">
                <a:solidFill>
                  <a:srgbClr val="9EADB8"/>
                </a:solidFill>
                <a:latin typeface="Aptos" pitchFamily="34" charset="0"/>
                <a:ea typeface="Aptos" pitchFamily="34" charset="-122"/>
                <a:cs typeface="Aptos" pitchFamily="34" charset="-120"/>
              </a:rPr>
              <a:t>Réalisation</a:t>
            </a:r>
            <a:endParaRPr lang="en-US" sz="760" dirty="0"/>
          </a:p>
        </p:txBody>
      </p:sp>
      <p:sp>
        <p:nvSpPr>
          <p:cNvPr id="12" name="Shape 10"/>
          <p:cNvSpPr/>
          <p:nvPr/>
        </p:nvSpPr>
        <p:spPr>
          <a:xfrm>
            <a:off x="6583680" y="356616"/>
            <a:ext cx="73152" cy="73152"/>
          </a:xfrm>
          <a:prstGeom prst="ellipse">
            <a:avLst/>
          </a:prstGeom>
          <a:solidFill>
            <a:srgbClr val="344653">
              <a:alpha val="80000"/>
            </a:srgbClr>
          </a:solidFill>
          <a:ln w="12700">
            <a:solidFill>
              <a:srgbClr val="344653">
                <a:alpha val="0"/>
              </a:srgbClr>
            </a:solidFill>
            <a:prstDash val="solid"/>
          </a:ln>
        </p:spPr>
      </p:sp>
      <p:sp>
        <p:nvSpPr>
          <p:cNvPr id="13" name="Text 11"/>
          <p:cNvSpPr/>
          <p:nvPr/>
        </p:nvSpPr>
        <p:spPr>
          <a:xfrm>
            <a:off x="6748272" y="201168"/>
            <a:ext cx="1207008" cy="164592"/>
          </a:xfrm>
          <a:prstGeom prst="rect">
            <a:avLst/>
          </a:prstGeom>
          <a:noFill/>
          <a:ln/>
        </p:spPr>
        <p:txBody>
          <a:bodyPr wrap="square" lIns="0" tIns="0" rIns="0" bIns="0" rtlCol="0" anchor="ctr">
            <a:normAutofit/>
          </a:bodyPr>
          <a:lstStyle/>
          <a:p>
            <a:pPr algn="l" indent="0" marL="0">
              <a:buNone/>
            </a:pPr>
            <a:r>
              <a:rPr lang="en-US" sz="760" dirty="0">
                <a:solidFill>
                  <a:srgbClr val="9EADB8"/>
                </a:solidFill>
                <a:latin typeface="Aptos" pitchFamily="34" charset="0"/>
                <a:ea typeface="Aptos" pitchFamily="34" charset="-122"/>
                <a:cs typeface="Aptos" pitchFamily="34" charset="-120"/>
              </a:rPr>
              <a:t>Démo</a:t>
            </a:r>
            <a:endParaRPr lang="en-US" sz="760" dirty="0"/>
          </a:p>
        </p:txBody>
      </p:sp>
      <p:sp>
        <p:nvSpPr>
          <p:cNvPr id="14" name="Shape 12"/>
          <p:cNvSpPr/>
          <p:nvPr/>
        </p:nvSpPr>
        <p:spPr>
          <a:xfrm>
            <a:off x="8229600" y="356616"/>
            <a:ext cx="73152" cy="73152"/>
          </a:xfrm>
          <a:prstGeom prst="ellipse">
            <a:avLst/>
          </a:prstGeom>
          <a:solidFill>
            <a:srgbClr val="344653">
              <a:alpha val="80000"/>
            </a:srgbClr>
          </a:solidFill>
          <a:ln w="12700">
            <a:solidFill>
              <a:srgbClr val="344653">
                <a:alpha val="0"/>
              </a:srgbClr>
            </a:solidFill>
            <a:prstDash val="solid"/>
          </a:ln>
        </p:spPr>
      </p:sp>
      <p:sp>
        <p:nvSpPr>
          <p:cNvPr id="15" name="Text 13"/>
          <p:cNvSpPr/>
          <p:nvPr/>
        </p:nvSpPr>
        <p:spPr>
          <a:xfrm>
            <a:off x="8394192" y="201168"/>
            <a:ext cx="1207008" cy="164592"/>
          </a:xfrm>
          <a:prstGeom prst="rect">
            <a:avLst/>
          </a:prstGeom>
          <a:noFill/>
          <a:ln/>
        </p:spPr>
        <p:txBody>
          <a:bodyPr wrap="square" lIns="0" tIns="0" rIns="0" bIns="0" rtlCol="0" anchor="ctr">
            <a:normAutofit/>
          </a:bodyPr>
          <a:lstStyle/>
          <a:p>
            <a:pPr algn="l" indent="0" marL="0">
              <a:buNone/>
            </a:pPr>
            <a:r>
              <a:rPr lang="en-US" sz="760" dirty="0">
                <a:solidFill>
                  <a:srgbClr val="9EADB8"/>
                </a:solidFill>
                <a:latin typeface="Aptos" pitchFamily="34" charset="0"/>
                <a:ea typeface="Aptos" pitchFamily="34" charset="-122"/>
                <a:cs typeface="Aptos" pitchFamily="34" charset="-120"/>
              </a:rPr>
              <a:t>Résultats</a:t>
            </a:r>
            <a:endParaRPr lang="en-US" sz="760" dirty="0"/>
          </a:p>
        </p:txBody>
      </p:sp>
      <p:sp>
        <p:nvSpPr>
          <p:cNvPr id="16" name="Shape 14"/>
          <p:cNvSpPr/>
          <p:nvPr/>
        </p:nvSpPr>
        <p:spPr>
          <a:xfrm>
            <a:off x="9784080" y="356616"/>
            <a:ext cx="73152" cy="73152"/>
          </a:xfrm>
          <a:prstGeom prst="ellipse">
            <a:avLst/>
          </a:prstGeom>
          <a:solidFill>
            <a:srgbClr val="344653">
              <a:alpha val="80000"/>
            </a:srgbClr>
          </a:solidFill>
          <a:ln w="12700">
            <a:solidFill>
              <a:srgbClr val="344653">
                <a:alpha val="0"/>
              </a:srgbClr>
            </a:solidFill>
            <a:prstDash val="solid"/>
          </a:ln>
        </p:spPr>
      </p:sp>
      <p:sp>
        <p:nvSpPr>
          <p:cNvPr id="17" name="Text 15"/>
          <p:cNvSpPr/>
          <p:nvPr/>
        </p:nvSpPr>
        <p:spPr>
          <a:xfrm>
            <a:off x="9948672" y="201168"/>
            <a:ext cx="1207008" cy="164592"/>
          </a:xfrm>
          <a:prstGeom prst="rect">
            <a:avLst/>
          </a:prstGeom>
          <a:noFill/>
          <a:ln/>
        </p:spPr>
        <p:txBody>
          <a:bodyPr wrap="square" lIns="0" tIns="0" rIns="0" bIns="0" rtlCol="0" anchor="ctr">
            <a:normAutofit/>
          </a:bodyPr>
          <a:lstStyle/>
          <a:p>
            <a:pPr algn="l" indent="0" marL="0">
              <a:buNone/>
            </a:pPr>
            <a:r>
              <a:rPr lang="en-US" sz="760" dirty="0">
                <a:solidFill>
                  <a:srgbClr val="9EADB8"/>
                </a:solidFill>
                <a:latin typeface="Aptos" pitchFamily="34" charset="0"/>
                <a:ea typeface="Aptos" pitchFamily="34" charset="-122"/>
                <a:cs typeface="Aptos" pitchFamily="34" charset="-120"/>
              </a:rPr>
              <a:t>Conclusion</a:t>
            </a:r>
            <a:endParaRPr lang="en-US" sz="760" dirty="0"/>
          </a:p>
        </p:txBody>
      </p:sp>
      <p:sp>
        <p:nvSpPr>
          <p:cNvPr id="18" name="Shape 16"/>
          <p:cNvSpPr/>
          <p:nvPr/>
        </p:nvSpPr>
        <p:spPr>
          <a:xfrm>
            <a:off x="658368" y="6428232"/>
            <a:ext cx="10863072" cy="0"/>
          </a:xfrm>
          <a:prstGeom prst="line">
            <a:avLst/>
          </a:prstGeom>
          <a:noFill/>
          <a:ln w="8890">
            <a:solidFill>
              <a:srgbClr val="344653">
                <a:alpha val="80000"/>
              </a:srgbClr>
            </a:solidFill>
            <a:prstDash val="solid"/>
          </a:ln>
        </p:spPr>
      </p:sp>
      <p:sp>
        <p:nvSpPr>
          <p:cNvPr id="19" name="Text 17"/>
          <p:cNvSpPr/>
          <p:nvPr/>
        </p:nvSpPr>
        <p:spPr>
          <a:xfrm>
            <a:off x="658368" y="6510528"/>
            <a:ext cx="2926080" cy="146304"/>
          </a:xfrm>
          <a:prstGeom prst="rect">
            <a:avLst/>
          </a:prstGeom>
          <a:noFill/>
          <a:ln/>
        </p:spPr>
        <p:txBody>
          <a:bodyPr wrap="square" lIns="0" tIns="0" rIns="0" bIns="0" rtlCol="0" anchor="ctr">
            <a:normAutofit/>
          </a:bodyPr>
          <a:lstStyle/>
          <a:p>
            <a:pPr algn="l" indent="0" marL="0">
              <a:buNone/>
            </a:pPr>
            <a:r>
              <a:rPr lang="en-US" sz="720" b="1" spc="120" kern="0" dirty="0">
                <a:solidFill>
                  <a:srgbClr val="6C7F89"/>
                </a:solidFill>
                <a:latin typeface="Aptos Mono" pitchFamily="34" charset="0"/>
                <a:ea typeface="Aptos Mono" pitchFamily="34" charset="-122"/>
                <a:cs typeface="Aptos Mono" pitchFamily="34" charset="-120"/>
              </a:rPr>
              <a:t>AGENTIC MIGRATION PLATFORM</a:t>
            </a:r>
            <a:endParaRPr lang="en-US" sz="720" dirty="0"/>
          </a:p>
        </p:txBody>
      </p:sp>
      <p:sp>
        <p:nvSpPr>
          <p:cNvPr id="20" name="Text 18"/>
          <p:cNvSpPr/>
          <p:nvPr/>
        </p:nvSpPr>
        <p:spPr>
          <a:xfrm>
            <a:off x="10561320" y="6501384"/>
            <a:ext cx="950976" cy="155448"/>
          </a:xfrm>
          <a:prstGeom prst="rect">
            <a:avLst/>
          </a:prstGeom>
          <a:noFill/>
          <a:ln/>
        </p:spPr>
        <p:txBody>
          <a:bodyPr wrap="square" lIns="0" tIns="0" rIns="0" bIns="0" rtlCol="0" anchor="ctr">
            <a:normAutofit/>
          </a:bodyPr>
          <a:lstStyle/>
          <a:p>
            <a:pPr algn="r" indent="0" marL="0">
              <a:buNone/>
            </a:pPr>
            <a:r>
              <a:rPr lang="en-US" sz="770" b="1" spc="80" kern="0" dirty="0">
                <a:solidFill>
                  <a:srgbClr val="6C7F89"/>
                </a:solidFill>
                <a:latin typeface="Aptos Mono" pitchFamily="34" charset="0"/>
                <a:ea typeface="Aptos Mono" pitchFamily="34" charset="-122"/>
                <a:cs typeface="Aptos Mono" pitchFamily="34" charset="-120"/>
              </a:rPr>
              <a:t>03 / 18</a:t>
            </a:r>
            <a:endParaRPr lang="en-US" sz="770" dirty="0"/>
          </a:p>
        </p:txBody>
      </p:sp>
      <p:sp>
        <p:nvSpPr>
          <p:cNvPr id="21" name="Text 19"/>
          <p:cNvSpPr/>
          <p:nvPr/>
        </p:nvSpPr>
        <p:spPr>
          <a:xfrm>
            <a:off x="658368" y="758952"/>
            <a:ext cx="3200400" cy="164592"/>
          </a:xfrm>
          <a:prstGeom prst="rect">
            <a:avLst/>
          </a:prstGeom>
          <a:noFill/>
          <a:ln/>
        </p:spPr>
        <p:txBody>
          <a:bodyPr wrap="square" lIns="0" tIns="0" rIns="0" bIns="0" rtlCol="0" anchor="ctr">
            <a:normAutofit/>
          </a:bodyPr>
          <a:lstStyle/>
          <a:p>
            <a:pPr algn="l" indent="0" marL="0">
              <a:buNone/>
            </a:pPr>
            <a:r>
              <a:rPr lang="en-US" sz="900" b="1" spc="135" kern="0" dirty="0">
                <a:solidFill>
                  <a:srgbClr val="68D6E8"/>
                </a:solidFill>
                <a:latin typeface="Aptos Mono" pitchFamily="34" charset="0"/>
                <a:ea typeface="Aptos Mono" pitchFamily="34" charset="-122"/>
                <a:cs typeface="Aptos Mono" pitchFamily="34" charset="-120"/>
              </a:rPr>
              <a:t>CONTEXTE</a:t>
            </a:r>
            <a:endParaRPr lang="en-US" sz="900" dirty="0"/>
          </a:p>
        </p:txBody>
      </p:sp>
      <p:sp>
        <p:nvSpPr>
          <p:cNvPr id="22" name="Text 20"/>
          <p:cNvSpPr/>
          <p:nvPr/>
        </p:nvSpPr>
        <p:spPr>
          <a:xfrm>
            <a:off x="658368" y="969264"/>
            <a:ext cx="10607040" cy="493776"/>
          </a:xfrm>
          <a:prstGeom prst="rect">
            <a:avLst/>
          </a:prstGeom>
          <a:noFill/>
          <a:ln/>
        </p:spPr>
        <p:txBody>
          <a:bodyPr wrap="square" lIns="0" tIns="0" rIns="0" bIns="0" rtlCol="0" anchor="t">
            <a:normAutofit/>
          </a:bodyPr>
          <a:lstStyle/>
          <a:p>
            <a:pPr algn="l" indent="0" marL="0">
              <a:buNone/>
            </a:pPr>
            <a:r>
              <a:rPr lang="en-US" sz="2900" b="1" dirty="0">
                <a:solidFill>
                  <a:srgbClr val="F5F7F8"/>
                </a:solidFill>
                <a:latin typeface="Aptos Display" pitchFamily="34" charset="0"/>
                <a:ea typeface="Aptos Display" pitchFamily="34" charset="-122"/>
                <a:cs typeface="Aptos Display" pitchFamily="34" charset="-120"/>
              </a:rPr>
              <a:t>Le déclencheur : le cloud crée l'urgence</a:t>
            </a:r>
            <a:endParaRPr lang="en-US" sz="2900" dirty="0"/>
          </a:p>
        </p:txBody>
      </p:sp>
      <p:sp>
        <p:nvSpPr>
          <p:cNvPr id="23" name="Text 21"/>
          <p:cNvSpPr/>
          <p:nvPr/>
        </p:nvSpPr>
        <p:spPr>
          <a:xfrm>
            <a:off x="658368" y="1499616"/>
            <a:ext cx="9966960" cy="256032"/>
          </a:xfrm>
          <a:prstGeom prst="rect">
            <a:avLst/>
          </a:prstGeom>
          <a:noFill/>
          <a:ln/>
        </p:spPr>
        <p:txBody>
          <a:bodyPr wrap="square" lIns="0" tIns="0" rIns="0" bIns="0" rtlCol="0" anchor="t">
            <a:normAutofit/>
          </a:bodyPr>
          <a:lstStyle/>
          <a:p>
            <a:pPr algn="l" indent="0" marL="0">
              <a:buNone/>
            </a:pPr>
            <a:r>
              <a:rPr lang="en-US" sz="1200" dirty="0">
                <a:solidFill>
                  <a:srgbClr val="9EADB8"/>
                </a:solidFill>
                <a:latin typeface="Aptos" pitchFamily="34" charset="0"/>
                <a:ea typeface="Aptos" pitchFamily="34" charset="-122"/>
                <a:cs typeface="Aptos" pitchFamily="34" charset="-120"/>
              </a:rPr>
              <a:t>Un portefeuille legacy doit évoluer sans interrompre les services qui tournent déjà.</a:t>
            </a:r>
            <a:endParaRPr lang="en-US" sz="1200" dirty="0"/>
          </a:p>
        </p:txBody>
      </p:sp>
      <p:sp>
        <p:nvSpPr>
          <p:cNvPr id="24" name="Text 22"/>
          <p:cNvSpPr/>
          <p:nvPr/>
        </p:nvSpPr>
        <p:spPr>
          <a:xfrm>
            <a:off x="713232" y="2084832"/>
            <a:ext cx="2971800" cy="164592"/>
          </a:xfrm>
          <a:prstGeom prst="rect">
            <a:avLst/>
          </a:prstGeom>
          <a:noFill/>
          <a:ln/>
        </p:spPr>
        <p:txBody>
          <a:bodyPr wrap="square" lIns="0" tIns="0" rIns="0" bIns="0" rtlCol="0" anchor="ctr">
            <a:normAutofit/>
          </a:bodyPr>
          <a:lstStyle/>
          <a:p>
            <a:pPr algn="l" indent="0" marL="0">
              <a:buNone/>
            </a:pPr>
            <a:r>
              <a:rPr lang="en-US" sz="850" b="1" spc="120" kern="0" dirty="0">
                <a:solidFill>
                  <a:srgbClr val="68D6E8"/>
                </a:solidFill>
                <a:latin typeface="Aptos Mono" pitchFamily="34" charset="0"/>
                <a:ea typeface="Aptos Mono" pitchFamily="34" charset="-122"/>
                <a:cs typeface="Aptos Mono" pitchFamily="34" charset="-120"/>
              </a:rPr>
              <a:t>UN GRAND CLIENT AÉRIEN</a:t>
            </a:r>
            <a:endParaRPr lang="en-US" sz="850" dirty="0"/>
          </a:p>
        </p:txBody>
      </p:sp>
      <p:sp>
        <p:nvSpPr>
          <p:cNvPr id="25" name="Shape 23"/>
          <p:cNvSpPr/>
          <p:nvPr/>
        </p:nvSpPr>
        <p:spPr>
          <a:xfrm>
            <a:off x="914400" y="2761488"/>
            <a:ext cx="0" cy="2249424"/>
          </a:xfrm>
          <a:prstGeom prst="line">
            <a:avLst/>
          </a:prstGeom>
          <a:noFill/>
          <a:ln w="15240">
            <a:solidFill>
              <a:srgbClr val="344653"/>
            </a:solidFill>
            <a:prstDash val="solid"/>
          </a:ln>
        </p:spPr>
      </p:sp>
      <p:sp>
        <p:nvSpPr>
          <p:cNvPr id="26" name="Shape 24"/>
          <p:cNvSpPr/>
          <p:nvPr/>
        </p:nvSpPr>
        <p:spPr>
          <a:xfrm>
            <a:off x="804672" y="2633472"/>
            <a:ext cx="219456" cy="219456"/>
          </a:xfrm>
          <a:prstGeom prst="ellipse">
            <a:avLst/>
          </a:prstGeom>
          <a:solidFill>
            <a:srgbClr val="68D6E8"/>
          </a:solidFill>
          <a:ln w="12700">
            <a:solidFill>
              <a:srgbClr val="68D6E8">
                <a:alpha val="0"/>
              </a:srgbClr>
            </a:solidFill>
            <a:prstDash val="solid"/>
          </a:ln>
        </p:spPr>
      </p:sp>
      <p:sp>
        <p:nvSpPr>
          <p:cNvPr id="27" name="Text 25"/>
          <p:cNvSpPr/>
          <p:nvPr/>
        </p:nvSpPr>
        <p:spPr>
          <a:xfrm>
            <a:off x="822960" y="2697480"/>
            <a:ext cx="182880" cy="91440"/>
          </a:xfrm>
          <a:prstGeom prst="rect">
            <a:avLst/>
          </a:prstGeom>
          <a:noFill/>
          <a:ln/>
        </p:spPr>
        <p:txBody>
          <a:bodyPr wrap="square" lIns="0" tIns="0" rIns="0" bIns="0" rtlCol="0" anchor="ctr">
            <a:normAutofit/>
          </a:bodyPr>
          <a:lstStyle/>
          <a:p>
            <a:pPr algn="ctr" indent="0" marL="0">
              <a:buNone/>
            </a:pPr>
            <a:r>
              <a:rPr lang="en-US" sz="640" b="1" dirty="0">
                <a:solidFill>
                  <a:srgbClr val="101820"/>
                </a:solidFill>
                <a:latin typeface="Aptos Mono" pitchFamily="34" charset="0"/>
                <a:ea typeface="Aptos Mono" pitchFamily="34" charset="-122"/>
                <a:cs typeface="Aptos Mono" pitchFamily="34" charset="-120"/>
              </a:rPr>
              <a:t>01</a:t>
            </a:r>
            <a:endParaRPr lang="en-US" sz="640" dirty="0"/>
          </a:p>
        </p:txBody>
      </p:sp>
      <p:sp>
        <p:nvSpPr>
          <p:cNvPr id="28" name="Text 26"/>
          <p:cNvSpPr/>
          <p:nvPr/>
        </p:nvSpPr>
        <p:spPr>
          <a:xfrm>
            <a:off x="1243584" y="2615184"/>
            <a:ext cx="2468880" cy="164592"/>
          </a:xfrm>
          <a:prstGeom prst="rect">
            <a:avLst/>
          </a:prstGeom>
          <a:noFill/>
          <a:ln/>
        </p:spPr>
        <p:txBody>
          <a:bodyPr wrap="square" lIns="0" tIns="0" rIns="0" bIns="0" rtlCol="0" anchor="ctr">
            <a:normAutofit/>
          </a:bodyPr>
          <a:lstStyle/>
          <a:p>
            <a:pPr algn="l" indent="0" marL="0">
              <a:buNone/>
            </a:pPr>
            <a:r>
              <a:rPr lang="en-US" sz="800" b="1" spc="85" kern="0" dirty="0">
                <a:solidFill>
                  <a:srgbClr val="68D6E8"/>
                </a:solidFill>
                <a:latin typeface="Aptos Mono" pitchFamily="34" charset="0"/>
                <a:ea typeface="Aptos Mono" pitchFamily="34" charset="-122"/>
                <a:cs typeface="Aptos Mono" pitchFamily="34" charset="-120"/>
              </a:rPr>
              <a:t>OBJECTIF CLOUD</a:t>
            </a:r>
            <a:endParaRPr lang="en-US" sz="800" dirty="0"/>
          </a:p>
        </p:txBody>
      </p:sp>
      <p:sp>
        <p:nvSpPr>
          <p:cNvPr id="29" name="Text 27"/>
          <p:cNvSpPr/>
          <p:nvPr/>
        </p:nvSpPr>
        <p:spPr>
          <a:xfrm>
            <a:off x="1243584" y="2843784"/>
            <a:ext cx="3621024" cy="201168"/>
          </a:xfrm>
          <a:prstGeom prst="rect">
            <a:avLst/>
          </a:prstGeom>
          <a:noFill/>
          <a:ln/>
        </p:spPr>
        <p:txBody>
          <a:bodyPr wrap="square" lIns="0" tIns="0" rIns="0" bIns="0" rtlCol="0" anchor="t">
            <a:normAutofit/>
          </a:bodyPr>
          <a:lstStyle/>
          <a:p>
            <a:pPr algn="l" indent="0" marL="0">
              <a:buNone/>
            </a:pPr>
            <a:r>
              <a:rPr lang="en-US" sz="1100" b="1" dirty="0">
                <a:solidFill>
                  <a:srgbClr val="F5F7F8"/>
                </a:solidFill>
                <a:latin typeface="Aptos Display" pitchFamily="34" charset="0"/>
                <a:ea typeface="Aptos Display" pitchFamily="34" charset="-122"/>
                <a:cs typeface="Aptos Display" pitchFamily="34" charset="-120"/>
              </a:rPr>
              <a:t>Horizon fin 2027</a:t>
            </a:r>
            <a:endParaRPr lang="en-US" sz="1100" dirty="0"/>
          </a:p>
        </p:txBody>
      </p:sp>
      <p:sp>
        <p:nvSpPr>
          <p:cNvPr id="30" name="Shape 28"/>
          <p:cNvSpPr/>
          <p:nvPr/>
        </p:nvSpPr>
        <p:spPr>
          <a:xfrm>
            <a:off x="804672" y="3383280"/>
            <a:ext cx="219456" cy="219456"/>
          </a:xfrm>
          <a:prstGeom prst="ellipse">
            <a:avLst/>
          </a:prstGeom>
          <a:solidFill>
            <a:srgbClr val="F4B84A"/>
          </a:solidFill>
          <a:ln w="12700">
            <a:solidFill>
              <a:srgbClr val="F4B84A">
                <a:alpha val="0"/>
              </a:srgbClr>
            </a:solidFill>
            <a:prstDash val="solid"/>
          </a:ln>
        </p:spPr>
      </p:sp>
      <p:sp>
        <p:nvSpPr>
          <p:cNvPr id="31" name="Text 29"/>
          <p:cNvSpPr/>
          <p:nvPr/>
        </p:nvSpPr>
        <p:spPr>
          <a:xfrm>
            <a:off x="822960" y="3447288"/>
            <a:ext cx="182880" cy="91440"/>
          </a:xfrm>
          <a:prstGeom prst="rect">
            <a:avLst/>
          </a:prstGeom>
          <a:noFill/>
          <a:ln/>
        </p:spPr>
        <p:txBody>
          <a:bodyPr wrap="square" lIns="0" tIns="0" rIns="0" bIns="0" rtlCol="0" anchor="ctr">
            <a:normAutofit/>
          </a:bodyPr>
          <a:lstStyle/>
          <a:p>
            <a:pPr algn="ctr" indent="0" marL="0">
              <a:buNone/>
            </a:pPr>
            <a:r>
              <a:rPr lang="en-US" sz="640" b="1" dirty="0">
                <a:solidFill>
                  <a:srgbClr val="101820"/>
                </a:solidFill>
                <a:latin typeface="Aptos Mono" pitchFamily="34" charset="0"/>
                <a:ea typeface="Aptos Mono" pitchFamily="34" charset="-122"/>
                <a:cs typeface="Aptos Mono" pitchFamily="34" charset="-120"/>
              </a:rPr>
              <a:t>02</a:t>
            </a:r>
            <a:endParaRPr lang="en-US" sz="640" dirty="0"/>
          </a:p>
        </p:txBody>
      </p:sp>
      <p:sp>
        <p:nvSpPr>
          <p:cNvPr id="32" name="Text 30"/>
          <p:cNvSpPr/>
          <p:nvPr/>
        </p:nvSpPr>
        <p:spPr>
          <a:xfrm>
            <a:off x="1243584" y="3364992"/>
            <a:ext cx="2468880" cy="164592"/>
          </a:xfrm>
          <a:prstGeom prst="rect">
            <a:avLst/>
          </a:prstGeom>
          <a:noFill/>
          <a:ln/>
        </p:spPr>
        <p:txBody>
          <a:bodyPr wrap="square" lIns="0" tIns="0" rIns="0" bIns="0" rtlCol="0" anchor="ctr">
            <a:normAutofit/>
          </a:bodyPr>
          <a:lstStyle/>
          <a:p>
            <a:pPr algn="l" indent="0" marL="0">
              <a:buNone/>
            </a:pPr>
            <a:r>
              <a:rPr lang="en-US" sz="800" b="1" spc="85" kern="0" dirty="0">
                <a:solidFill>
                  <a:srgbClr val="F4B84A"/>
                </a:solidFill>
                <a:latin typeface="Aptos Mono" pitchFamily="34" charset="0"/>
                <a:ea typeface="Aptos Mono" pitchFamily="34" charset="-122"/>
                <a:cs typeface="Aptos Mono" pitchFamily="34" charset="-120"/>
              </a:rPr>
              <a:t>PORTFOLIO LEGACY</a:t>
            </a:r>
            <a:endParaRPr lang="en-US" sz="800" dirty="0"/>
          </a:p>
        </p:txBody>
      </p:sp>
      <p:sp>
        <p:nvSpPr>
          <p:cNvPr id="33" name="Text 31"/>
          <p:cNvSpPr/>
          <p:nvPr/>
        </p:nvSpPr>
        <p:spPr>
          <a:xfrm>
            <a:off x="1243584" y="3593592"/>
            <a:ext cx="3621024" cy="201168"/>
          </a:xfrm>
          <a:prstGeom prst="rect">
            <a:avLst/>
          </a:prstGeom>
          <a:noFill/>
          <a:ln/>
        </p:spPr>
        <p:txBody>
          <a:bodyPr wrap="square" lIns="0" tIns="0" rIns="0" bIns="0" rtlCol="0" anchor="t">
            <a:normAutofit/>
          </a:bodyPr>
          <a:lstStyle/>
          <a:p>
            <a:pPr algn="l" indent="0" marL="0">
              <a:buNone/>
            </a:pPr>
            <a:r>
              <a:rPr lang="en-US" sz="1100" b="1" dirty="0">
                <a:solidFill>
                  <a:srgbClr val="F5F7F8"/>
                </a:solidFill>
                <a:latin typeface="Aptos Display" pitchFamily="34" charset="0"/>
                <a:ea typeface="Aptos Display" pitchFamily="34" charset="-122"/>
                <a:cs typeface="Aptos Display" pitchFamily="34" charset="-120"/>
              </a:rPr>
              <a:t>Des applications à faire évoluer</a:t>
            </a:r>
            <a:endParaRPr lang="en-US" sz="1100" dirty="0"/>
          </a:p>
        </p:txBody>
      </p:sp>
      <p:sp>
        <p:nvSpPr>
          <p:cNvPr id="34" name="Shape 32"/>
          <p:cNvSpPr/>
          <p:nvPr/>
        </p:nvSpPr>
        <p:spPr>
          <a:xfrm>
            <a:off x="804672" y="4133088"/>
            <a:ext cx="219456" cy="219456"/>
          </a:xfrm>
          <a:prstGeom prst="ellipse">
            <a:avLst/>
          </a:prstGeom>
          <a:solidFill>
            <a:srgbClr val="4E9DFF"/>
          </a:solidFill>
          <a:ln w="12700">
            <a:solidFill>
              <a:srgbClr val="4E9DFF">
                <a:alpha val="0"/>
              </a:srgbClr>
            </a:solidFill>
            <a:prstDash val="solid"/>
          </a:ln>
        </p:spPr>
      </p:sp>
      <p:sp>
        <p:nvSpPr>
          <p:cNvPr id="35" name="Text 33"/>
          <p:cNvSpPr/>
          <p:nvPr/>
        </p:nvSpPr>
        <p:spPr>
          <a:xfrm>
            <a:off x="822960" y="4197096"/>
            <a:ext cx="182880" cy="91440"/>
          </a:xfrm>
          <a:prstGeom prst="rect">
            <a:avLst/>
          </a:prstGeom>
          <a:noFill/>
          <a:ln/>
        </p:spPr>
        <p:txBody>
          <a:bodyPr wrap="square" lIns="0" tIns="0" rIns="0" bIns="0" rtlCol="0" anchor="ctr">
            <a:normAutofit/>
          </a:bodyPr>
          <a:lstStyle/>
          <a:p>
            <a:pPr algn="ctr" indent="0" marL="0">
              <a:buNone/>
            </a:pPr>
            <a:r>
              <a:rPr lang="en-US" sz="640" b="1" dirty="0">
                <a:solidFill>
                  <a:srgbClr val="101820"/>
                </a:solidFill>
                <a:latin typeface="Aptos Mono" pitchFamily="34" charset="0"/>
                <a:ea typeface="Aptos Mono" pitchFamily="34" charset="-122"/>
                <a:cs typeface="Aptos Mono" pitchFamily="34" charset="-120"/>
              </a:rPr>
              <a:t>03</a:t>
            </a:r>
            <a:endParaRPr lang="en-US" sz="640" dirty="0"/>
          </a:p>
        </p:txBody>
      </p:sp>
      <p:sp>
        <p:nvSpPr>
          <p:cNvPr id="36" name="Text 34"/>
          <p:cNvSpPr/>
          <p:nvPr/>
        </p:nvSpPr>
        <p:spPr>
          <a:xfrm>
            <a:off x="1243584" y="4114800"/>
            <a:ext cx="2468880" cy="164592"/>
          </a:xfrm>
          <a:prstGeom prst="rect">
            <a:avLst/>
          </a:prstGeom>
          <a:noFill/>
          <a:ln/>
        </p:spPr>
        <p:txBody>
          <a:bodyPr wrap="square" lIns="0" tIns="0" rIns="0" bIns="0" rtlCol="0" anchor="ctr">
            <a:normAutofit/>
          </a:bodyPr>
          <a:lstStyle/>
          <a:p>
            <a:pPr algn="l" indent="0" marL="0">
              <a:buNone/>
            </a:pPr>
            <a:r>
              <a:rPr lang="en-US" sz="800" b="1" spc="85" kern="0" dirty="0">
                <a:solidFill>
                  <a:srgbClr val="4E9DFF"/>
                </a:solidFill>
                <a:latin typeface="Aptos Mono" pitchFamily="34" charset="0"/>
                <a:ea typeface="Aptos Mono" pitchFamily="34" charset="-122"/>
                <a:cs typeface="Aptos Mono" pitchFamily="34" charset="-120"/>
              </a:rPr>
              <a:t>CIBLE AZURE</a:t>
            </a:r>
            <a:endParaRPr lang="en-US" sz="800" dirty="0"/>
          </a:p>
        </p:txBody>
      </p:sp>
      <p:sp>
        <p:nvSpPr>
          <p:cNvPr id="37" name="Text 35"/>
          <p:cNvSpPr/>
          <p:nvPr/>
        </p:nvSpPr>
        <p:spPr>
          <a:xfrm>
            <a:off x="1243584" y="4343400"/>
            <a:ext cx="3621024" cy="201168"/>
          </a:xfrm>
          <a:prstGeom prst="rect">
            <a:avLst/>
          </a:prstGeom>
          <a:noFill/>
          <a:ln/>
        </p:spPr>
        <p:txBody>
          <a:bodyPr wrap="square" lIns="0" tIns="0" rIns="0" bIns="0" rtlCol="0" anchor="t">
            <a:normAutofit/>
          </a:bodyPr>
          <a:lstStyle/>
          <a:p>
            <a:pPr algn="l" indent="0" marL="0">
              <a:buNone/>
            </a:pPr>
            <a:r>
              <a:rPr lang="en-US" sz="1100" b="1" dirty="0">
                <a:solidFill>
                  <a:srgbClr val="F5F7F8"/>
                </a:solidFill>
                <a:latin typeface="Aptos Display" pitchFamily="34" charset="0"/>
                <a:ea typeface="Aptos Display" pitchFamily="34" charset="-122"/>
                <a:cs typeface="Aptos Display" pitchFamily="34" charset="-120"/>
              </a:rPr>
              <a:t>Un nouvel environnement d'hébergement</a:t>
            </a:r>
            <a:endParaRPr lang="en-US" sz="1100" dirty="0"/>
          </a:p>
        </p:txBody>
      </p:sp>
      <p:sp>
        <p:nvSpPr>
          <p:cNvPr id="38" name="Shape 36"/>
          <p:cNvSpPr/>
          <p:nvPr/>
        </p:nvSpPr>
        <p:spPr>
          <a:xfrm>
            <a:off x="804672" y="4882896"/>
            <a:ext cx="219456" cy="219456"/>
          </a:xfrm>
          <a:prstGeom prst="ellipse">
            <a:avLst/>
          </a:prstGeom>
          <a:solidFill>
            <a:srgbClr val="41D3AE"/>
          </a:solidFill>
          <a:ln w="12700">
            <a:solidFill>
              <a:srgbClr val="41D3AE">
                <a:alpha val="0"/>
              </a:srgbClr>
            </a:solidFill>
            <a:prstDash val="solid"/>
          </a:ln>
        </p:spPr>
      </p:sp>
      <p:sp>
        <p:nvSpPr>
          <p:cNvPr id="39" name="Text 37"/>
          <p:cNvSpPr/>
          <p:nvPr/>
        </p:nvSpPr>
        <p:spPr>
          <a:xfrm>
            <a:off x="822960" y="4946904"/>
            <a:ext cx="182880" cy="91440"/>
          </a:xfrm>
          <a:prstGeom prst="rect">
            <a:avLst/>
          </a:prstGeom>
          <a:noFill/>
          <a:ln/>
        </p:spPr>
        <p:txBody>
          <a:bodyPr wrap="square" lIns="0" tIns="0" rIns="0" bIns="0" rtlCol="0" anchor="ctr">
            <a:normAutofit/>
          </a:bodyPr>
          <a:lstStyle/>
          <a:p>
            <a:pPr algn="ctr" indent="0" marL="0">
              <a:buNone/>
            </a:pPr>
            <a:r>
              <a:rPr lang="en-US" sz="640" b="1" dirty="0">
                <a:solidFill>
                  <a:srgbClr val="101820"/>
                </a:solidFill>
                <a:latin typeface="Aptos Mono" pitchFamily="34" charset="0"/>
                <a:ea typeface="Aptos Mono" pitchFamily="34" charset="-122"/>
                <a:cs typeface="Aptos Mono" pitchFamily="34" charset="-120"/>
              </a:rPr>
              <a:t>04</a:t>
            </a:r>
            <a:endParaRPr lang="en-US" sz="640" dirty="0"/>
          </a:p>
        </p:txBody>
      </p:sp>
      <p:sp>
        <p:nvSpPr>
          <p:cNvPr id="40" name="Text 38"/>
          <p:cNvSpPr/>
          <p:nvPr/>
        </p:nvSpPr>
        <p:spPr>
          <a:xfrm>
            <a:off x="1243584" y="4864608"/>
            <a:ext cx="2468880" cy="164592"/>
          </a:xfrm>
          <a:prstGeom prst="rect">
            <a:avLst/>
          </a:prstGeom>
          <a:noFill/>
          <a:ln/>
        </p:spPr>
        <p:txBody>
          <a:bodyPr wrap="square" lIns="0" tIns="0" rIns="0" bIns="0" rtlCol="0" anchor="ctr">
            <a:normAutofit/>
          </a:bodyPr>
          <a:lstStyle/>
          <a:p>
            <a:pPr algn="l" indent="0" marL="0">
              <a:buNone/>
            </a:pPr>
            <a:r>
              <a:rPr lang="en-US" sz="800" b="1" spc="85" kern="0" dirty="0">
                <a:solidFill>
                  <a:srgbClr val="41D3AE"/>
                </a:solidFill>
                <a:latin typeface="Aptos Mono" pitchFamily="34" charset="0"/>
                <a:ea typeface="Aptos Mono" pitchFamily="34" charset="-122"/>
                <a:cs typeface="Aptos Mono" pitchFamily="34" charset="-120"/>
              </a:rPr>
              <a:t>CONTINUITÉ</a:t>
            </a:r>
            <a:endParaRPr lang="en-US" sz="800" dirty="0"/>
          </a:p>
        </p:txBody>
      </p:sp>
      <p:sp>
        <p:nvSpPr>
          <p:cNvPr id="41" name="Text 39"/>
          <p:cNvSpPr/>
          <p:nvPr/>
        </p:nvSpPr>
        <p:spPr>
          <a:xfrm>
            <a:off x="1243584" y="5093208"/>
            <a:ext cx="3621024" cy="201168"/>
          </a:xfrm>
          <a:prstGeom prst="rect">
            <a:avLst/>
          </a:prstGeom>
          <a:noFill/>
          <a:ln/>
        </p:spPr>
        <p:txBody>
          <a:bodyPr wrap="square" lIns="0" tIns="0" rIns="0" bIns="0" rtlCol="0" anchor="t">
            <a:normAutofit/>
          </a:bodyPr>
          <a:lstStyle/>
          <a:p>
            <a:pPr algn="l" indent="0" marL="0">
              <a:buNone/>
            </a:pPr>
            <a:r>
              <a:rPr lang="en-US" sz="1100" b="1" dirty="0">
                <a:solidFill>
                  <a:srgbClr val="F5F7F8"/>
                </a:solidFill>
                <a:latin typeface="Aptos Display" pitchFamily="34" charset="0"/>
                <a:ea typeface="Aptos Display" pitchFamily="34" charset="-122"/>
                <a:cs typeface="Aptos Display" pitchFamily="34" charset="-120"/>
              </a:rPr>
              <a:t>Les applications restent disponibles</a:t>
            </a:r>
            <a:endParaRPr lang="en-US" sz="1100" dirty="0"/>
          </a:p>
        </p:txBody>
      </p:sp>
      <p:sp>
        <p:nvSpPr>
          <p:cNvPr id="42" name="Shape 40"/>
          <p:cNvSpPr/>
          <p:nvPr/>
        </p:nvSpPr>
        <p:spPr>
          <a:xfrm>
            <a:off x="6419088" y="2084832"/>
            <a:ext cx="0" cy="3438144"/>
          </a:xfrm>
          <a:prstGeom prst="line">
            <a:avLst/>
          </a:prstGeom>
          <a:noFill/>
          <a:ln w="10160">
            <a:solidFill>
              <a:srgbClr val="344653">
                <a:alpha val="80000"/>
              </a:srgbClr>
            </a:solidFill>
            <a:prstDash val="solid"/>
          </a:ln>
        </p:spPr>
      </p:sp>
      <p:sp>
        <p:nvSpPr>
          <p:cNvPr id="43" name="Text 41"/>
          <p:cNvSpPr/>
          <p:nvPr/>
        </p:nvSpPr>
        <p:spPr>
          <a:xfrm>
            <a:off x="6784848" y="2103120"/>
            <a:ext cx="2926080" cy="164592"/>
          </a:xfrm>
          <a:prstGeom prst="rect">
            <a:avLst/>
          </a:prstGeom>
          <a:noFill/>
          <a:ln/>
        </p:spPr>
        <p:txBody>
          <a:bodyPr wrap="square" lIns="0" tIns="0" rIns="0" bIns="0" rtlCol="0" anchor="ctr">
            <a:normAutofit/>
          </a:bodyPr>
          <a:lstStyle/>
          <a:p>
            <a:pPr algn="l" indent="0" marL="0">
              <a:buNone/>
            </a:pPr>
            <a:r>
              <a:rPr lang="en-US" sz="850" b="1" spc="120" kern="0" dirty="0">
                <a:solidFill>
                  <a:srgbClr val="9EADB8"/>
                </a:solidFill>
                <a:latin typeface="Aptos Mono" pitchFamily="34" charset="0"/>
                <a:ea typeface="Aptos Mono" pitchFamily="34" charset="-122"/>
                <a:cs typeface="Aptos Mono" pitchFamily="34" charset="-120"/>
              </a:rPr>
              <a:t>LE POINT DE BASCULE</a:t>
            </a:r>
            <a:endParaRPr lang="en-US" sz="850" dirty="0"/>
          </a:p>
        </p:txBody>
      </p:sp>
      <p:sp>
        <p:nvSpPr>
          <p:cNvPr id="44" name="Text 42"/>
          <p:cNvSpPr/>
          <p:nvPr/>
        </p:nvSpPr>
        <p:spPr>
          <a:xfrm>
            <a:off x="6720840" y="2450592"/>
            <a:ext cx="4279392" cy="1024128"/>
          </a:xfrm>
          <a:prstGeom prst="rect">
            <a:avLst/>
          </a:prstGeom>
          <a:noFill/>
          <a:ln/>
        </p:spPr>
        <p:txBody>
          <a:bodyPr wrap="square" lIns="0" tIns="0" rIns="0" bIns="0" rtlCol="0" anchor="t">
            <a:normAutofit/>
          </a:bodyPr>
          <a:lstStyle/>
          <a:p>
            <a:pPr algn="l" indent="0" marL="0">
              <a:buNone/>
            </a:pPr>
            <a:r>
              <a:rPr lang="en-US" sz="7800" b="1" dirty="0">
                <a:solidFill>
                  <a:srgbClr val="68D6E8"/>
                </a:solidFill>
                <a:latin typeface="Aptos Display" pitchFamily="34" charset="0"/>
                <a:ea typeface="Aptos Display" pitchFamily="34" charset="-122"/>
                <a:cs typeface="Aptos Display" pitchFamily="34" charset="-120"/>
              </a:rPr>
              <a:t>2027</a:t>
            </a:r>
            <a:endParaRPr lang="en-US" sz="7800" dirty="0"/>
          </a:p>
        </p:txBody>
      </p:sp>
      <p:sp>
        <p:nvSpPr>
          <p:cNvPr id="45" name="Text 43"/>
          <p:cNvSpPr/>
          <p:nvPr/>
        </p:nvSpPr>
        <p:spPr>
          <a:xfrm>
            <a:off x="6803136" y="3730752"/>
            <a:ext cx="3895344" cy="493776"/>
          </a:xfrm>
          <a:prstGeom prst="rect">
            <a:avLst/>
          </a:prstGeom>
          <a:noFill/>
          <a:ln/>
        </p:spPr>
        <p:txBody>
          <a:bodyPr wrap="square" lIns="0" tIns="0" rIns="0" bIns="0" rtlCol="0" anchor="t">
            <a:normAutofit/>
          </a:bodyPr>
          <a:lstStyle/>
          <a:p>
            <a:pPr algn="l" indent="0" marL="0">
              <a:buNone/>
            </a:pPr>
            <a:r>
              <a:rPr lang="en-US" sz="1900" b="1" dirty="0">
                <a:solidFill>
                  <a:srgbClr val="F5F7F8"/>
                </a:solidFill>
                <a:latin typeface="Aptos Display" pitchFamily="34" charset="0"/>
                <a:ea typeface="Aptos Display" pitchFamily="34" charset="-122"/>
                <a:cs typeface="Aptos Display" pitchFamily="34" charset="-120"/>
              </a:rPr>
              <a:t>La trajectoire cloud devient une contrainte de portefeuille.</a:t>
            </a:r>
            <a:endParaRPr lang="en-US" sz="1900" dirty="0"/>
          </a:p>
        </p:txBody>
      </p:sp>
      <p:sp>
        <p:nvSpPr>
          <p:cNvPr id="46" name="Shape 44"/>
          <p:cNvSpPr/>
          <p:nvPr/>
        </p:nvSpPr>
        <p:spPr>
          <a:xfrm>
            <a:off x="6803136" y="4553712"/>
            <a:ext cx="3639312" cy="0"/>
          </a:xfrm>
          <a:prstGeom prst="line">
            <a:avLst/>
          </a:prstGeom>
          <a:noFill/>
          <a:ln w="26670">
            <a:solidFill>
              <a:srgbClr val="68D6E8"/>
            </a:solidFill>
            <a:prstDash val="solid"/>
          </a:ln>
        </p:spPr>
      </p:sp>
      <p:sp>
        <p:nvSpPr>
          <p:cNvPr id="47" name="Text 45"/>
          <p:cNvSpPr/>
          <p:nvPr/>
        </p:nvSpPr>
        <p:spPr>
          <a:xfrm>
            <a:off x="6803136" y="4791456"/>
            <a:ext cx="3931920" cy="384048"/>
          </a:xfrm>
          <a:prstGeom prst="rect">
            <a:avLst/>
          </a:prstGeom>
          <a:noFill/>
          <a:ln/>
        </p:spPr>
        <p:txBody>
          <a:bodyPr wrap="square" lIns="0" tIns="0" rIns="0" bIns="0" rtlCol="0" anchor="t">
            <a:normAutofit/>
          </a:bodyPr>
          <a:lstStyle/>
          <a:p>
            <a:pPr algn="l" indent="0" marL="0">
              <a:buNone/>
            </a:pPr>
            <a:r>
              <a:rPr lang="en-US" sz="1100" dirty="0">
                <a:solidFill>
                  <a:srgbClr val="9EADB8"/>
                </a:solidFill>
                <a:latin typeface="Aptos" pitchFamily="34" charset="0"/>
                <a:ea typeface="Aptos" pitchFamily="34" charset="-122"/>
                <a:cs typeface="Aptos" pitchFamily="34" charset="-120"/>
              </a:rPr>
              <a:t>Les équipes migrent en arrière-plan ; le service reste visible.</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117"/>
        </a:solidFill>
      </p:bgPr>
    </p:bg>
    <p:spTree>
      <p:nvGrpSpPr>
        <p:cNvPr id="1" name=""/>
        <p:cNvGrpSpPr/>
        <p:nvPr/>
      </p:nvGrpSpPr>
      <p:grpSpPr>
        <a:xfrm>
          <a:off x="0" y="0"/>
          <a:ext cx="0" cy="0"/>
          <a:chOff x="0" y="0"/>
          <a:chExt cx="0" cy="0"/>
        </a:xfrm>
      </p:grpSpPr>
      <p:sp>
        <p:nvSpPr>
          <p:cNvPr id="2" name="Shape 0"/>
          <p:cNvSpPr/>
          <p:nvPr/>
        </p:nvSpPr>
        <p:spPr>
          <a:xfrm>
            <a:off x="676656" y="411480"/>
            <a:ext cx="10735056" cy="0"/>
          </a:xfrm>
          <a:prstGeom prst="line">
            <a:avLst/>
          </a:prstGeom>
          <a:noFill/>
          <a:ln w="10160">
            <a:solidFill>
              <a:srgbClr val="344653">
                <a:alpha val="85000"/>
              </a:srgbClr>
            </a:solidFill>
            <a:prstDash val="solid"/>
          </a:ln>
        </p:spPr>
      </p:sp>
      <p:sp>
        <p:nvSpPr>
          <p:cNvPr id="3" name="Shape 1"/>
          <p:cNvSpPr/>
          <p:nvPr/>
        </p:nvSpPr>
        <p:spPr>
          <a:xfrm>
            <a:off x="658368" y="356616"/>
            <a:ext cx="109728" cy="109728"/>
          </a:xfrm>
          <a:prstGeom prst="ellipse">
            <a:avLst/>
          </a:prstGeom>
          <a:solidFill>
            <a:srgbClr val="68D6E8"/>
          </a:solidFill>
          <a:ln w="12700">
            <a:solidFill>
              <a:srgbClr val="68D6E8">
                <a:alpha val="0"/>
              </a:srgbClr>
            </a:solidFill>
            <a:prstDash val="solid"/>
          </a:ln>
        </p:spPr>
      </p:sp>
      <p:sp>
        <p:nvSpPr>
          <p:cNvPr id="4" name="Text 2"/>
          <p:cNvSpPr/>
          <p:nvPr/>
        </p:nvSpPr>
        <p:spPr>
          <a:xfrm>
            <a:off x="822960" y="201168"/>
            <a:ext cx="1207008" cy="164592"/>
          </a:xfrm>
          <a:prstGeom prst="rect">
            <a:avLst/>
          </a:prstGeom>
          <a:noFill/>
          <a:ln/>
        </p:spPr>
        <p:txBody>
          <a:bodyPr wrap="square" lIns="0" tIns="0" rIns="0" bIns="0" rtlCol="0" anchor="ctr">
            <a:normAutofit/>
          </a:bodyPr>
          <a:lstStyle/>
          <a:p>
            <a:pPr algn="l" indent="0" marL="0">
              <a:buNone/>
            </a:pPr>
            <a:r>
              <a:rPr lang="en-US" sz="810" b="1" dirty="0">
                <a:solidFill>
                  <a:srgbClr val="68D6E8"/>
                </a:solidFill>
                <a:latin typeface="Aptos" pitchFamily="34" charset="0"/>
                <a:ea typeface="Aptos" pitchFamily="34" charset="-122"/>
                <a:cs typeface="Aptos" pitchFamily="34" charset="-120"/>
              </a:rPr>
              <a:t>Contexte</a:t>
            </a:r>
            <a:endParaRPr lang="en-US" sz="810" dirty="0"/>
          </a:p>
        </p:txBody>
      </p:sp>
      <p:sp>
        <p:nvSpPr>
          <p:cNvPr id="5" name="Shape 3"/>
          <p:cNvSpPr/>
          <p:nvPr/>
        </p:nvSpPr>
        <p:spPr>
          <a:xfrm>
            <a:off x="804672" y="521208"/>
            <a:ext cx="731520" cy="0"/>
          </a:xfrm>
          <a:prstGeom prst="line">
            <a:avLst/>
          </a:prstGeom>
          <a:noFill/>
          <a:ln w="22860">
            <a:solidFill>
              <a:srgbClr val="68D6E8"/>
            </a:solidFill>
            <a:prstDash val="solid"/>
          </a:ln>
        </p:spPr>
      </p:sp>
      <p:sp>
        <p:nvSpPr>
          <p:cNvPr id="6" name="Shape 4"/>
          <p:cNvSpPr/>
          <p:nvPr/>
        </p:nvSpPr>
        <p:spPr>
          <a:xfrm>
            <a:off x="2130552" y="356616"/>
            <a:ext cx="73152" cy="73152"/>
          </a:xfrm>
          <a:prstGeom prst="ellipse">
            <a:avLst/>
          </a:prstGeom>
          <a:solidFill>
            <a:srgbClr val="344653">
              <a:alpha val="80000"/>
            </a:srgbClr>
          </a:solidFill>
          <a:ln w="12700">
            <a:solidFill>
              <a:srgbClr val="344653">
                <a:alpha val="0"/>
              </a:srgbClr>
            </a:solidFill>
            <a:prstDash val="solid"/>
          </a:ln>
        </p:spPr>
      </p:sp>
      <p:sp>
        <p:nvSpPr>
          <p:cNvPr id="7" name="Text 5"/>
          <p:cNvSpPr/>
          <p:nvPr/>
        </p:nvSpPr>
        <p:spPr>
          <a:xfrm>
            <a:off x="2295144" y="201168"/>
            <a:ext cx="1207008" cy="164592"/>
          </a:xfrm>
          <a:prstGeom prst="rect">
            <a:avLst/>
          </a:prstGeom>
          <a:noFill/>
          <a:ln/>
        </p:spPr>
        <p:txBody>
          <a:bodyPr wrap="square" lIns="0" tIns="0" rIns="0" bIns="0" rtlCol="0" anchor="ctr">
            <a:normAutofit/>
          </a:bodyPr>
          <a:lstStyle/>
          <a:p>
            <a:pPr algn="l" indent="0" marL="0">
              <a:buNone/>
            </a:pPr>
            <a:r>
              <a:rPr lang="en-US" sz="760" dirty="0">
                <a:solidFill>
                  <a:srgbClr val="9EADB8"/>
                </a:solidFill>
                <a:latin typeface="Aptos" pitchFamily="34" charset="0"/>
                <a:ea typeface="Aptos" pitchFamily="34" charset="-122"/>
                <a:cs typeface="Aptos" pitchFamily="34" charset="-120"/>
              </a:rPr>
              <a:t>Solution</a:t>
            </a:r>
            <a:endParaRPr lang="en-US" sz="760" dirty="0"/>
          </a:p>
        </p:txBody>
      </p:sp>
      <p:sp>
        <p:nvSpPr>
          <p:cNvPr id="8" name="Shape 6"/>
          <p:cNvSpPr/>
          <p:nvPr/>
        </p:nvSpPr>
        <p:spPr>
          <a:xfrm>
            <a:off x="3493008" y="356616"/>
            <a:ext cx="73152" cy="73152"/>
          </a:xfrm>
          <a:prstGeom prst="ellipse">
            <a:avLst/>
          </a:prstGeom>
          <a:solidFill>
            <a:srgbClr val="344653">
              <a:alpha val="80000"/>
            </a:srgbClr>
          </a:solidFill>
          <a:ln w="12700">
            <a:solidFill>
              <a:srgbClr val="344653">
                <a:alpha val="0"/>
              </a:srgbClr>
            </a:solidFill>
            <a:prstDash val="solid"/>
          </a:ln>
        </p:spPr>
      </p:sp>
      <p:sp>
        <p:nvSpPr>
          <p:cNvPr id="9" name="Text 7"/>
          <p:cNvSpPr/>
          <p:nvPr/>
        </p:nvSpPr>
        <p:spPr>
          <a:xfrm>
            <a:off x="3657600" y="201168"/>
            <a:ext cx="1207008" cy="164592"/>
          </a:xfrm>
          <a:prstGeom prst="rect">
            <a:avLst/>
          </a:prstGeom>
          <a:noFill/>
          <a:ln/>
        </p:spPr>
        <p:txBody>
          <a:bodyPr wrap="square" lIns="0" tIns="0" rIns="0" bIns="0" rtlCol="0" anchor="ctr">
            <a:normAutofit/>
          </a:bodyPr>
          <a:lstStyle/>
          <a:p>
            <a:pPr algn="l" indent="0" marL="0">
              <a:buNone/>
            </a:pPr>
            <a:r>
              <a:rPr lang="en-US" sz="760" dirty="0">
                <a:solidFill>
                  <a:srgbClr val="9EADB8"/>
                </a:solidFill>
                <a:latin typeface="Aptos" pitchFamily="34" charset="0"/>
                <a:ea typeface="Aptos" pitchFamily="34" charset="-122"/>
                <a:cs typeface="Aptos" pitchFamily="34" charset="-120"/>
              </a:rPr>
              <a:t>Architecture</a:t>
            </a:r>
            <a:endParaRPr lang="en-US" sz="760" dirty="0"/>
          </a:p>
        </p:txBody>
      </p:sp>
      <p:sp>
        <p:nvSpPr>
          <p:cNvPr id="10" name="Shape 8"/>
          <p:cNvSpPr/>
          <p:nvPr/>
        </p:nvSpPr>
        <p:spPr>
          <a:xfrm>
            <a:off x="5001768" y="356616"/>
            <a:ext cx="73152" cy="73152"/>
          </a:xfrm>
          <a:prstGeom prst="ellipse">
            <a:avLst/>
          </a:prstGeom>
          <a:solidFill>
            <a:srgbClr val="344653">
              <a:alpha val="80000"/>
            </a:srgbClr>
          </a:solidFill>
          <a:ln w="12700">
            <a:solidFill>
              <a:srgbClr val="344653">
                <a:alpha val="0"/>
              </a:srgbClr>
            </a:solidFill>
            <a:prstDash val="solid"/>
          </a:ln>
        </p:spPr>
      </p:sp>
      <p:sp>
        <p:nvSpPr>
          <p:cNvPr id="11" name="Text 9"/>
          <p:cNvSpPr/>
          <p:nvPr/>
        </p:nvSpPr>
        <p:spPr>
          <a:xfrm>
            <a:off x="5166360" y="201168"/>
            <a:ext cx="1097280" cy="164592"/>
          </a:xfrm>
          <a:prstGeom prst="rect">
            <a:avLst/>
          </a:prstGeom>
          <a:noFill/>
          <a:ln/>
        </p:spPr>
        <p:txBody>
          <a:bodyPr wrap="square" lIns="0" tIns="0" rIns="0" bIns="0" rtlCol="0" anchor="ctr">
            <a:normAutofit/>
          </a:bodyPr>
          <a:lstStyle/>
          <a:p>
            <a:pPr algn="l" indent="0" marL="0">
              <a:buNone/>
            </a:pPr>
            <a:r>
              <a:rPr lang="en-US" sz="760" dirty="0">
                <a:solidFill>
                  <a:srgbClr val="9EADB8"/>
                </a:solidFill>
                <a:latin typeface="Aptos" pitchFamily="34" charset="0"/>
                <a:ea typeface="Aptos" pitchFamily="34" charset="-122"/>
                <a:cs typeface="Aptos" pitchFamily="34" charset="-120"/>
              </a:rPr>
              <a:t>Réalisation</a:t>
            </a:r>
            <a:endParaRPr lang="en-US" sz="760" dirty="0"/>
          </a:p>
        </p:txBody>
      </p:sp>
      <p:sp>
        <p:nvSpPr>
          <p:cNvPr id="12" name="Shape 10"/>
          <p:cNvSpPr/>
          <p:nvPr/>
        </p:nvSpPr>
        <p:spPr>
          <a:xfrm>
            <a:off x="6583680" y="356616"/>
            <a:ext cx="73152" cy="73152"/>
          </a:xfrm>
          <a:prstGeom prst="ellipse">
            <a:avLst/>
          </a:prstGeom>
          <a:solidFill>
            <a:srgbClr val="344653">
              <a:alpha val="80000"/>
            </a:srgbClr>
          </a:solidFill>
          <a:ln w="12700">
            <a:solidFill>
              <a:srgbClr val="344653">
                <a:alpha val="0"/>
              </a:srgbClr>
            </a:solidFill>
            <a:prstDash val="solid"/>
          </a:ln>
        </p:spPr>
      </p:sp>
      <p:sp>
        <p:nvSpPr>
          <p:cNvPr id="13" name="Text 11"/>
          <p:cNvSpPr/>
          <p:nvPr/>
        </p:nvSpPr>
        <p:spPr>
          <a:xfrm>
            <a:off x="6748272" y="201168"/>
            <a:ext cx="1207008" cy="164592"/>
          </a:xfrm>
          <a:prstGeom prst="rect">
            <a:avLst/>
          </a:prstGeom>
          <a:noFill/>
          <a:ln/>
        </p:spPr>
        <p:txBody>
          <a:bodyPr wrap="square" lIns="0" tIns="0" rIns="0" bIns="0" rtlCol="0" anchor="ctr">
            <a:normAutofit/>
          </a:bodyPr>
          <a:lstStyle/>
          <a:p>
            <a:pPr algn="l" indent="0" marL="0">
              <a:buNone/>
            </a:pPr>
            <a:r>
              <a:rPr lang="en-US" sz="760" dirty="0">
                <a:solidFill>
                  <a:srgbClr val="9EADB8"/>
                </a:solidFill>
                <a:latin typeface="Aptos" pitchFamily="34" charset="0"/>
                <a:ea typeface="Aptos" pitchFamily="34" charset="-122"/>
                <a:cs typeface="Aptos" pitchFamily="34" charset="-120"/>
              </a:rPr>
              <a:t>Démo</a:t>
            </a:r>
            <a:endParaRPr lang="en-US" sz="760" dirty="0"/>
          </a:p>
        </p:txBody>
      </p:sp>
      <p:sp>
        <p:nvSpPr>
          <p:cNvPr id="14" name="Shape 12"/>
          <p:cNvSpPr/>
          <p:nvPr/>
        </p:nvSpPr>
        <p:spPr>
          <a:xfrm>
            <a:off x="8229600" y="356616"/>
            <a:ext cx="73152" cy="73152"/>
          </a:xfrm>
          <a:prstGeom prst="ellipse">
            <a:avLst/>
          </a:prstGeom>
          <a:solidFill>
            <a:srgbClr val="344653">
              <a:alpha val="80000"/>
            </a:srgbClr>
          </a:solidFill>
          <a:ln w="12700">
            <a:solidFill>
              <a:srgbClr val="344653">
                <a:alpha val="0"/>
              </a:srgbClr>
            </a:solidFill>
            <a:prstDash val="solid"/>
          </a:ln>
        </p:spPr>
      </p:sp>
      <p:sp>
        <p:nvSpPr>
          <p:cNvPr id="15" name="Text 13"/>
          <p:cNvSpPr/>
          <p:nvPr/>
        </p:nvSpPr>
        <p:spPr>
          <a:xfrm>
            <a:off x="8394192" y="201168"/>
            <a:ext cx="1207008" cy="164592"/>
          </a:xfrm>
          <a:prstGeom prst="rect">
            <a:avLst/>
          </a:prstGeom>
          <a:noFill/>
          <a:ln/>
        </p:spPr>
        <p:txBody>
          <a:bodyPr wrap="square" lIns="0" tIns="0" rIns="0" bIns="0" rtlCol="0" anchor="ctr">
            <a:normAutofit/>
          </a:bodyPr>
          <a:lstStyle/>
          <a:p>
            <a:pPr algn="l" indent="0" marL="0">
              <a:buNone/>
            </a:pPr>
            <a:r>
              <a:rPr lang="en-US" sz="760" dirty="0">
                <a:solidFill>
                  <a:srgbClr val="9EADB8"/>
                </a:solidFill>
                <a:latin typeface="Aptos" pitchFamily="34" charset="0"/>
                <a:ea typeface="Aptos" pitchFamily="34" charset="-122"/>
                <a:cs typeface="Aptos" pitchFamily="34" charset="-120"/>
              </a:rPr>
              <a:t>Résultats</a:t>
            </a:r>
            <a:endParaRPr lang="en-US" sz="760" dirty="0"/>
          </a:p>
        </p:txBody>
      </p:sp>
      <p:sp>
        <p:nvSpPr>
          <p:cNvPr id="16" name="Shape 14"/>
          <p:cNvSpPr/>
          <p:nvPr/>
        </p:nvSpPr>
        <p:spPr>
          <a:xfrm>
            <a:off x="9784080" y="356616"/>
            <a:ext cx="73152" cy="73152"/>
          </a:xfrm>
          <a:prstGeom prst="ellipse">
            <a:avLst/>
          </a:prstGeom>
          <a:solidFill>
            <a:srgbClr val="344653">
              <a:alpha val="80000"/>
            </a:srgbClr>
          </a:solidFill>
          <a:ln w="12700">
            <a:solidFill>
              <a:srgbClr val="344653">
                <a:alpha val="0"/>
              </a:srgbClr>
            </a:solidFill>
            <a:prstDash val="solid"/>
          </a:ln>
        </p:spPr>
      </p:sp>
      <p:sp>
        <p:nvSpPr>
          <p:cNvPr id="17" name="Text 15"/>
          <p:cNvSpPr/>
          <p:nvPr/>
        </p:nvSpPr>
        <p:spPr>
          <a:xfrm>
            <a:off x="9948672" y="201168"/>
            <a:ext cx="1207008" cy="164592"/>
          </a:xfrm>
          <a:prstGeom prst="rect">
            <a:avLst/>
          </a:prstGeom>
          <a:noFill/>
          <a:ln/>
        </p:spPr>
        <p:txBody>
          <a:bodyPr wrap="square" lIns="0" tIns="0" rIns="0" bIns="0" rtlCol="0" anchor="ctr">
            <a:normAutofit/>
          </a:bodyPr>
          <a:lstStyle/>
          <a:p>
            <a:pPr algn="l" indent="0" marL="0">
              <a:buNone/>
            </a:pPr>
            <a:r>
              <a:rPr lang="en-US" sz="760" dirty="0">
                <a:solidFill>
                  <a:srgbClr val="9EADB8"/>
                </a:solidFill>
                <a:latin typeface="Aptos" pitchFamily="34" charset="0"/>
                <a:ea typeface="Aptos" pitchFamily="34" charset="-122"/>
                <a:cs typeface="Aptos" pitchFamily="34" charset="-120"/>
              </a:rPr>
              <a:t>Conclusion</a:t>
            </a:r>
            <a:endParaRPr lang="en-US" sz="760" dirty="0"/>
          </a:p>
        </p:txBody>
      </p:sp>
      <p:sp>
        <p:nvSpPr>
          <p:cNvPr id="18" name="Shape 16"/>
          <p:cNvSpPr/>
          <p:nvPr/>
        </p:nvSpPr>
        <p:spPr>
          <a:xfrm>
            <a:off x="658368" y="6428232"/>
            <a:ext cx="10863072" cy="0"/>
          </a:xfrm>
          <a:prstGeom prst="line">
            <a:avLst/>
          </a:prstGeom>
          <a:noFill/>
          <a:ln w="8890">
            <a:solidFill>
              <a:srgbClr val="344653">
                <a:alpha val="80000"/>
              </a:srgbClr>
            </a:solidFill>
            <a:prstDash val="solid"/>
          </a:ln>
        </p:spPr>
      </p:sp>
      <p:sp>
        <p:nvSpPr>
          <p:cNvPr id="19" name="Text 17"/>
          <p:cNvSpPr/>
          <p:nvPr/>
        </p:nvSpPr>
        <p:spPr>
          <a:xfrm>
            <a:off x="658368" y="6510528"/>
            <a:ext cx="2926080" cy="146304"/>
          </a:xfrm>
          <a:prstGeom prst="rect">
            <a:avLst/>
          </a:prstGeom>
          <a:noFill/>
          <a:ln/>
        </p:spPr>
        <p:txBody>
          <a:bodyPr wrap="square" lIns="0" tIns="0" rIns="0" bIns="0" rtlCol="0" anchor="ctr">
            <a:normAutofit/>
          </a:bodyPr>
          <a:lstStyle/>
          <a:p>
            <a:pPr algn="l" indent="0" marL="0">
              <a:buNone/>
            </a:pPr>
            <a:r>
              <a:rPr lang="en-US" sz="720" b="1" spc="120" kern="0" dirty="0">
                <a:solidFill>
                  <a:srgbClr val="6C7F89"/>
                </a:solidFill>
                <a:latin typeface="Aptos Mono" pitchFamily="34" charset="0"/>
                <a:ea typeface="Aptos Mono" pitchFamily="34" charset="-122"/>
                <a:cs typeface="Aptos Mono" pitchFamily="34" charset="-120"/>
              </a:rPr>
              <a:t>AGENTIC MIGRATION PLATFORM</a:t>
            </a:r>
            <a:endParaRPr lang="en-US" sz="720" dirty="0"/>
          </a:p>
        </p:txBody>
      </p:sp>
      <p:sp>
        <p:nvSpPr>
          <p:cNvPr id="20" name="Text 18"/>
          <p:cNvSpPr/>
          <p:nvPr/>
        </p:nvSpPr>
        <p:spPr>
          <a:xfrm>
            <a:off x="10561320" y="6501384"/>
            <a:ext cx="950976" cy="155448"/>
          </a:xfrm>
          <a:prstGeom prst="rect">
            <a:avLst/>
          </a:prstGeom>
          <a:noFill/>
          <a:ln/>
        </p:spPr>
        <p:txBody>
          <a:bodyPr wrap="square" lIns="0" tIns="0" rIns="0" bIns="0" rtlCol="0" anchor="ctr">
            <a:normAutofit/>
          </a:bodyPr>
          <a:lstStyle/>
          <a:p>
            <a:pPr algn="r" indent="0" marL="0">
              <a:buNone/>
            </a:pPr>
            <a:r>
              <a:rPr lang="en-US" sz="770" b="1" spc="80" kern="0" dirty="0">
                <a:solidFill>
                  <a:srgbClr val="6C7F89"/>
                </a:solidFill>
                <a:latin typeface="Aptos Mono" pitchFamily="34" charset="0"/>
                <a:ea typeface="Aptos Mono" pitchFamily="34" charset="-122"/>
                <a:cs typeface="Aptos Mono" pitchFamily="34" charset="-120"/>
              </a:rPr>
              <a:t>04 / 18</a:t>
            </a:r>
            <a:endParaRPr lang="en-US" sz="770" dirty="0"/>
          </a:p>
        </p:txBody>
      </p:sp>
      <p:sp>
        <p:nvSpPr>
          <p:cNvPr id="21" name="Text 19"/>
          <p:cNvSpPr/>
          <p:nvPr/>
        </p:nvSpPr>
        <p:spPr>
          <a:xfrm>
            <a:off x="658368" y="758952"/>
            <a:ext cx="3200400" cy="164592"/>
          </a:xfrm>
          <a:prstGeom prst="rect">
            <a:avLst/>
          </a:prstGeom>
          <a:noFill/>
          <a:ln/>
        </p:spPr>
        <p:txBody>
          <a:bodyPr wrap="square" lIns="0" tIns="0" rIns="0" bIns="0" rtlCol="0" anchor="ctr">
            <a:normAutofit/>
          </a:bodyPr>
          <a:lstStyle/>
          <a:p>
            <a:pPr algn="l" indent="0" marL="0">
              <a:buNone/>
            </a:pPr>
            <a:r>
              <a:rPr lang="en-US" sz="900" b="1" spc="135" kern="0" dirty="0">
                <a:solidFill>
                  <a:srgbClr val="68D6E8"/>
                </a:solidFill>
                <a:latin typeface="Aptos Mono" pitchFamily="34" charset="0"/>
                <a:ea typeface="Aptos Mono" pitchFamily="34" charset="-122"/>
                <a:cs typeface="Aptos Mono" pitchFamily="34" charset="-120"/>
              </a:rPr>
              <a:t>CONTEXTE</a:t>
            </a:r>
            <a:endParaRPr lang="en-US" sz="900" dirty="0"/>
          </a:p>
        </p:txBody>
      </p:sp>
      <p:sp>
        <p:nvSpPr>
          <p:cNvPr id="22" name="Text 20"/>
          <p:cNvSpPr/>
          <p:nvPr/>
        </p:nvSpPr>
        <p:spPr>
          <a:xfrm>
            <a:off x="658368" y="969264"/>
            <a:ext cx="10607040" cy="493776"/>
          </a:xfrm>
          <a:prstGeom prst="rect">
            <a:avLst/>
          </a:prstGeom>
          <a:noFill/>
          <a:ln/>
        </p:spPr>
        <p:txBody>
          <a:bodyPr wrap="square" lIns="0" tIns="0" rIns="0" bIns="0" rtlCol="0" anchor="t">
            <a:normAutofit/>
          </a:bodyPr>
          <a:lstStyle/>
          <a:p>
            <a:pPr algn="l" indent="0" marL="0">
              <a:buNone/>
            </a:pPr>
            <a:r>
              <a:rPr lang="en-US" sz="2900" b="1" dirty="0">
                <a:solidFill>
                  <a:srgbClr val="F5F7F8"/>
                </a:solidFill>
                <a:latin typeface="Aptos Display" pitchFamily="34" charset="0"/>
                <a:ea typeface="Aptos Display" pitchFamily="34" charset="-122"/>
                <a:cs typeface="Aptos Display" pitchFamily="34" charset="-120"/>
              </a:rPr>
              <a:t>Run et migration partagent la même capacité</a:t>
            </a:r>
            <a:endParaRPr lang="en-US" sz="2900" dirty="0"/>
          </a:p>
        </p:txBody>
      </p:sp>
      <p:sp>
        <p:nvSpPr>
          <p:cNvPr id="23" name="Text 21"/>
          <p:cNvSpPr/>
          <p:nvPr/>
        </p:nvSpPr>
        <p:spPr>
          <a:xfrm>
            <a:off x="658368" y="1499616"/>
            <a:ext cx="9966960" cy="256032"/>
          </a:xfrm>
          <a:prstGeom prst="rect">
            <a:avLst/>
          </a:prstGeom>
          <a:noFill/>
          <a:ln/>
        </p:spPr>
        <p:txBody>
          <a:bodyPr wrap="square" lIns="0" tIns="0" rIns="0" bIns="0" rtlCol="0" anchor="t">
            <a:normAutofit/>
          </a:bodyPr>
          <a:lstStyle/>
          <a:p>
            <a:pPr algn="l" indent="0" marL="0">
              <a:buNone/>
            </a:pPr>
            <a:r>
              <a:rPr lang="en-US" sz="1200" dirty="0">
                <a:solidFill>
                  <a:srgbClr val="9EADB8"/>
                </a:solidFill>
                <a:latin typeface="Aptos" pitchFamily="34" charset="0"/>
                <a:ea typeface="Aptos" pitchFamily="34" charset="-122"/>
                <a:cs typeface="Aptos" pitchFamily="34" charset="-120"/>
              </a:rPr>
              <a:t>La migration s'ajoute au run : elle ne remplace ni les incidents ni la disponibilité attendue.</a:t>
            </a:r>
            <a:endParaRPr lang="en-US" sz="1200" dirty="0"/>
          </a:p>
        </p:txBody>
      </p:sp>
      <p:sp>
        <p:nvSpPr>
          <p:cNvPr id="24" name="Text 22"/>
          <p:cNvSpPr/>
          <p:nvPr/>
        </p:nvSpPr>
        <p:spPr>
          <a:xfrm>
            <a:off x="713232" y="2139696"/>
            <a:ext cx="3017520" cy="164592"/>
          </a:xfrm>
          <a:prstGeom prst="rect">
            <a:avLst/>
          </a:prstGeom>
          <a:noFill/>
          <a:ln/>
        </p:spPr>
        <p:txBody>
          <a:bodyPr wrap="square" lIns="0" tIns="0" rIns="0" bIns="0" rtlCol="0" anchor="ctr">
            <a:normAutofit/>
          </a:bodyPr>
          <a:lstStyle/>
          <a:p>
            <a:pPr algn="l" indent="0" marL="0">
              <a:buNone/>
            </a:pPr>
            <a:r>
              <a:rPr lang="en-US" sz="850" b="1" spc="120" kern="0" dirty="0">
                <a:solidFill>
                  <a:srgbClr val="68D6E8"/>
                </a:solidFill>
                <a:latin typeface="Aptos Mono" pitchFamily="34" charset="0"/>
                <a:ea typeface="Aptos Mono" pitchFamily="34" charset="-122"/>
                <a:cs typeface="Aptos Mono" pitchFamily="34" charset="-120"/>
              </a:rPr>
              <a:t>LA TENSION OPÉRATIONNELLE</a:t>
            </a:r>
            <a:endParaRPr lang="en-US" sz="850" dirty="0"/>
          </a:p>
        </p:txBody>
      </p:sp>
      <p:sp>
        <p:nvSpPr>
          <p:cNvPr id="25" name="Text 23"/>
          <p:cNvSpPr/>
          <p:nvPr/>
        </p:nvSpPr>
        <p:spPr>
          <a:xfrm>
            <a:off x="749808" y="2542032"/>
            <a:ext cx="914400" cy="182880"/>
          </a:xfrm>
          <a:prstGeom prst="rect">
            <a:avLst/>
          </a:prstGeom>
          <a:noFill/>
          <a:ln/>
        </p:spPr>
        <p:txBody>
          <a:bodyPr wrap="square" lIns="0" tIns="0" rIns="0" bIns="0" rtlCol="0" anchor="ctr">
            <a:normAutofit/>
          </a:bodyPr>
          <a:lstStyle/>
          <a:p>
            <a:pPr algn="l" indent="0" marL="0">
              <a:buNone/>
            </a:pPr>
            <a:r>
              <a:rPr lang="en-US" sz="1000" b="1" spc="125" kern="0" dirty="0">
                <a:solidFill>
                  <a:srgbClr val="41D3AE"/>
                </a:solidFill>
                <a:latin typeface="Aptos Mono" pitchFamily="34" charset="0"/>
                <a:ea typeface="Aptos Mono" pitchFamily="34" charset="-122"/>
                <a:cs typeface="Aptos Mono" pitchFamily="34" charset="-120"/>
              </a:rPr>
              <a:t>RUN</a:t>
            </a:r>
            <a:endParaRPr lang="en-US" sz="1000" dirty="0"/>
          </a:p>
        </p:txBody>
      </p:sp>
      <p:sp>
        <p:nvSpPr>
          <p:cNvPr id="26" name="Text 24"/>
          <p:cNvSpPr/>
          <p:nvPr/>
        </p:nvSpPr>
        <p:spPr>
          <a:xfrm>
            <a:off x="749808" y="2779776"/>
            <a:ext cx="2103120" cy="201168"/>
          </a:xfrm>
          <a:prstGeom prst="rect">
            <a:avLst/>
          </a:prstGeom>
          <a:noFill/>
          <a:ln/>
        </p:spPr>
        <p:txBody>
          <a:bodyPr wrap="square" lIns="0" tIns="0" rIns="0" bIns="0" rtlCol="0" anchor="ctr">
            <a:normAutofit/>
          </a:bodyPr>
          <a:lstStyle/>
          <a:p>
            <a:pPr algn="l" indent="0" marL="0">
              <a:buNone/>
            </a:pPr>
            <a:r>
              <a:rPr lang="en-US" sz="1230" b="1" dirty="0">
                <a:solidFill>
                  <a:srgbClr val="F5F7F8"/>
                </a:solidFill>
                <a:latin typeface="Aptos Display" pitchFamily="34" charset="0"/>
                <a:ea typeface="Aptos Display" pitchFamily="34" charset="-122"/>
                <a:cs typeface="Aptos Display" pitchFamily="34" charset="-120"/>
              </a:rPr>
              <a:t>maintenir la production</a:t>
            </a:r>
            <a:endParaRPr lang="en-US" sz="1230" dirty="0"/>
          </a:p>
        </p:txBody>
      </p:sp>
      <p:sp>
        <p:nvSpPr>
          <p:cNvPr id="27" name="Shape 25"/>
          <p:cNvSpPr/>
          <p:nvPr/>
        </p:nvSpPr>
        <p:spPr>
          <a:xfrm>
            <a:off x="2048256" y="3035808"/>
            <a:ext cx="8723376" cy="0"/>
          </a:xfrm>
          <a:prstGeom prst="line">
            <a:avLst/>
          </a:prstGeom>
          <a:noFill/>
          <a:ln w="20320">
            <a:solidFill>
              <a:srgbClr val="41D3AE"/>
            </a:solidFill>
            <a:prstDash val="solid"/>
          </a:ln>
        </p:spPr>
      </p:sp>
      <p:sp>
        <p:nvSpPr>
          <p:cNvPr id="28" name="Shape 26"/>
          <p:cNvSpPr/>
          <p:nvPr/>
        </p:nvSpPr>
        <p:spPr>
          <a:xfrm>
            <a:off x="2542032" y="2907792"/>
            <a:ext cx="237744" cy="237744"/>
          </a:xfrm>
          <a:prstGeom prst="ellipse">
            <a:avLst/>
          </a:prstGeom>
          <a:solidFill>
            <a:srgbClr val="0B1117"/>
          </a:solidFill>
          <a:ln w="19050">
            <a:solidFill>
              <a:srgbClr val="41D3AE"/>
            </a:solidFill>
            <a:prstDash val="solid"/>
          </a:ln>
        </p:spPr>
      </p:sp>
      <p:sp>
        <p:nvSpPr>
          <p:cNvPr id="29" name="Text 27"/>
          <p:cNvSpPr/>
          <p:nvPr/>
        </p:nvSpPr>
        <p:spPr>
          <a:xfrm>
            <a:off x="2340864" y="3346704"/>
            <a:ext cx="1078992" cy="164592"/>
          </a:xfrm>
          <a:prstGeom prst="rect">
            <a:avLst/>
          </a:prstGeom>
          <a:noFill/>
          <a:ln/>
        </p:spPr>
        <p:txBody>
          <a:bodyPr wrap="square" lIns="0" tIns="0" rIns="0" bIns="0" rtlCol="0" anchor="ctr">
            <a:normAutofit/>
          </a:bodyPr>
          <a:lstStyle/>
          <a:p>
            <a:pPr algn="ctr" indent="0" marL="0">
              <a:buNone/>
            </a:pPr>
            <a:r>
              <a:rPr lang="en-US" sz="930" dirty="0">
                <a:solidFill>
                  <a:srgbClr val="9EADB8"/>
                </a:solidFill>
                <a:latin typeface="Aptos" pitchFamily="34" charset="0"/>
                <a:ea typeface="Aptos" pitchFamily="34" charset="-122"/>
                <a:cs typeface="Aptos" pitchFamily="34" charset="-120"/>
              </a:rPr>
              <a:t>incidents</a:t>
            </a:r>
            <a:endParaRPr lang="en-US" sz="930" dirty="0"/>
          </a:p>
        </p:txBody>
      </p:sp>
      <p:sp>
        <p:nvSpPr>
          <p:cNvPr id="30" name="Shape 28"/>
          <p:cNvSpPr/>
          <p:nvPr/>
        </p:nvSpPr>
        <p:spPr>
          <a:xfrm>
            <a:off x="3730752" y="2907792"/>
            <a:ext cx="237744" cy="237744"/>
          </a:xfrm>
          <a:prstGeom prst="ellipse">
            <a:avLst/>
          </a:prstGeom>
          <a:solidFill>
            <a:srgbClr val="0B1117"/>
          </a:solidFill>
          <a:ln w="19050">
            <a:solidFill>
              <a:srgbClr val="41D3AE"/>
            </a:solidFill>
            <a:prstDash val="solid"/>
          </a:ln>
        </p:spPr>
      </p:sp>
      <p:sp>
        <p:nvSpPr>
          <p:cNvPr id="31" name="Text 29"/>
          <p:cNvSpPr/>
          <p:nvPr/>
        </p:nvSpPr>
        <p:spPr>
          <a:xfrm>
            <a:off x="3529584" y="3346704"/>
            <a:ext cx="1078992" cy="164592"/>
          </a:xfrm>
          <a:prstGeom prst="rect">
            <a:avLst/>
          </a:prstGeom>
          <a:noFill/>
          <a:ln/>
        </p:spPr>
        <p:txBody>
          <a:bodyPr wrap="square" lIns="0" tIns="0" rIns="0" bIns="0" rtlCol="0" anchor="ctr">
            <a:normAutofit/>
          </a:bodyPr>
          <a:lstStyle/>
          <a:p>
            <a:pPr algn="ctr" indent="0" marL="0">
              <a:buNone/>
            </a:pPr>
            <a:r>
              <a:rPr lang="en-US" sz="930" dirty="0">
                <a:solidFill>
                  <a:srgbClr val="9EADB8"/>
                </a:solidFill>
                <a:latin typeface="Aptos" pitchFamily="34" charset="0"/>
                <a:ea typeface="Aptos" pitchFamily="34" charset="-122"/>
                <a:cs typeface="Aptos" pitchFamily="34" charset="-120"/>
              </a:rPr>
              <a:t>optimisation</a:t>
            </a:r>
            <a:endParaRPr lang="en-US" sz="930" dirty="0"/>
          </a:p>
        </p:txBody>
      </p:sp>
      <p:sp>
        <p:nvSpPr>
          <p:cNvPr id="32" name="Shape 30"/>
          <p:cNvSpPr/>
          <p:nvPr/>
        </p:nvSpPr>
        <p:spPr>
          <a:xfrm>
            <a:off x="4901184" y="2907792"/>
            <a:ext cx="237744" cy="237744"/>
          </a:xfrm>
          <a:prstGeom prst="ellipse">
            <a:avLst/>
          </a:prstGeom>
          <a:solidFill>
            <a:srgbClr val="0B1117"/>
          </a:solidFill>
          <a:ln w="19050">
            <a:solidFill>
              <a:srgbClr val="41D3AE"/>
            </a:solidFill>
            <a:prstDash val="solid"/>
          </a:ln>
        </p:spPr>
      </p:sp>
      <p:sp>
        <p:nvSpPr>
          <p:cNvPr id="33" name="Text 31"/>
          <p:cNvSpPr/>
          <p:nvPr/>
        </p:nvSpPr>
        <p:spPr>
          <a:xfrm>
            <a:off x="4700016" y="3346704"/>
            <a:ext cx="1078992" cy="164592"/>
          </a:xfrm>
          <a:prstGeom prst="rect">
            <a:avLst/>
          </a:prstGeom>
          <a:noFill/>
          <a:ln/>
        </p:spPr>
        <p:txBody>
          <a:bodyPr wrap="square" lIns="0" tIns="0" rIns="0" bIns="0" rtlCol="0" anchor="ctr">
            <a:normAutofit/>
          </a:bodyPr>
          <a:lstStyle/>
          <a:p>
            <a:pPr algn="ctr" indent="0" marL="0">
              <a:buNone/>
            </a:pPr>
            <a:r>
              <a:rPr lang="en-US" sz="930" dirty="0">
                <a:solidFill>
                  <a:srgbClr val="9EADB8"/>
                </a:solidFill>
                <a:latin typeface="Aptos" pitchFamily="34" charset="0"/>
                <a:ea typeface="Aptos" pitchFamily="34" charset="-122"/>
                <a:cs typeface="Aptos" pitchFamily="34" charset="-120"/>
              </a:rPr>
              <a:t>disponibilité</a:t>
            </a:r>
            <a:endParaRPr lang="en-US" sz="930" dirty="0"/>
          </a:p>
        </p:txBody>
      </p:sp>
      <p:sp>
        <p:nvSpPr>
          <p:cNvPr id="34" name="Text 32"/>
          <p:cNvSpPr/>
          <p:nvPr/>
        </p:nvSpPr>
        <p:spPr>
          <a:xfrm>
            <a:off x="749808" y="3822192"/>
            <a:ext cx="1234440" cy="182880"/>
          </a:xfrm>
          <a:prstGeom prst="rect">
            <a:avLst/>
          </a:prstGeom>
          <a:noFill/>
          <a:ln/>
        </p:spPr>
        <p:txBody>
          <a:bodyPr wrap="square" lIns="0" tIns="0" rIns="0" bIns="0" rtlCol="0" anchor="ctr">
            <a:normAutofit/>
          </a:bodyPr>
          <a:lstStyle/>
          <a:p>
            <a:pPr algn="l" indent="0" marL="0">
              <a:buNone/>
            </a:pPr>
            <a:r>
              <a:rPr lang="en-US" sz="1000" b="1" spc="115" kern="0" dirty="0">
                <a:solidFill>
                  <a:srgbClr val="4E9DFF"/>
                </a:solidFill>
                <a:latin typeface="Aptos Mono" pitchFamily="34" charset="0"/>
                <a:ea typeface="Aptos Mono" pitchFamily="34" charset="-122"/>
                <a:cs typeface="Aptos Mono" pitchFamily="34" charset="-120"/>
              </a:rPr>
              <a:t>MIGRATE</a:t>
            </a:r>
            <a:endParaRPr lang="en-US" sz="1000" dirty="0"/>
          </a:p>
        </p:txBody>
      </p:sp>
      <p:sp>
        <p:nvSpPr>
          <p:cNvPr id="35" name="Text 33"/>
          <p:cNvSpPr/>
          <p:nvPr/>
        </p:nvSpPr>
        <p:spPr>
          <a:xfrm>
            <a:off x="749808" y="4059936"/>
            <a:ext cx="2377440" cy="201168"/>
          </a:xfrm>
          <a:prstGeom prst="rect">
            <a:avLst/>
          </a:prstGeom>
          <a:noFill/>
          <a:ln/>
        </p:spPr>
        <p:txBody>
          <a:bodyPr wrap="square" lIns="0" tIns="0" rIns="0" bIns="0" rtlCol="0" anchor="ctr">
            <a:normAutofit/>
          </a:bodyPr>
          <a:lstStyle/>
          <a:p>
            <a:pPr algn="l" indent="0" marL="0">
              <a:buNone/>
            </a:pPr>
            <a:r>
              <a:rPr lang="en-US" sz="1230" b="1" dirty="0">
                <a:solidFill>
                  <a:srgbClr val="F5F7F8"/>
                </a:solidFill>
                <a:latin typeface="Aptos Display" pitchFamily="34" charset="0"/>
                <a:ea typeface="Aptos Display" pitchFamily="34" charset="-122"/>
                <a:cs typeface="Aptos Display" pitchFamily="34" charset="-120"/>
              </a:rPr>
              <a:t>transformer le portefeuille</a:t>
            </a:r>
            <a:endParaRPr lang="en-US" sz="1230" dirty="0"/>
          </a:p>
        </p:txBody>
      </p:sp>
      <p:sp>
        <p:nvSpPr>
          <p:cNvPr id="36" name="Shape 34"/>
          <p:cNvSpPr/>
          <p:nvPr/>
        </p:nvSpPr>
        <p:spPr>
          <a:xfrm>
            <a:off x="2048256" y="4315968"/>
            <a:ext cx="8723376" cy="0"/>
          </a:xfrm>
          <a:prstGeom prst="line">
            <a:avLst/>
          </a:prstGeom>
          <a:noFill/>
          <a:ln w="20320">
            <a:solidFill>
              <a:srgbClr val="4E9DFF"/>
            </a:solidFill>
            <a:prstDash val="solid"/>
          </a:ln>
        </p:spPr>
      </p:sp>
      <p:sp>
        <p:nvSpPr>
          <p:cNvPr id="37" name="Shape 35"/>
          <p:cNvSpPr/>
          <p:nvPr/>
        </p:nvSpPr>
        <p:spPr>
          <a:xfrm>
            <a:off x="2542032" y="4187952"/>
            <a:ext cx="237744" cy="237744"/>
          </a:xfrm>
          <a:prstGeom prst="ellipse">
            <a:avLst/>
          </a:prstGeom>
          <a:solidFill>
            <a:srgbClr val="0B1117"/>
          </a:solidFill>
          <a:ln w="19050">
            <a:solidFill>
              <a:srgbClr val="4E9DFF"/>
            </a:solidFill>
            <a:prstDash val="solid"/>
          </a:ln>
        </p:spPr>
      </p:sp>
      <p:sp>
        <p:nvSpPr>
          <p:cNvPr id="38" name="Text 36"/>
          <p:cNvSpPr/>
          <p:nvPr/>
        </p:nvSpPr>
        <p:spPr>
          <a:xfrm>
            <a:off x="2322576" y="4626864"/>
            <a:ext cx="1097280" cy="164592"/>
          </a:xfrm>
          <a:prstGeom prst="rect">
            <a:avLst/>
          </a:prstGeom>
          <a:noFill/>
          <a:ln/>
        </p:spPr>
        <p:txBody>
          <a:bodyPr wrap="square" lIns="0" tIns="0" rIns="0" bIns="0" rtlCol="0" anchor="ctr">
            <a:normAutofit/>
          </a:bodyPr>
          <a:lstStyle/>
          <a:p>
            <a:pPr algn="ctr" indent="0" marL="0">
              <a:buNone/>
            </a:pPr>
            <a:r>
              <a:rPr lang="en-US" sz="930" dirty="0">
                <a:solidFill>
                  <a:srgbClr val="9EADB8"/>
                </a:solidFill>
                <a:latin typeface="Aptos" pitchFamily="34" charset="0"/>
                <a:ea typeface="Aptos" pitchFamily="34" charset="-122"/>
                <a:cs typeface="Aptos" pitchFamily="34" charset="-120"/>
              </a:rPr>
              <a:t>versions</a:t>
            </a:r>
            <a:endParaRPr lang="en-US" sz="930" dirty="0"/>
          </a:p>
        </p:txBody>
      </p:sp>
      <p:sp>
        <p:nvSpPr>
          <p:cNvPr id="39" name="Shape 37"/>
          <p:cNvSpPr/>
          <p:nvPr/>
        </p:nvSpPr>
        <p:spPr>
          <a:xfrm>
            <a:off x="3730752" y="4187952"/>
            <a:ext cx="237744" cy="237744"/>
          </a:xfrm>
          <a:prstGeom prst="ellipse">
            <a:avLst/>
          </a:prstGeom>
          <a:solidFill>
            <a:srgbClr val="0B1117"/>
          </a:solidFill>
          <a:ln w="19050">
            <a:solidFill>
              <a:srgbClr val="4E9DFF"/>
            </a:solidFill>
            <a:prstDash val="solid"/>
          </a:ln>
        </p:spPr>
      </p:sp>
      <p:sp>
        <p:nvSpPr>
          <p:cNvPr id="40" name="Text 38"/>
          <p:cNvSpPr/>
          <p:nvPr/>
        </p:nvSpPr>
        <p:spPr>
          <a:xfrm>
            <a:off x="3511296" y="4626864"/>
            <a:ext cx="1097280" cy="164592"/>
          </a:xfrm>
          <a:prstGeom prst="rect">
            <a:avLst/>
          </a:prstGeom>
          <a:noFill/>
          <a:ln/>
        </p:spPr>
        <p:txBody>
          <a:bodyPr wrap="square" lIns="0" tIns="0" rIns="0" bIns="0" rtlCol="0" anchor="ctr">
            <a:normAutofit/>
          </a:bodyPr>
          <a:lstStyle/>
          <a:p>
            <a:pPr algn="ctr" indent="0" marL="0">
              <a:buNone/>
            </a:pPr>
            <a:r>
              <a:rPr lang="en-US" sz="930" dirty="0">
                <a:solidFill>
                  <a:srgbClr val="9EADB8"/>
                </a:solidFill>
                <a:latin typeface="Aptos" pitchFamily="34" charset="0"/>
                <a:ea typeface="Aptos" pitchFamily="34" charset="-122"/>
                <a:cs typeface="Aptos" pitchFamily="34" charset="-120"/>
              </a:rPr>
              <a:t>patches</a:t>
            </a:r>
            <a:endParaRPr lang="en-US" sz="930" dirty="0"/>
          </a:p>
        </p:txBody>
      </p:sp>
      <p:sp>
        <p:nvSpPr>
          <p:cNvPr id="41" name="Shape 39"/>
          <p:cNvSpPr/>
          <p:nvPr/>
        </p:nvSpPr>
        <p:spPr>
          <a:xfrm>
            <a:off x="4901184" y="4187952"/>
            <a:ext cx="237744" cy="237744"/>
          </a:xfrm>
          <a:prstGeom prst="ellipse">
            <a:avLst/>
          </a:prstGeom>
          <a:solidFill>
            <a:srgbClr val="0B1117"/>
          </a:solidFill>
          <a:ln w="19050">
            <a:solidFill>
              <a:srgbClr val="4E9DFF"/>
            </a:solidFill>
            <a:prstDash val="solid"/>
          </a:ln>
        </p:spPr>
      </p:sp>
      <p:sp>
        <p:nvSpPr>
          <p:cNvPr id="42" name="Text 40"/>
          <p:cNvSpPr/>
          <p:nvPr/>
        </p:nvSpPr>
        <p:spPr>
          <a:xfrm>
            <a:off x="4681728" y="4626864"/>
            <a:ext cx="1097280" cy="164592"/>
          </a:xfrm>
          <a:prstGeom prst="rect">
            <a:avLst/>
          </a:prstGeom>
          <a:noFill/>
          <a:ln/>
        </p:spPr>
        <p:txBody>
          <a:bodyPr wrap="square" lIns="0" tIns="0" rIns="0" bIns="0" rtlCol="0" anchor="ctr">
            <a:normAutofit/>
          </a:bodyPr>
          <a:lstStyle/>
          <a:p>
            <a:pPr algn="ctr" indent="0" marL="0">
              <a:buNone/>
            </a:pPr>
            <a:r>
              <a:rPr lang="en-US" sz="930" dirty="0">
                <a:solidFill>
                  <a:srgbClr val="9EADB8"/>
                </a:solidFill>
                <a:latin typeface="Aptos" pitchFamily="34" charset="0"/>
                <a:ea typeface="Aptos" pitchFamily="34" charset="-122"/>
                <a:cs typeface="Aptos" pitchFamily="34" charset="-120"/>
              </a:rPr>
              <a:t>tests</a:t>
            </a:r>
            <a:endParaRPr lang="en-US" sz="930" dirty="0"/>
          </a:p>
        </p:txBody>
      </p:sp>
      <p:sp>
        <p:nvSpPr>
          <p:cNvPr id="43" name="Shape 41"/>
          <p:cNvSpPr/>
          <p:nvPr/>
        </p:nvSpPr>
        <p:spPr>
          <a:xfrm>
            <a:off x="6071616" y="4187952"/>
            <a:ext cx="237744" cy="237744"/>
          </a:xfrm>
          <a:prstGeom prst="ellipse">
            <a:avLst/>
          </a:prstGeom>
          <a:solidFill>
            <a:srgbClr val="0B1117"/>
          </a:solidFill>
          <a:ln w="19050">
            <a:solidFill>
              <a:srgbClr val="4E9DFF"/>
            </a:solidFill>
            <a:prstDash val="solid"/>
          </a:ln>
        </p:spPr>
      </p:sp>
      <p:sp>
        <p:nvSpPr>
          <p:cNvPr id="44" name="Text 42"/>
          <p:cNvSpPr/>
          <p:nvPr/>
        </p:nvSpPr>
        <p:spPr>
          <a:xfrm>
            <a:off x="5852160" y="4626864"/>
            <a:ext cx="1097280" cy="164592"/>
          </a:xfrm>
          <a:prstGeom prst="rect">
            <a:avLst/>
          </a:prstGeom>
          <a:noFill/>
          <a:ln/>
        </p:spPr>
        <p:txBody>
          <a:bodyPr wrap="square" lIns="0" tIns="0" rIns="0" bIns="0" rtlCol="0" anchor="ctr">
            <a:normAutofit/>
          </a:bodyPr>
          <a:lstStyle/>
          <a:p>
            <a:pPr algn="ctr" indent="0" marL="0">
              <a:buNone/>
            </a:pPr>
            <a:r>
              <a:rPr lang="en-US" sz="930" dirty="0">
                <a:solidFill>
                  <a:srgbClr val="9EADB8"/>
                </a:solidFill>
                <a:latin typeface="Aptos" pitchFamily="34" charset="0"/>
                <a:ea typeface="Aptos" pitchFamily="34" charset="-122"/>
                <a:cs typeface="Aptos" pitchFamily="34" charset="-120"/>
              </a:rPr>
              <a:t>revalidation</a:t>
            </a:r>
            <a:endParaRPr lang="en-US" sz="930" dirty="0"/>
          </a:p>
        </p:txBody>
      </p:sp>
      <p:sp>
        <p:nvSpPr>
          <p:cNvPr id="45" name="Shape 43"/>
          <p:cNvSpPr/>
          <p:nvPr/>
        </p:nvSpPr>
        <p:spPr>
          <a:xfrm>
            <a:off x="5632704" y="2194560"/>
            <a:ext cx="0" cy="2212848"/>
          </a:xfrm>
          <a:prstGeom prst="line">
            <a:avLst/>
          </a:prstGeom>
          <a:noFill/>
          <a:ln w="13970">
            <a:solidFill>
              <a:srgbClr val="F4B84A"/>
            </a:solidFill>
            <a:prstDash val="solid"/>
          </a:ln>
        </p:spPr>
      </p:sp>
      <p:sp>
        <p:nvSpPr>
          <p:cNvPr id="46" name="Shape 44"/>
          <p:cNvSpPr/>
          <p:nvPr/>
        </p:nvSpPr>
        <p:spPr>
          <a:xfrm>
            <a:off x="5358384" y="3529584"/>
            <a:ext cx="548640" cy="548640"/>
          </a:xfrm>
          <a:prstGeom prst="ellipse">
            <a:avLst/>
          </a:prstGeom>
          <a:solidFill>
            <a:srgbClr val="F4B84A"/>
          </a:solidFill>
          <a:ln w="12700">
            <a:solidFill>
              <a:srgbClr val="F4B84A">
                <a:alpha val="0"/>
              </a:srgbClr>
            </a:solidFill>
            <a:prstDash val="solid"/>
          </a:ln>
        </p:spPr>
      </p:sp>
      <p:sp>
        <p:nvSpPr>
          <p:cNvPr id="47" name="Text 45"/>
          <p:cNvSpPr/>
          <p:nvPr/>
        </p:nvSpPr>
        <p:spPr>
          <a:xfrm>
            <a:off x="5468112" y="3694176"/>
            <a:ext cx="329184" cy="100584"/>
          </a:xfrm>
          <a:prstGeom prst="rect">
            <a:avLst/>
          </a:prstGeom>
          <a:noFill/>
          <a:ln/>
        </p:spPr>
        <p:txBody>
          <a:bodyPr wrap="square" lIns="0" tIns="0" rIns="0" bIns="0" rtlCol="0" anchor="ctr">
            <a:normAutofit/>
          </a:bodyPr>
          <a:lstStyle/>
          <a:p>
            <a:pPr algn="ctr" indent="0" marL="0">
              <a:buNone/>
            </a:pPr>
            <a:r>
              <a:rPr lang="en-US" sz="630" b="1" spc="10" kern="0" dirty="0">
                <a:solidFill>
                  <a:srgbClr val="101820"/>
                </a:solidFill>
                <a:latin typeface="Aptos Mono" pitchFamily="34" charset="0"/>
                <a:ea typeface="Aptos Mono" pitchFamily="34" charset="-122"/>
                <a:cs typeface="Aptos Mono" pitchFamily="34" charset="-120"/>
              </a:rPr>
              <a:t>TEAM</a:t>
            </a:r>
            <a:endParaRPr lang="en-US" sz="630" dirty="0"/>
          </a:p>
        </p:txBody>
      </p:sp>
      <p:sp>
        <p:nvSpPr>
          <p:cNvPr id="48" name="Text 46"/>
          <p:cNvSpPr/>
          <p:nvPr/>
        </p:nvSpPr>
        <p:spPr>
          <a:xfrm>
            <a:off x="4983480" y="4187952"/>
            <a:ext cx="1298448" cy="182880"/>
          </a:xfrm>
          <a:prstGeom prst="rect">
            <a:avLst/>
          </a:prstGeom>
          <a:noFill/>
          <a:ln/>
        </p:spPr>
        <p:txBody>
          <a:bodyPr wrap="square" lIns="0" tIns="0" rIns="0" bIns="0" rtlCol="0" anchor="ctr">
            <a:normAutofit/>
          </a:bodyPr>
          <a:lstStyle/>
          <a:p>
            <a:pPr algn="ctr" indent="0" marL="0">
              <a:buNone/>
            </a:pPr>
            <a:r>
              <a:rPr lang="en-US" sz="1030" b="1" dirty="0">
                <a:solidFill>
                  <a:srgbClr val="F4B84A"/>
                </a:solidFill>
                <a:latin typeface="Aptos Display" pitchFamily="34" charset="0"/>
                <a:ea typeface="Aptos Display" pitchFamily="34" charset="-122"/>
                <a:cs typeface="Aptos Display" pitchFamily="34" charset="-120"/>
              </a:rPr>
              <a:t>même équipe</a:t>
            </a:r>
            <a:endParaRPr lang="en-US" sz="1030" dirty="0"/>
          </a:p>
        </p:txBody>
      </p:sp>
      <p:sp>
        <p:nvSpPr>
          <p:cNvPr id="49" name="Shape 47"/>
          <p:cNvSpPr/>
          <p:nvPr/>
        </p:nvSpPr>
        <p:spPr>
          <a:xfrm>
            <a:off x="749808" y="5321808"/>
            <a:ext cx="10561320" cy="0"/>
          </a:xfrm>
          <a:prstGeom prst="line">
            <a:avLst/>
          </a:prstGeom>
          <a:noFill/>
          <a:ln w="10160">
            <a:solidFill>
              <a:srgbClr val="344653"/>
            </a:solidFill>
            <a:prstDash val="solid"/>
          </a:ln>
        </p:spPr>
      </p:sp>
      <p:sp>
        <p:nvSpPr>
          <p:cNvPr id="50" name="Text 48"/>
          <p:cNvSpPr/>
          <p:nvPr/>
        </p:nvSpPr>
        <p:spPr>
          <a:xfrm>
            <a:off x="749808" y="5522976"/>
            <a:ext cx="2377440" cy="164592"/>
          </a:xfrm>
          <a:prstGeom prst="rect">
            <a:avLst/>
          </a:prstGeom>
          <a:noFill/>
          <a:ln/>
        </p:spPr>
        <p:txBody>
          <a:bodyPr wrap="square" lIns="0" tIns="0" rIns="0" bIns="0" rtlCol="0" anchor="ctr">
            <a:normAutofit/>
          </a:bodyPr>
          <a:lstStyle/>
          <a:p>
            <a:pPr algn="l" indent="0" marL="0">
              <a:buNone/>
            </a:pPr>
            <a:r>
              <a:rPr lang="en-US" sz="780" b="1" spc="75" kern="0" dirty="0">
                <a:solidFill>
                  <a:srgbClr val="F4B84A"/>
                </a:solidFill>
                <a:latin typeface="Aptos Mono" pitchFamily="34" charset="0"/>
                <a:ea typeface="Aptos Mono" pitchFamily="34" charset="-122"/>
                <a:cs typeface="Aptos Mono" pitchFamily="34" charset="-120"/>
              </a:rPr>
              <a:t>CONTEXTE PERDU</a:t>
            </a:r>
            <a:endParaRPr lang="en-US" sz="780" dirty="0"/>
          </a:p>
        </p:txBody>
      </p:sp>
      <p:sp>
        <p:nvSpPr>
          <p:cNvPr id="51" name="Text 49"/>
          <p:cNvSpPr/>
          <p:nvPr/>
        </p:nvSpPr>
        <p:spPr>
          <a:xfrm>
            <a:off x="749808" y="5779008"/>
            <a:ext cx="2834640" cy="182880"/>
          </a:xfrm>
          <a:prstGeom prst="rect">
            <a:avLst/>
          </a:prstGeom>
          <a:noFill/>
          <a:ln/>
        </p:spPr>
        <p:txBody>
          <a:bodyPr wrap="square" lIns="0" tIns="0" rIns="0" bIns="0" rtlCol="0" anchor="t">
            <a:normAutofit/>
          </a:bodyPr>
          <a:lstStyle/>
          <a:p>
            <a:pPr algn="l" indent="0" marL="0">
              <a:buNone/>
            </a:pPr>
            <a:r>
              <a:rPr lang="en-US" sz="920" dirty="0">
                <a:solidFill>
                  <a:srgbClr val="9EADB8"/>
                </a:solidFill>
                <a:latin typeface="Aptos" pitchFamily="34" charset="0"/>
                <a:ea typeface="Aptos" pitchFamily="34" charset="-122"/>
                <a:cs typeface="Aptos" pitchFamily="34" charset="-120"/>
              </a:rPr>
              <a:t>Pourquoi ce changement ?</a:t>
            </a:r>
            <a:endParaRPr lang="en-US" sz="920" dirty="0"/>
          </a:p>
        </p:txBody>
      </p:sp>
      <p:sp>
        <p:nvSpPr>
          <p:cNvPr id="52" name="Text 50"/>
          <p:cNvSpPr/>
          <p:nvPr/>
        </p:nvSpPr>
        <p:spPr>
          <a:xfrm>
            <a:off x="4279392" y="5522976"/>
            <a:ext cx="2377440" cy="164592"/>
          </a:xfrm>
          <a:prstGeom prst="rect">
            <a:avLst/>
          </a:prstGeom>
          <a:noFill/>
          <a:ln/>
        </p:spPr>
        <p:txBody>
          <a:bodyPr wrap="square" lIns="0" tIns="0" rIns="0" bIns="0" rtlCol="0" anchor="ctr">
            <a:normAutofit/>
          </a:bodyPr>
          <a:lstStyle/>
          <a:p>
            <a:pPr algn="l" indent="0" marL="0">
              <a:buNone/>
            </a:pPr>
            <a:r>
              <a:rPr lang="en-US" sz="780" b="1" spc="75" kern="0" dirty="0">
                <a:solidFill>
                  <a:srgbClr val="FF6F72"/>
                </a:solidFill>
                <a:latin typeface="Aptos Mono" pitchFamily="34" charset="0"/>
                <a:ea typeface="Aptos Mono" pitchFamily="34" charset="-122"/>
                <a:cs typeface="Aptos Mono" pitchFamily="34" charset="-120"/>
              </a:rPr>
              <a:t>REWORK</a:t>
            </a:r>
            <a:endParaRPr lang="en-US" sz="780" dirty="0"/>
          </a:p>
        </p:txBody>
      </p:sp>
      <p:sp>
        <p:nvSpPr>
          <p:cNvPr id="53" name="Text 51"/>
          <p:cNvSpPr/>
          <p:nvPr/>
        </p:nvSpPr>
        <p:spPr>
          <a:xfrm>
            <a:off x="4279392" y="5779008"/>
            <a:ext cx="2834640" cy="182880"/>
          </a:xfrm>
          <a:prstGeom prst="rect">
            <a:avLst/>
          </a:prstGeom>
          <a:noFill/>
          <a:ln/>
        </p:spPr>
        <p:txBody>
          <a:bodyPr wrap="square" lIns="0" tIns="0" rIns="0" bIns="0" rtlCol="0" anchor="t">
            <a:normAutofit/>
          </a:bodyPr>
          <a:lstStyle/>
          <a:p>
            <a:pPr algn="l" indent="0" marL="0">
              <a:buNone/>
            </a:pPr>
            <a:r>
              <a:rPr lang="en-US" sz="920" dirty="0">
                <a:solidFill>
                  <a:srgbClr val="9EADB8"/>
                </a:solidFill>
                <a:latin typeface="Aptos" pitchFamily="34" charset="0"/>
                <a:ea typeface="Aptos" pitchFamily="34" charset="-122"/>
                <a:cs typeface="Aptos" pitchFamily="34" charset="-120"/>
              </a:rPr>
              <a:t>Patch, retour manuel</a:t>
            </a:r>
            <a:endParaRPr lang="en-US" sz="920" dirty="0"/>
          </a:p>
        </p:txBody>
      </p:sp>
      <p:sp>
        <p:nvSpPr>
          <p:cNvPr id="54" name="Text 52"/>
          <p:cNvSpPr/>
          <p:nvPr/>
        </p:nvSpPr>
        <p:spPr>
          <a:xfrm>
            <a:off x="7808976" y="5522976"/>
            <a:ext cx="2377440" cy="164592"/>
          </a:xfrm>
          <a:prstGeom prst="rect">
            <a:avLst/>
          </a:prstGeom>
          <a:noFill/>
          <a:ln/>
        </p:spPr>
        <p:txBody>
          <a:bodyPr wrap="square" lIns="0" tIns="0" rIns="0" bIns="0" rtlCol="0" anchor="ctr">
            <a:normAutofit/>
          </a:bodyPr>
          <a:lstStyle/>
          <a:p>
            <a:pPr algn="l" indent="0" marL="0">
              <a:buNone/>
            </a:pPr>
            <a:r>
              <a:rPr lang="en-US" sz="780" b="1" spc="75" kern="0" dirty="0">
                <a:solidFill>
                  <a:srgbClr val="FF6F72"/>
                </a:solidFill>
                <a:latin typeface="Aptos Mono" pitchFamily="34" charset="0"/>
                <a:ea typeface="Aptos Mono" pitchFamily="34" charset="-122"/>
                <a:cs typeface="Aptos Mono" pitchFamily="34" charset="-120"/>
              </a:rPr>
              <a:t>PREUVES DISPERSÉES</a:t>
            </a:r>
            <a:endParaRPr lang="en-US" sz="780" dirty="0"/>
          </a:p>
        </p:txBody>
      </p:sp>
      <p:sp>
        <p:nvSpPr>
          <p:cNvPr id="55" name="Text 53"/>
          <p:cNvSpPr/>
          <p:nvPr/>
        </p:nvSpPr>
        <p:spPr>
          <a:xfrm>
            <a:off x="7808976" y="5779008"/>
            <a:ext cx="2834640" cy="182880"/>
          </a:xfrm>
          <a:prstGeom prst="rect">
            <a:avLst/>
          </a:prstGeom>
          <a:noFill/>
          <a:ln/>
        </p:spPr>
        <p:txBody>
          <a:bodyPr wrap="square" lIns="0" tIns="0" rIns="0" bIns="0" rtlCol="0" anchor="t">
            <a:normAutofit/>
          </a:bodyPr>
          <a:lstStyle/>
          <a:p>
            <a:pPr algn="l" indent="0" marL="0">
              <a:buNone/>
            </a:pPr>
            <a:r>
              <a:rPr lang="en-US" sz="920" dirty="0">
                <a:solidFill>
                  <a:srgbClr val="9EADB8"/>
                </a:solidFill>
                <a:latin typeface="Aptos" pitchFamily="34" charset="0"/>
                <a:ea typeface="Aptos" pitchFamily="34" charset="-122"/>
                <a:cs typeface="Aptos" pitchFamily="34" charset="-120"/>
              </a:rPr>
              <a:t>Décision difficile à relier</a:t>
            </a:r>
            <a:endParaRPr lang="en-US" sz="9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117"/>
        </a:solidFill>
      </p:bgPr>
    </p:bg>
    <p:spTree>
      <p:nvGrpSpPr>
        <p:cNvPr id="1" name=""/>
        <p:cNvGrpSpPr/>
        <p:nvPr/>
      </p:nvGrpSpPr>
      <p:grpSpPr>
        <a:xfrm>
          <a:off x="0" y="0"/>
          <a:ext cx="0" cy="0"/>
          <a:chOff x="0" y="0"/>
          <a:chExt cx="0" cy="0"/>
        </a:xfrm>
      </p:grpSpPr>
      <p:sp>
        <p:nvSpPr>
          <p:cNvPr id="2" name="Shape 0"/>
          <p:cNvSpPr/>
          <p:nvPr/>
        </p:nvSpPr>
        <p:spPr>
          <a:xfrm>
            <a:off x="676656" y="411480"/>
            <a:ext cx="10735056" cy="0"/>
          </a:xfrm>
          <a:prstGeom prst="line">
            <a:avLst/>
          </a:prstGeom>
          <a:noFill/>
          <a:ln w="10160">
            <a:solidFill>
              <a:srgbClr val="344653">
                <a:alpha val="85000"/>
              </a:srgbClr>
            </a:solidFill>
            <a:prstDash val="solid"/>
          </a:ln>
        </p:spPr>
      </p:sp>
      <p:sp>
        <p:nvSpPr>
          <p:cNvPr id="3" name="Shape 1"/>
          <p:cNvSpPr/>
          <p:nvPr/>
        </p:nvSpPr>
        <p:spPr>
          <a:xfrm>
            <a:off x="658368" y="356616"/>
            <a:ext cx="73152" cy="73152"/>
          </a:xfrm>
          <a:prstGeom prst="ellipse">
            <a:avLst/>
          </a:prstGeom>
          <a:solidFill>
            <a:srgbClr val="41D3AE"/>
          </a:solidFill>
          <a:ln w="12700">
            <a:solidFill>
              <a:srgbClr val="41D3AE">
                <a:alpha val="0"/>
              </a:srgbClr>
            </a:solidFill>
            <a:prstDash val="solid"/>
          </a:ln>
        </p:spPr>
      </p:sp>
      <p:sp>
        <p:nvSpPr>
          <p:cNvPr id="4" name="Text 2"/>
          <p:cNvSpPr/>
          <p:nvPr/>
        </p:nvSpPr>
        <p:spPr>
          <a:xfrm>
            <a:off x="822960" y="201168"/>
            <a:ext cx="1207008" cy="164592"/>
          </a:xfrm>
          <a:prstGeom prst="rect">
            <a:avLst/>
          </a:prstGeom>
          <a:noFill/>
          <a:ln/>
        </p:spPr>
        <p:txBody>
          <a:bodyPr wrap="square" lIns="0" tIns="0" rIns="0" bIns="0" rtlCol="0" anchor="ctr">
            <a:normAutofit/>
          </a:bodyPr>
          <a:lstStyle/>
          <a:p>
            <a:pPr algn="l" indent="0" marL="0">
              <a:buNone/>
            </a:pPr>
            <a:r>
              <a:rPr lang="en-US" sz="760" b="1" dirty="0">
                <a:solidFill>
                  <a:srgbClr val="9EADB8"/>
                </a:solidFill>
                <a:latin typeface="Aptos" pitchFamily="34" charset="0"/>
                <a:ea typeface="Aptos" pitchFamily="34" charset="-122"/>
                <a:cs typeface="Aptos" pitchFamily="34" charset="-120"/>
              </a:rPr>
              <a:t>Contexte</a:t>
            </a:r>
            <a:endParaRPr lang="en-US" sz="760" dirty="0"/>
          </a:p>
        </p:txBody>
      </p:sp>
      <p:sp>
        <p:nvSpPr>
          <p:cNvPr id="5" name="Shape 3"/>
          <p:cNvSpPr/>
          <p:nvPr/>
        </p:nvSpPr>
        <p:spPr>
          <a:xfrm>
            <a:off x="2130552" y="356616"/>
            <a:ext cx="109728" cy="109728"/>
          </a:xfrm>
          <a:prstGeom prst="ellipse">
            <a:avLst/>
          </a:prstGeom>
          <a:solidFill>
            <a:srgbClr val="68D6E8"/>
          </a:solidFill>
          <a:ln w="12700">
            <a:solidFill>
              <a:srgbClr val="68D6E8">
                <a:alpha val="0"/>
              </a:srgbClr>
            </a:solidFill>
            <a:prstDash val="solid"/>
          </a:ln>
        </p:spPr>
      </p:sp>
      <p:sp>
        <p:nvSpPr>
          <p:cNvPr id="6" name="Text 4"/>
          <p:cNvSpPr/>
          <p:nvPr/>
        </p:nvSpPr>
        <p:spPr>
          <a:xfrm>
            <a:off x="2295144" y="201168"/>
            <a:ext cx="1207008" cy="164592"/>
          </a:xfrm>
          <a:prstGeom prst="rect">
            <a:avLst/>
          </a:prstGeom>
          <a:noFill/>
          <a:ln/>
        </p:spPr>
        <p:txBody>
          <a:bodyPr wrap="square" lIns="0" tIns="0" rIns="0" bIns="0" rtlCol="0" anchor="ctr">
            <a:normAutofit/>
          </a:bodyPr>
          <a:lstStyle/>
          <a:p>
            <a:pPr algn="l" indent="0" marL="0">
              <a:buNone/>
            </a:pPr>
            <a:r>
              <a:rPr lang="en-US" sz="810" b="1" dirty="0">
                <a:solidFill>
                  <a:srgbClr val="68D6E8"/>
                </a:solidFill>
                <a:latin typeface="Aptos" pitchFamily="34" charset="0"/>
                <a:ea typeface="Aptos" pitchFamily="34" charset="-122"/>
                <a:cs typeface="Aptos" pitchFamily="34" charset="-120"/>
              </a:rPr>
              <a:t>Solution</a:t>
            </a:r>
            <a:endParaRPr lang="en-US" sz="810" dirty="0"/>
          </a:p>
        </p:txBody>
      </p:sp>
      <p:sp>
        <p:nvSpPr>
          <p:cNvPr id="7" name="Shape 5"/>
          <p:cNvSpPr/>
          <p:nvPr/>
        </p:nvSpPr>
        <p:spPr>
          <a:xfrm>
            <a:off x="2276856" y="521208"/>
            <a:ext cx="731520" cy="0"/>
          </a:xfrm>
          <a:prstGeom prst="line">
            <a:avLst/>
          </a:prstGeom>
          <a:noFill/>
          <a:ln w="22860">
            <a:solidFill>
              <a:srgbClr val="68D6E8"/>
            </a:solidFill>
            <a:prstDash val="solid"/>
          </a:ln>
        </p:spPr>
      </p:sp>
      <p:sp>
        <p:nvSpPr>
          <p:cNvPr id="8" name="Shape 6"/>
          <p:cNvSpPr/>
          <p:nvPr/>
        </p:nvSpPr>
        <p:spPr>
          <a:xfrm>
            <a:off x="3493008" y="356616"/>
            <a:ext cx="73152" cy="73152"/>
          </a:xfrm>
          <a:prstGeom prst="ellipse">
            <a:avLst/>
          </a:prstGeom>
          <a:solidFill>
            <a:srgbClr val="344653">
              <a:alpha val="80000"/>
            </a:srgbClr>
          </a:solidFill>
          <a:ln w="12700">
            <a:solidFill>
              <a:srgbClr val="344653">
                <a:alpha val="0"/>
              </a:srgbClr>
            </a:solidFill>
            <a:prstDash val="solid"/>
          </a:ln>
        </p:spPr>
      </p:sp>
      <p:sp>
        <p:nvSpPr>
          <p:cNvPr id="9" name="Text 7"/>
          <p:cNvSpPr/>
          <p:nvPr/>
        </p:nvSpPr>
        <p:spPr>
          <a:xfrm>
            <a:off x="3657600" y="201168"/>
            <a:ext cx="1207008" cy="164592"/>
          </a:xfrm>
          <a:prstGeom prst="rect">
            <a:avLst/>
          </a:prstGeom>
          <a:noFill/>
          <a:ln/>
        </p:spPr>
        <p:txBody>
          <a:bodyPr wrap="square" lIns="0" tIns="0" rIns="0" bIns="0" rtlCol="0" anchor="ctr">
            <a:normAutofit/>
          </a:bodyPr>
          <a:lstStyle/>
          <a:p>
            <a:pPr algn="l" indent="0" marL="0">
              <a:buNone/>
            </a:pPr>
            <a:r>
              <a:rPr lang="en-US" sz="760" dirty="0">
                <a:solidFill>
                  <a:srgbClr val="9EADB8"/>
                </a:solidFill>
                <a:latin typeface="Aptos" pitchFamily="34" charset="0"/>
                <a:ea typeface="Aptos" pitchFamily="34" charset="-122"/>
                <a:cs typeface="Aptos" pitchFamily="34" charset="-120"/>
              </a:rPr>
              <a:t>Architecture</a:t>
            </a:r>
            <a:endParaRPr lang="en-US" sz="760" dirty="0"/>
          </a:p>
        </p:txBody>
      </p:sp>
      <p:sp>
        <p:nvSpPr>
          <p:cNvPr id="10" name="Shape 8"/>
          <p:cNvSpPr/>
          <p:nvPr/>
        </p:nvSpPr>
        <p:spPr>
          <a:xfrm>
            <a:off x="5001768" y="356616"/>
            <a:ext cx="73152" cy="73152"/>
          </a:xfrm>
          <a:prstGeom prst="ellipse">
            <a:avLst/>
          </a:prstGeom>
          <a:solidFill>
            <a:srgbClr val="344653">
              <a:alpha val="80000"/>
            </a:srgbClr>
          </a:solidFill>
          <a:ln w="12700">
            <a:solidFill>
              <a:srgbClr val="344653">
                <a:alpha val="0"/>
              </a:srgbClr>
            </a:solidFill>
            <a:prstDash val="solid"/>
          </a:ln>
        </p:spPr>
      </p:sp>
      <p:sp>
        <p:nvSpPr>
          <p:cNvPr id="11" name="Text 9"/>
          <p:cNvSpPr/>
          <p:nvPr/>
        </p:nvSpPr>
        <p:spPr>
          <a:xfrm>
            <a:off x="5166360" y="201168"/>
            <a:ext cx="1097280" cy="164592"/>
          </a:xfrm>
          <a:prstGeom prst="rect">
            <a:avLst/>
          </a:prstGeom>
          <a:noFill/>
          <a:ln/>
        </p:spPr>
        <p:txBody>
          <a:bodyPr wrap="square" lIns="0" tIns="0" rIns="0" bIns="0" rtlCol="0" anchor="ctr">
            <a:normAutofit/>
          </a:bodyPr>
          <a:lstStyle/>
          <a:p>
            <a:pPr algn="l" indent="0" marL="0">
              <a:buNone/>
            </a:pPr>
            <a:r>
              <a:rPr lang="en-US" sz="760" dirty="0">
                <a:solidFill>
                  <a:srgbClr val="9EADB8"/>
                </a:solidFill>
                <a:latin typeface="Aptos" pitchFamily="34" charset="0"/>
                <a:ea typeface="Aptos" pitchFamily="34" charset="-122"/>
                <a:cs typeface="Aptos" pitchFamily="34" charset="-120"/>
              </a:rPr>
              <a:t>Réalisation</a:t>
            </a:r>
            <a:endParaRPr lang="en-US" sz="760" dirty="0"/>
          </a:p>
        </p:txBody>
      </p:sp>
      <p:sp>
        <p:nvSpPr>
          <p:cNvPr id="12" name="Shape 10"/>
          <p:cNvSpPr/>
          <p:nvPr/>
        </p:nvSpPr>
        <p:spPr>
          <a:xfrm>
            <a:off x="6583680" y="356616"/>
            <a:ext cx="73152" cy="73152"/>
          </a:xfrm>
          <a:prstGeom prst="ellipse">
            <a:avLst/>
          </a:prstGeom>
          <a:solidFill>
            <a:srgbClr val="344653">
              <a:alpha val="80000"/>
            </a:srgbClr>
          </a:solidFill>
          <a:ln w="12700">
            <a:solidFill>
              <a:srgbClr val="344653">
                <a:alpha val="0"/>
              </a:srgbClr>
            </a:solidFill>
            <a:prstDash val="solid"/>
          </a:ln>
        </p:spPr>
      </p:sp>
      <p:sp>
        <p:nvSpPr>
          <p:cNvPr id="13" name="Text 11"/>
          <p:cNvSpPr/>
          <p:nvPr/>
        </p:nvSpPr>
        <p:spPr>
          <a:xfrm>
            <a:off x="6748272" y="201168"/>
            <a:ext cx="1207008" cy="164592"/>
          </a:xfrm>
          <a:prstGeom prst="rect">
            <a:avLst/>
          </a:prstGeom>
          <a:noFill/>
          <a:ln/>
        </p:spPr>
        <p:txBody>
          <a:bodyPr wrap="square" lIns="0" tIns="0" rIns="0" bIns="0" rtlCol="0" anchor="ctr">
            <a:normAutofit/>
          </a:bodyPr>
          <a:lstStyle/>
          <a:p>
            <a:pPr algn="l" indent="0" marL="0">
              <a:buNone/>
            </a:pPr>
            <a:r>
              <a:rPr lang="en-US" sz="760" dirty="0">
                <a:solidFill>
                  <a:srgbClr val="9EADB8"/>
                </a:solidFill>
                <a:latin typeface="Aptos" pitchFamily="34" charset="0"/>
                <a:ea typeface="Aptos" pitchFamily="34" charset="-122"/>
                <a:cs typeface="Aptos" pitchFamily="34" charset="-120"/>
              </a:rPr>
              <a:t>Démo</a:t>
            </a:r>
            <a:endParaRPr lang="en-US" sz="760" dirty="0"/>
          </a:p>
        </p:txBody>
      </p:sp>
      <p:sp>
        <p:nvSpPr>
          <p:cNvPr id="14" name="Shape 12"/>
          <p:cNvSpPr/>
          <p:nvPr/>
        </p:nvSpPr>
        <p:spPr>
          <a:xfrm>
            <a:off x="8229600" y="356616"/>
            <a:ext cx="73152" cy="73152"/>
          </a:xfrm>
          <a:prstGeom prst="ellipse">
            <a:avLst/>
          </a:prstGeom>
          <a:solidFill>
            <a:srgbClr val="344653">
              <a:alpha val="80000"/>
            </a:srgbClr>
          </a:solidFill>
          <a:ln w="12700">
            <a:solidFill>
              <a:srgbClr val="344653">
                <a:alpha val="0"/>
              </a:srgbClr>
            </a:solidFill>
            <a:prstDash val="solid"/>
          </a:ln>
        </p:spPr>
      </p:sp>
      <p:sp>
        <p:nvSpPr>
          <p:cNvPr id="15" name="Text 13"/>
          <p:cNvSpPr/>
          <p:nvPr/>
        </p:nvSpPr>
        <p:spPr>
          <a:xfrm>
            <a:off x="8394192" y="201168"/>
            <a:ext cx="1207008" cy="164592"/>
          </a:xfrm>
          <a:prstGeom prst="rect">
            <a:avLst/>
          </a:prstGeom>
          <a:noFill/>
          <a:ln/>
        </p:spPr>
        <p:txBody>
          <a:bodyPr wrap="square" lIns="0" tIns="0" rIns="0" bIns="0" rtlCol="0" anchor="ctr">
            <a:normAutofit/>
          </a:bodyPr>
          <a:lstStyle/>
          <a:p>
            <a:pPr algn="l" indent="0" marL="0">
              <a:buNone/>
            </a:pPr>
            <a:r>
              <a:rPr lang="en-US" sz="760" dirty="0">
                <a:solidFill>
                  <a:srgbClr val="9EADB8"/>
                </a:solidFill>
                <a:latin typeface="Aptos" pitchFamily="34" charset="0"/>
                <a:ea typeface="Aptos" pitchFamily="34" charset="-122"/>
                <a:cs typeface="Aptos" pitchFamily="34" charset="-120"/>
              </a:rPr>
              <a:t>Résultats</a:t>
            </a:r>
            <a:endParaRPr lang="en-US" sz="760" dirty="0"/>
          </a:p>
        </p:txBody>
      </p:sp>
      <p:sp>
        <p:nvSpPr>
          <p:cNvPr id="16" name="Shape 14"/>
          <p:cNvSpPr/>
          <p:nvPr/>
        </p:nvSpPr>
        <p:spPr>
          <a:xfrm>
            <a:off x="9784080" y="356616"/>
            <a:ext cx="73152" cy="73152"/>
          </a:xfrm>
          <a:prstGeom prst="ellipse">
            <a:avLst/>
          </a:prstGeom>
          <a:solidFill>
            <a:srgbClr val="344653">
              <a:alpha val="80000"/>
            </a:srgbClr>
          </a:solidFill>
          <a:ln w="12700">
            <a:solidFill>
              <a:srgbClr val="344653">
                <a:alpha val="0"/>
              </a:srgbClr>
            </a:solidFill>
            <a:prstDash val="solid"/>
          </a:ln>
        </p:spPr>
      </p:sp>
      <p:sp>
        <p:nvSpPr>
          <p:cNvPr id="17" name="Text 15"/>
          <p:cNvSpPr/>
          <p:nvPr/>
        </p:nvSpPr>
        <p:spPr>
          <a:xfrm>
            <a:off x="9948672" y="201168"/>
            <a:ext cx="1207008" cy="164592"/>
          </a:xfrm>
          <a:prstGeom prst="rect">
            <a:avLst/>
          </a:prstGeom>
          <a:noFill/>
          <a:ln/>
        </p:spPr>
        <p:txBody>
          <a:bodyPr wrap="square" lIns="0" tIns="0" rIns="0" bIns="0" rtlCol="0" anchor="ctr">
            <a:normAutofit/>
          </a:bodyPr>
          <a:lstStyle/>
          <a:p>
            <a:pPr algn="l" indent="0" marL="0">
              <a:buNone/>
            </a:pPr>
            <a:r>
              <a:rPr lang="en-US" sz="760" dirty="0">
                <a:solidFill>
                  <a:srgbClr val="9EADB8"/>
                </a:solidFill>
                <a:latin typeface="Aptos" pitchFamily="34" charset="0"/>
                <a:ea typeface="Aptos" pitchFamily="34" charset="-122"/>
                <a:cs typeface="Aptos" pitchFamily="34" charset="-120"/>
              </a:rPr>
              <a:t>Conclusion</a:t>
            </a:r>
            <a:endParaRPr lang="en-US" sz="760" dirty="0"/>
          </a:p>
        </p:txBody>
      </p:sp>
      <p:sp>
        <p:nvSpPr>
          <p:cNvPr id="18" name="Shape 16"/>
          <p:cNvSpPr/>
          <p:nvPr/>
        </p:nvSpPr>
        <p:spPr>
          <a:xfrm>
            <a:off x="658368" y="6428232"/>
            <a:ext cx="10863072" cy="0"/>
          </a:xfrm>
          <a:prstGeom prst="line">
            <a:avLst/>
          </a:prstGeom>
          <a:noFill/>
          <a:ln w="8890">
            <a:solidFill>
              <a:srgbClr val="344653">
                <a:alpha val="80000"/>
              </a:srgbClr>
            </a:solidFill>
            <a:prstDash val="solid"/>
          </a:ln>
        </p:spPr>
      </p:sp>
      <p:sp>
        <p:nvSpPr>
          <p:cNvPr id="19" name="Text 17"/>
          <p:cNvSpPr/>
          <p:nvPr/>
        </p:nvSpPr>
        <p:spPr>
          <a:xfrm>
            <a:off x="658368" y="6510528"/>
            <a:ext cx="2926080" cy="146304"/>
          </a:xfrm>
          <a:prstGeom prst="rect">
            <a:avLst/>
          </a:prstGeom>
          <a:noFill/>
          <a:ln/>
        </p:spPr>
        <p:txBody>
          <a:bodyPr wrap="square" lIns="0" tIns="0" rIns="0" bIns="0" rtlCol="0" anchor="ctr">
            <a:normAutofit/>
          </a:bodyPr>
          <a:lstStyle/>
          <a:p>
            <a:pPr algn="l" indent="0" marL="0">
              <a:buNone/>
            </a:pPr>
            <a:r>
              <a:rPr lang="en-US" sz="720" b="1" spc="120" kern="0" dirty="0">
                <a:solidFill>
                  <a:srgbClr val="6C7F89"/>
                </a:solidFill>
                <a:latin typeface="Aptos Mono" pitchFamily="34" charset="0"/>
                <a:ea typeface="Aptos Mono" pitchFamily="34" charset="-122"/>
                <a:cs typeface="Aptos Mono" pitchFamily="34" charset="-120"/>
              </a:rPr>
              <a:t>AGENTIC MIGRATION PLATFORM</a:t>
            </a:r>
            <a:endParaRPr lang="en-US" sz="720" dirty="0"/>
          </a:p>
        </p:txBody>
      </p:sp>
      <p:sp>
        <p:nvSpPr>
          <p:cNvPr id="20" name="Text 18"/>
          <p:cNvSpPr/>
          <p:nvPr/>
        </p:nvSpPr>
        <p:spPr>
          <a:xfrm>
            <a:off x="10561320" y="6501384"/>
            <a:ext cx="950976" cy="155448"/>
          </a:xfrm>
          <a:prstGeom prst="rect">
            <a:avLst/>
          </a:prstGeom>
          <a:noFill/>
          <a:ln/>
        </p:spPr>
        <p:txBody>
          <a:bodyPr wrap="square" lIns="0" tIns="0" rIns="0" bIns="0" rtlCol="0" anchor="ctr">
            <a:normAutofit/>
          </a:bodyPr>
          <a:lstStyle/>
          <a:p>
            <a:pPr algn="r" indent="0" marL="0">
              <a:buNone/>
            </a:pPr>
            <a:r>
              <a:rPr lang="en-US" sz="770" b="1" spc="80" kern="0" dirty="0">
                <a:solidFill>
                  <a:srgbClr val="6C7F89"/>
                </a:solidFill>
                <a:latin typeface="Aptos Mono" pitchFamily="34" charset="0"/>
                <a:ea typeface="Aptos Mono" pitchFamily="34" charset="-122"/>
                <a:cs typeface="Aptos Mono" pitchFamily="34" charset="-120"/>
              </a:rPr>
              <a:t>05 / 18</a:t>
            </a:r>
            <a:endParaRPr lang="en-US" sz="770" dirty="0"/>
          </a:p>
        </p:txBody>
      </p:sp>
      <p:sp>
        <p:nvSpPr>
          <p:cNvPr id="21" name="Text 19"/>
          <p:cNvSpPr/>
          <p:nvPr/>
        </p:nvSpPr>
        <p:spPr>
          <a:xfrm>
            <a:off x="658368" y="758952"/>
            <a:ext cx="3200400" cy="164592"/>
          </a:xfrm>
          <a:prstGeom prst="rect">
            <a:avLst/>
          </a:prstGeom>
          <a:noFill/>
          <a:ln/>
        </p:spPr>
        <p:txBody>
          <a:bodyPr wrap="square" lIns="0" tIns="0" rIns="0" bIns="0" rtlCol="0" anchor="ctr">
            <a:normAutofit/>
          </a:bodyPr>
          <a:lstStyle/>
          <a:p>
            <a:pPr algn="l" indent="0" marL="0">
              <a:buNone/>
            </a:pPr>
            <a:r>
              <a:rPr lang="en-US" sz="900" b="1" spc="135" kern="0" dirty="0">
                <a:solidFill>
                  <a:srgbClr val="68D6E8"/>
                </a:solidFill>
                <a:latin typeface="Aptos Mono" pitchFamily="34" charset="0"/>
                <a:ea typeface="Aptos Mono" pitchFamily="34" charset="-122"/>
                <a:cs typeface="Aptos Mono" pitchFamily="34" charset="-120"/>
              </a:rPr>
              <a:t>SOLUTION</a:t>
            </a:r>
            <a:endParaRPr lang="en-US" sz="900" dirty="0"/>
          </a:p>
        </p:txBody>
      </p:sp>
      <p:sp>
        <p:nvSpPr>
          <p:cNvPr id="22" name="Text 20"/>
          <p:cNvSpPr/>
          <p:nvPr/>
        </p:nvSpPr>
        <p:spPr>
          <a:xfrm>
            <a:off x="658368" y="969264"/>
            <a:ext cx="10607040" cy="493776"/>
          </a:xfrm>
          <a:prstGeom prst="rect">
            <a:avLst/>
          </a:prstGeom>
          <a:noFill/>
          <a:ln/>
        </p:spPr>
        <p:txBody>
          <a:bodyPr wrap="square" lIns="0" tIns="0" rIns="0" bIns="0" rtlCol="0" anchor="t">
            <a:normAutofit/>
          </a:bodyPr>
          <a:lstStyle/>
          <a:p>
            <a:pPr algn="l" indent="0" marL="0">
              <a:buNone/>
            </a:pPr>
            <a:r>
              <a:rPr lang="en-US" sz="2900" b="1" dirty="0">
                <a:solidFill>
                  <a:srgbClr val="F5F7F8"/>
                </a:solidFill>
                <a:latin typeface="Aptos Display" pitchFamily="34" charset="0"/>
                <a:ea typeface="Aptos Display" pitchFamily="34" charset="-122"/>
                <a:cs typeface="Aptos Display" pitchFamily="34" charset="-120"/>
              </a:rPr>
              <a:t>Du prompt individuel à la Migration Factory</a:t>
            </a:r>
            <a:endParaRPr lang="en-US" sz="2900" dirty="0"/>
          </a:p>
        </p:txBody>
      </p:sp>
      <p:sp>
        <p:nvSpPr>
          <p:cNvPr id="23" name="Text 21"/>
          <p:cNvSpPr/>
          <p:nvPr/>
        </p:nvSpPr>
        <p:spPr>
          <a:xfrm>
            <a:off x="658368" y="1499616"/>
            <a:ext cx="9966960" cy="256032"/>
          </a:xfrm>
          <a:prstGeom prst="rect">
            <a:avLst/>
          </a:prstGeom>
          <a:noFill/>
          <a:ln/>
        </p:spPr>
        <p:txBody>
          <a:bodyPr wrap="square" lIns="0" tIns="0" rIns="0" bIns="0" rtlCol="0" anchor="t">
            <a:normAutofit/>
          </a:bodyPr>
          <a:lstStyle/>
          <a:p>
            <a:pPr algn="l" indent="0" marL="0">
              <a:buNone/>
            </a:pPr>
            <a:r>
              <a:rPr lang="en-US" sz="1200" dirty="0">
                <a:solidFill>
                  <a:srgbClr val="9EADB8"/>
                </a:solidFill>
                <a:latin typeface="Aptos" pitchFamily="34" charset="0"/>
                <a:ea typeface="Aptos" pitchFamily="34" charset="-122"/>
                <a:cs typeface="Aptos" pitchFamily="34" charset="-120"/>
              </a:rPr>
              <a:t>Capitaliser les pratiques ne suffit plus : le parcours doit devenir réutilisable et gouverné.</a:t>
            </a:r>
            <a:endParaRPr lang="en-US" sz="1200" dirty="0"/>
          </a:p>
        </p:txBody>
      </p:sp>
      <p:sp>
        <p:nvSpPr>
          <p:cNvPr id="24" name="Text 22"/>
          <p:cNvSpPr/>
          <p:nvPr/>
        </p:nvSpPr>
        <p:spPr>
          <a:xfrm>
            <a:off x="713232" y="2139696"/>
            <a:ext cx="1417320" cy="164592"/>
          </a:xfrm>
          <a:prstGeom prst="rect">
            <a:avLst/>
          </a:prstGeom>
          <a:noFill/>
          <a:ln/>
        </p:spPr>
        <p:txBody>
          <a:bodyPr wrap="square" lIns="0" tIns="0" rIns="0" bIns="0" rtlCol="0" anchor="ctr">
            <a:normAutofit/>
          </a:bodyPr>
          <a:lstStyle/>
          <a:p>
            <a:pPr algn="l" indent="0" marL="0">
              <a:buNone/>
            </a:pPr>
            <a:r>
              <a:rPr lang="en-US" sz="850" b="1" spc="120" kern="0" dirty="0">
                <a:solidFill>
                  <a:srgbClr val="68D6E8"/>
                </a:solidFill>
                <a:latin typeface="Aptos Mono" pitchFamily="34" charset="0"/>
                <a:ea typeface="Aptos Mono" pitchFamily="34" charset="-122"/>
                <a:cs typeface="Aptos Mono" pitchFamily="34" charset="-120"/>
              </a:rPr>
              <a:t>LA BASCULE</a:t>
            </a:r>
            <a:endParaRPr lang="en-US" sz="850" dirty="0"/>
          </a:p>
        </p:txBody>
      </p:sp>
      <p:sp>
        <p:nvSpPr>
          <p:cNvPr id="25" name="Shape 23"/>
          <p:cNvSpPr/>
          <p:nvPr/>
        </p:nvSpPr>
        <p:spPr>
          <a:xfrm>
            <a:off x="749808" y="4407408"/>
            <a:ext cx="2103120" cy="749808"/>
          </a:xfrm>
          <a:prstGeom prst="rect">
            <a:avLst/>
          </a:prstGeom>
          <a:solidFill>
            <a:srgbClr val="131D26"/>
          </a:solidFill>
          <a:ln w="12700">
            <a:solidFill>
              <a:srgbClr val="F4B84A"/>
            </a:solidFill>
            <a:prstDash val="solid"/>
          </a:ln>
        </p:spPr>
      </p:sp>
      <p:sp>
        <p:nvSpPr>
          <p:cNvPr id="26" name="Text 24"/>
          <p:cNvSpPr/>
          <p:nvPr/>
        </p:nvSpPr>
        <p:spPr>
          <a:xfrm>
            <a:off x="987552" y="4617720"/>
            <a:ext cx="274320" cy="164592"/>
          </a:xfrm>
          <a:prstGeom prst="rect">
            <a:avLst/>
          </a:prstGeom>
          <a:noFill/>
          <a:ln/>
        </p:spPr>
        <p:txBody>
          <a:bodyPr wrap="square" lIns="0" tIns="0" rIns="0" bIns="0" rtlCol="0" anchor="ctr">
            <a:normAutofit/>
          </a:bodyPr>
          <a:lstStyle/>
          <a:p>
            <a:pPr algn="l" indent="0" marL="0">
              <a:buNone/>
            </a:pPr>
            <a:r>
              <a:rPr lang="en-US" sz="800" b="1" spc="20" kern="0" dirty="0">
                <a:solidFill>
                  <a:srgbClr val="F4B84A"/>
                </a:solidFill>
                <a:latin typeface="Aptos Mono" pitchFamily="34" charset="0"/>
                <a:ea typeface="Aptos Mono" pitchFamily="34" charset="-122"/>
                <a:cs typeface="Aptos Mono" pitchFamily="34" charset="-120"/>
              </a:rPr>
              <a:t>01</a:t>
            </a:r>
            <a:endParaRPr lang="en-US" sz="800" dirty="0"/>
          </a:p>
        </p:txBody>
      </p:sp>
      <p:sp>
        <p:nvSpPr>
          <p:cNvPr id="27" name="Text 25"/>
          <p:cNvSpPr/>
          <p:nvPr/>
        </p:nvSpPr>
        <p:spPr>
          <a:xfrm>
            <a:off x="1408176" y="4535424"/>
            <a:ext cx="1152144" cy="384048"/>
          </a:xfrm>
          <a:prstGeom prst="rect">
            <a:avLst/>
          </a:prstGeom>
          <a:noFill/>
          <a:ln/>
        </p:spPr>
        <p:txBody>
          <a:bodyPr wrap="square" lIns="0" tIns="0" rIns="0" bIns="0" rtlCol="0" anchor="t">
            <a:normAutofit/>
          </a:bodyPr>
          <a:lstStyle/>
          <a:p>
            <a:pPr algn="l" indent="0" marL="0">
              <a:buNone/>
            </a:pPr>
            <a:r>
              <a:rPr lang="en-US" sz="1420" b="1" dirty="0">
                <a:solidFill>
                  <a:srgbClr val="F5F7F8"/>
                </a:solidFill>
                <a:latin typeface="Aptos Display" pitchFamily="34" charset="0"/>
                <a:ea typeface="Aptos Display" pitchFamily="34" charset="-122"/>
                <a:cs typeface="Aptos Display" pitchFamily="34" charset="-120"/>
              </a:rPr>
              <a:t>Prompts</a:t>
            </a:r>
            <a:endParaRPr lang="en-US" sz="1420" dirty="0"/>
          </a:p>
          <a:p>
            <a:pPr algn="l" indent="0" marL="0">
              <a:buNone/>
            </a:pPr>
            <a:r>
              <a:rPr lang="en-US" sz="1420" b="1" dirty="0">
                <a:solidFill>
                  <a:srgbClr val="F5F7F8"/>
                </a:solidFill>
                <a:latin typeface="Aptos Display" pitchFamily="34" charset="0"/>
                <a:ea typeface="Aptos Display" pitchFamily="34" charset="-122"/>
                <a:cs typeface="Aptos Display" pitchFamily="34" charset="-120"/>
              </a:rPr>
              <a:t>individuels</a:t>
            </a:r>
            <a:endParaRPr lang="en-US" sz="1420" dirty="0"/>
          </a:p>
        </p:txBody>
      </p:sp>
      <p:sp>
        <p:nvSpPr>
          <p:cNvPr id="28" name="Text 26"/>
          <p:cNvSpPr/>
          <p:nvPr/>
        </p:nvSpPr>
        <p:spPr>
          <a:xfrm>
            <a:off x="969264" y="5047488"/>
            <a:ext cx="1645920" cy="164592"/>
          </a:xfrm>
          <a:prstGeom prst="rect">
            <a:avLst/>
          </a:prstGeom>
          <a:noFill/>
          <a:ln/>
        </p:spPr>
        <p:txBody>
          <a:bodyPr wrap="square" lIns="0" tIns="0" rIns="0" bIns="0" rtlCol="0" anchor="ctr">
            <a:normAutofit/>
          </a:bodyPr>
          <a:lstStyle/>
          <a:p>
            <a:pPr algn="ctr" indent="0" marL="0">
              <a:buNone/>
            </a:pPr>
            <a:r>
              <a:rPr lang="en-US" sz="880" dirty="0">
                <a:solidFill>
                  <a:srgbClr val="9EADB8"/>
                </a:solidFill>
                <a:latin typeface="Aptos" pitchFamily="34" charset="0"/>
                <a:ea typeface="Aptos" pitchFamily="34" charset="-122"/>
                <a:cs typeface="Aptos" pitchFamily="34" charset="-120"/>
              </a:rPr>
              <a:t>aider ponctuellement</a:t>
            </a:r>
            <a:endParaRPr lang="en-US" sz="880" dirty="0"/>
          </a:p>
        </p:txBody>
      </p:sp>
      <p:sp>
        <p:nvSpPr>
          <p:cNvPr id="29" name="Shape 27"/>
          <p:cNvSpPr/>
          <p:nvPr/>
        </p:nvSpPr>
        <p:spPr>
          <a:xfrm>
            <a:off x="2999232" y="3712464"/>
            <a:ext cx="2304288" cy="1444752"/>
          </a:xfrm>
          <a:prstGeom prst="rect">
            <a:avLst/>
          </a:prstGeom>
          <a:solidFill>
            <a:srgbClr val="1B2A35"/>
          </a:solidFill>
          <a:ln w="12700">
            <a:solidFill>
              <a:srgbClr val="4E9DFF"/>
            </a:solidFill>
            <a:prstDash val="solid"/>
          </a:ln>
        </p:spPr>
      </p:sp>
      <p:sp>
        <p:nvSpPr>
          <p:cNvPr id="30" name="Text 28"/>
          <p:cNvSpPr/>
          <p:nvPr/>
        </p:nvSpPr>
        <p:spPr>
          <a:xfrm>
            <a:off x="3273552" y="3950208"/>
            <a:ext cx="274320" cy="164592"/>
          </a:xfrm>
          <a:prstGeom prst="rect">
            <a:avLst/>
          </a:prstGeom>
          <a:noFill/>
          <a:ln/>
        </p:spPr>
        <p:txBody>
          <a:bodyPr wrap="square" lIns="0" tIns="0" rIns="0" bIns="0" rtlCol="0" anchor="ctr">
            <a:normAutofit/>
          </a:bodyPr>
          <a:lstStyle/>
          <a:p>
            <a:pPr algn="l" indent="0" marL="0">
              <a:buNone/>
            </a:pPr>
            <a:r>
              <a:rPr lang="en-US" sz="800" b="1" spc="20" kern="0" dirty="0">
                <a:solidFill>
                  <a:srgbClr val="4E9DFF"/>
                </a:solidFill>
                <a:latin typeface="Aptos Mono" pitchFamily="34" charset="0"/>
                <a:ea typeface="Aptos Mono" pitchFamily="34" charset="-122"/>
                <a:cs typeface="Aptos Mono" pitchFamily="34" charset="-120"/>
              </a:rPr>
              <a:t>02</a:t>
            </a:r>
            <a:endParaRPr lang="en-US" sz="800" dirty="0"/>
          </a:p>
        </p:txBody>
      </p:sp>
      <p:sp>
        <p:nvSpPr>
          <p:cNvPr id="31" name="Text 29"/>
          <p:cNvSpPr/>
          <p:nvPr/>
        </p:nvSpPr>
        <p:spPr>
          <a:xfrm>
            <a:off x="3694176" y="3858768"/>
            <a:ext cx="1280160" cy="420624"/>
          </a:xfrm>
          <a:prstGeom prst="rect">
            <a:avLst/>
          </a:prstGeom>
          <a:noFill/>
          <a:ln/>
        </p:spPr>
        <p:txBody>
          <a:bodyPr wrap="square" lIns="0" tIns="0" rIns="0" bIns="0" rtlCol="0" anchor="t">
            <a:normAutofit/>
          </a:bodyPr>
          <a:lstStyle/>
          <a:p>
            <a:pPr algn="l" indent="0" marL="0">
              <a:buNone/>
            </a:pPr>
            <a:r>
              <a:rPr lang="en-US" sz="1420" b="1" dirty="0">
                <a:solidFill>
                  <a:srgbClr val="F5F7F8"/>
                </a:solidFill>
                <a:latin typeface="Aptos Display" pitchFamily="34" charset="0"/>
                <a:ea typeface="Aptos Display" pitchFamily="34" charset="-122"/>
                <a:cs typeface="Aptos Display" pitchFamily="34" charset="-120"/>
              </a:rPr>
              <a:t>Pratiques</a:t>
            </a:r>
            <a:endParaRPr lang="en-US" sz="1420" dirty="0"/>
          </a:p>
          <a:p>
            <a:pPr algn="l" indent="0" marL="0">
              <a:buNone/>
            </a:pPr>
            <a:r>
              <a:rPr lang="en-US" sz="1420" b="1" dirty="0">
                <a:solidFill>
                  <a:srgbClr val="F5F7F8"/>
                </a:solidFill>
                <a:latin typeface="Aptos Display" pitchFamily="34" charset="0"/>
                <a:ea typeface="Aptos Display" pitchFamily="34" charset="-122"/>
                <a:cs typeface="Aptos Display" pitchFamily="34" charset="-120"/>
              </a:rPr>
              <a:t>standardisées</a:t>
            </a:r>
            <a:endParaRPr lang="en-US" sz="1420" dirty="0"/>
          </a:p>
        </p:txBody>
      </p:sp>
      <p:sp>
        <p:nvSpPr>
          <p:cNvPr id="32" name="Text 30"/>
          <p:cNvSpPr/>
          <p:nvPr/>
        </p:nvSpPr>
        <p:spPr>
          <a:xfrm>
            <a:off x="3273552" y="4626864"/>
            <a:ext cx="1755648" cy="164592"/>
          </a:xfrm>
          <a:prstGeom prst="rect">
            <a:avLst/>
          </a:prstGeom>
          <a:noFill/>
          <a:ln/>
        </p:spPr>
        <p:txBody>
          <a:bodyPr wrap="square" lIns="0" tIns="0" rIns="0" bIns="0" rtlCol="0" anchor="ctr">
            <a:normAutofit/>
          </a:bodyPr>
          <a:lstStyle/>
          <a:p>
            <a:pPr algn="ctr" indent="0" marL="0">
              <a:buNone/>
            </a:pPr>
            <a:r>
              <a:rPr lang="en-US" sz="880" dirty="0">
                <a:solidFill>
                  <a:srgbClr val="9EADB8"/>
                </a:solidFill>
                <a:latin typeface="Aptos" pitchFamily="34" charset="0"/>
                <a:ea typeface="Aptos" pitchFamily="34" charset="-122"/>
                <a:cs typeface="Aptos" pitchFamily="34" charset="-120"/>
              </a:rPr>
              <a:t>réduire la variabilité</a:t>
            </a:r>
            <a:endParaRPr lang="en-US" sz="880" dirty="0"/>
          </a:p>
        </p:txBody>
      </p:sp>
      <p:sp>
        <p:nvSpPr>
          <p:cNvPr id="33" name="Shape 31"/>
          <p:cNvSpPr/>
          <p:nvPr/>
        </p:nvSpPr>
        <p:spPr>
          <a:xfrm>
            <a:off x="5468112" y="2944368"/>
            <a:ext cx="2359152" cy="2212848"/>
          </a:xfrm>
          <a:prstGeom prst="rect">
            <a:avLst/>
          </a:prstGeom>
          <a:solidFill>
            <a:srgbClr val="1B2A35"/>
          </a:solidFill>
          <a:ln w="12700">
            <a:solidFill>
              <a:srgbClr val="68D6E8"/>
            </a:solidFill>
            <a:prstDash val="solid"/>
          </a:ln>
        </p:spPr>
      </p:sp>
      <p:sp>
        <p:nvSpPr>
          <p:cNvPr id="34" name="Text 32"/>
          <p:cNvSpPr/>
          <p:nvPr/>
        </p:nvSpPr>
        <p:spPr>
          <a:xfrm>
            <a:off x="5760720" y="3200400"/>
            <a:ext cx="274320" cy="164592"/>
          </a:xfrm>
          <a:prstGeom prst="rect">
            <a:avLst/>
          </a:prstGeom>
          <a:noFill/>
          <a:ln/>
        </p:spPr>
        <p:txBody>
          <a:bodyPr wrap="square" lIns="0" tIns="0" rIns="0" bIns="0" rtlCol="0" anchor="ctr">
            <a:normAutofit/>
          </a:bodyPr>
          <a:lstStyle/>
          <a:p>
            <a:pPr algn="l" indent="0" marL="0">
              <a:buNone/>
            </a:pPr>
            <a:r>
              <a:rPr lang="en-US" sz="800" b="1" spc="20" kern="0" dirty="0">
                <a:solidFill>
                  <a:srgbClr val="68D6E8"/>
                </a:solidFill>
                <a:latin typeface="Aptos Mono" pitchFamily="34" charset="0"/>
                <a:ea typeface="Aptos Mono" pitchFamily="34" charset="-122"/>
                <a:cs typeface="Aptos Mono" pitchFamily="34" charset="-120"/>
              </a:rPr>
              <a:t>03</a:t>
            </a:r>
            <a:endParaRPr lang="en-US" sz="800" dirty="0"/>
          </a:p>
        </p:txBody>
      </p:sp>
      <p:sp>
        <p:nvSpPr>
          <p:cNvPr id="35" name="Text 33"/>
          <p:cNvSpPr/>
          <p:nvPr/>
        </p:nvSpPr>
        <p:spPr>
          <a:xfrm>
            <a:off x="6181344" y="3108960"/>
            <a:ext cx="1298448" cy="420624"/>
          </a:xfrm>
          <a:prstGeom prst="rect">
            <a:avLst/>
          </a:prstGeom>
          <a:noFill/>
          <a:ln/>
        </p:spPr>
        <p:txBody>
          <a:bodyPr wrap="square" lIns="0" tIns="0" rIns="0" bIns="0" rtlCol="0" anchor="t">
            <a:normAutofit/>
          </a:bodyPr>
          <a:lstStyle/>
          <a:p>
            <a:pPr algn="l" indent="0" marL="0">
              <a:buNone/>
            </a:pPr>
            <a:r>
              <a:rPr lang="en-US" sz="1420" b="1" dirty="0">
                <a:solidFill>
                  <a:srgbClr val="F5F7F8"/>
                </a:solidFill>
                <a:latin typeface="Aptos Display" pitchFamily="34" charset="0"/>
                <a:ea typeface="Aptos Display" pitchFamily="34" charset="-122"/>
                <a:cs typeface="Aptos Display" pitchFamily="34" charset="-120"/>
              </a:rPr>
              <a:t>Parcours</a:t>
            </a:r>
            <a:endParaRPr lang="en-US" sz="1420" dirty="0"/>
          </a:p>
          <a:p>
            <a:pPr algn="l" indent="0" marL="0">
              <a:buNone/>
            </a:pPr>
            <a:r>
              <a:rPr lang="en-US" sz="1420" b="1" dirty="0">
                <a:solidFill>
                  <a:srgbClr val="F5F7F8"/>
                </a:solidFill>
                <a:latin typeface="Aptos Display" pitchFamily="34" charset="0"/>
                <a:ea typeface="Aptos Display" pitchFamily="34" charset="-122"/>
                <a:cs typeface="Aptos Display" pitchFamily="34" charset="-120"/>
              </a:rPr>
              <a:t>réutilisable</a:t>
            </a:r>
            <a:endParaRPr lang="en-US" sz="1420" dirty="0"/>
          </a:p>
        </p:txBody>
      </p:sp>
      <p:sp>
        <p:nvSpPr>
          <p:cNvPr id="36" name="Text 34"/>
          <p:cNvSpPr/>
          <p:nvPr/>
        </p:nvSpPr>
        <p:spPr>
          <a:xfrm>
            <a:off x="5760720" y="4041648"/>
            <a:ext cx="1755648" cy="164592"/>
          </a:xfrm>
          <a:prstGeom prst="rect">
            <a:avLst/>
          </a:prstGeom>
          <a:noFill/>
          <a:ln/>
        </p:spPr>
        <p:txBody>
          <a:bodyPr wrap="square" lIns="0" tIns="0" rIns="0" bIns="0" rtlCol="0" anchor="ctr">
            <a:normAutofit/>
          </a:bodyPr>
          <a:lstStyle/>
          <a:p>
            <a:pPr algn="ctr" indent="0" marL="0">
              <a:buNone/>
            </a:pPr>
            <a:r>
              <a:rPr lang="en-US" sz="880" dirty="0">
                <a:solidFill>
                  <a:srgbClr val="9EADB8"/>
                </a:solidFill>
                <a:latin typeface="Aptos" pitchFamily="34" charset="0"/>
                <a:ea typeface="Aptos" pitchFamily="34" charset="-122"/>
                <a:cs typeface="Aptos" pitchFamily="34" charset="-120"/>
              </a:rPr>
              <a:t>état · gate · preuve</a:t>
            </a:r>
            <a:endParaRPr lang="en-US" sz="880" dirty="0"/>
          </a:p>
        </p:txBody>
      </p:sp>
      <p:sp>
        <p:nvSpPr>
          <p:cNvPr id="37" name="Shape 35"/>
          <p:cNvSpPr/>
          <p:nvPr/>
        </p:nvSpPr>
        <p:spPr>
          <a:xfrm>
            <a:off x="2889504" y="4754880"/>
            <a:ext cx="73152" cy="0"/>
          </a:xfrm>
          <a:prstGeom prst="line">
            <a:avLst/>
          </a:prstGeom>
          <a:noFill/>
          <a:ln w="13970">
            <a:solidFill>
              <a:srgbClr val="6C7F89"/>
            </a:solidFill>
            <a:prstDash val="solid"/>
            <a:tailEnd type="triangle"/>
          </a:ln>
        </p:spPr>
      </p:sp>
      <p:sp>
        <p:nvSpPr>
          <p:cNvPr id="38" name="Shape 36"/>
          <p:cNvSpPr/>
          <p:nvPr/>
        </p:nvSpPr>
        <p:spPr>
          <a:xfrm>
            <a:off x="5321808" y="4224528"/>
            <a:ext cx="91440" cy="0"/>
          </a:xfrm>
          <a:prstGeom prst="line">
            <a:avLst/>
          </a:prstGeom>
          <a:noFill/>
          <a:ln w="13970">
            <a:solidFill>
              <a:srgbClr val="6C7F89"/>
            </a:solidFill>
            <a:prstDash val="solid"/>
            <a:tailEnd type="triangle"/>
          </a:ln>
        </p:spPr>
      </p:sp>
      <p:sp>
        <p:nvSpPr>
          <p:cNvPr id="39" name="Shape 37"/>
          <p:cNvSpPr/>
          <p:nvPr/>
        </p:nvSpPr>
        <p:spPr>
          <a:xfrm>
            <a:off x="8101584" y="2542032"/>
            <a:ext cx="3218688" cy="2633472"/>
          </a:xfrm>
          <a:prstGeom prst="rect">
            <a:avLst/>
          </a:prstGeom>
          <a:solidFill>
            <a:srgbClr val="131D26"/>
          </a:solidFill>
          <a:ln w="15240">
            <a:solidFill>
              <a:srgbClr val="68D6E8"/>
            </a:solidFill>
            <a:prstDash val="solid"/>
          </a:ln>
        </p:spPr>
      </p:sp>
      <p:sp>
        <p:nvSpPr>
          <p:cNvPr id="40" name="Text 38"/>
          <p:cNvSpPr/>
          <p:nvPr/>
        </p:nvSpPr>
        <p:spPr>
          <a:xfrm>
            <a:off x="8412480" y="2852928"/>
            <a:ext cx="2414016" cy="164592"/>
          </a:xfrm>
          <a:prstGeom prst="rect">
            <a:avLst/>
          </a:prstGeom>
          <a:noFill/>
          <a:ln/>
        </p:spPr>
        <p:txBody>
          <a:bodyPr wrap="square" lIns="0" tIns="0" rIns="0" bIns="0" rtlCol="0" anchor="ctr">
            <a:normAutofit/>
          </a:bodyPr>
          <a:lstStyle/>
          <a:p>
            <a:pPr algn="l" indent="0" marL="0">
              <a:buNone/>
            </a:pPr>
            <a:r>
              <a:rPr lang="en-US" sz="850" b="1" spc="100" kern="0" dirty="0">
                <a:solidFill>
                  <a:srgbClr val="68D6E8"/>
                </a:solidFill>
                <a:latin typeface="Aptos Mono" pitchFamily="34" charset="0"/>
                <a:ea typeface="Aptos Mono" pitchFamily="34" charset="-122"/>
                <a:cs typeface="Aptos Mono" pitchFamily="34" charset="-120"/>
              </a:rPr>
              <a:t>MIGRATION FACTORY</a:t>
            </a:r>
            <a:endParaRPr lang="en-US" sz="850" dirty="0"/>
          </a:p>
        </p:txBody>
      </p:sp>
      <p:sp>
        <p:nvSpPr>
          <p:cNvPr id="41" name="Text 39"/>
          <p:cNvSpPr/>
          <p:nvPr/>
        </p:nvSpPr>
        <p:spPr>
          <a:xfrm>
            <a:off x="8412480" y="3218688"/>
            <a:ext cx="2249424" cy="548640"/>
          </a:xfrm>
          <a:prstGeom prst="rect">
            <a:avLst/>
          </a:prstGeom>
          <a:noFill/>
          <a:ln/>
        </p:spPr>
        <p:txBody>
          <a:bodyPr wrap="square" lIns="0" tIns="0" rIns="0" bIns="0" rtlCol="0" anchor="t">
            <a:normAutofit/>
          </a:bodyPr>
          <a:lstStyle/>
          <a:p>
            <a:pPr algn="l" indent="0" marL="0">
              <a:buNone/>
            </a:pPr>
            <a:r>
              <a:rPr lang="en-US" sz="2300" b="1" dirty="0">
                <a:solidFill>
                  <a:srgbClr val="F5F7F8"/>
                </a:solidFill>
                <a:latin typeface="Aptos Display" pitchFamily="34" charset="0"/>
                <a:ea typeface="Aptos Display" pitchFamily="34" charset="-122"/>
                <a:cs typeface="Aptos Display" pitchFamily="34" charset="-120"/>
              </a:rPr>
              <a:t>industrialiser</a:t>
            </a:r>
            <a:endParaRPr lang="en-US" sz="2300" dirty="0"/>
          </a:p>
          <a:p>
            <a:pPr algn="l" indent="0" marL="0">
              <a:buNone/>
            </a:pPr>
            <a:r>
              <a:rPr lang="en-US" sz="2300" b="1" dirty="0">
                <a:solidFill>
                  <a:srgbClr val="F5F7F8"/>
                </a:solidFill>
                <a:latin typeface="Aptos Display" pitchFamily="34" charset="0"/>
                <a:ea typeface="Aptos Display" pitchFamily="34" charset="-122"/>
                <a:cs typeface="Aptos Display" pitchFamily="34" charset="-120"/>
              </a:rPr>
              <a:t>sous contrôle</a:t>
            </a:r>
            <a:endParaRPr lang="en-US" sz="2300" dirty="0"/>
          </a:p>
        </p:txBody>
      </p:sp>
      <p:sp>
        <p:nvSpPr>
          <p:cNvPr id="42" name="Shape 40"/>
          <p:cNvSpPr/>
          <p:nvPr/>
        </p:nvSpPr>
        <p:spPr>
          <a:xfrm>
            <a:off x="8412480" y="4078224"/>
            <a:ext cx="2148840" cy="0"/>
          </a:xfrm>
          <a:prstGeom prst="line">
            <a:avLst/>
          </a:prstGeom>
          <a:noFill/>
          <a:ln w="22860">
            <a:solidFill>
              <a:srgbClr val="68D6E8"/>
            </a:solidFill>
            <a:prstDash val="solid"/>
          </a:ln>
        </p:spPr>
      </p:sp>
      <p:sp>
        <p:nvSpPr>
          <p:cNvPr id="43" name="Text 41"/>
          <p:cNvSpPr/>
          <p:nvPr/>
        </p:nvSpPr>
        <p:spPr>
          <a:xfrm>
            <a:off x="8412480" y="4297680"/>
            <a:ext cx="2395728" cy="585216"/>
          </a:xfrm>
          <a:prstGeom prst="rect">
            <a:avLst/>
          </a:prstGeom>
          <a:noFill/>
          <a:ln/>
        </p:spPr>
        <p:txBody>
          <a:bodyPr wrap="square" lIns="0" tIns="0" rIns="0" bIns="0" rtlCol="0" anchor="t">
            <a:normAutofit/>
          </a:bodyPr>
          <a:lstStyle/>
          <a:p>
            <a:pPr algn="l" indent="0" marL="0">
              <a:buNone/>
            </a:pPr>
            <a:r>
              <a:rPr lang="en-US" sz="1100" b="1" dirty="0">
                <a:solidFill>
                  <a:srgbClr val="9EADB8"/>
                </a:solidFill>
                <a:latin typeface="Aptos Mono" pitchFamily="34" charset="0"/>
                <a:ea typeface="Aptos Mono" pitchFamily="34" charset="-122"/>
                <a:cs typeface="Aptos Mono" pitchFamily="34" charset="-120"/>
              </a:rPr>
              <a:t>agents proposent</a:t>
            </a:r>
            <a:endParaRPr lang="en-US" sz="1100" dirty="0"/>
          </a:p>
          <a:p>
            <a:pPr algn="l" indent="0" marL="0">
              <a:buNone/>
            </a:pPr>
            <a:r>
              <a:rPr lang="en-US" sz="1100" b="1" dirty="0">
                <a:solidFill>
                  <a:srgbClr val="9EADB8"/>
                </a:solidFill>
                <a:latin typeface="Aptos Mono" pitchFamily="34" charset="0"/>
                <a:ea typeface="Aptos Mono" pitchFamily="34" charset="-122"/>
                <a:cs typeface="Aptos Mono" pitchFamily="34" charset="-120"/>
              </a:rPr>
              <a:t>services vérifient</a:t>
            </a:r>
            <a:endParaRPr lang="en-US" sz="1100" dirty="0"/>
          </a:p>
          <a:p>
            <a:pPr algn="l" indent="0" marL="0">
              <a:buNone/>
            </a:pPr>
            <a:r>
              <a:rPr lang="en-US" sz="1100" b="1" dirty="0">
                <a:solidFill>
                  <a:srgbClr val="9EADB8"/>
                </a:solidFill>
                <a:latin typeface="Aptos Mono" pitchFamily="34" charset="0"/>
                <a:ea typeface="Aptos Mono" pitchFamily="34" charset="-122"/>
                <a:cs typeface="Aptos Mono" pitchFamily="34" charset="-120"/>
              </a:rPr>
              <a:t>humain décide</a:t>
            </a:r>
            <a:endParaRPr lang="en-US" sz="1100" dirty="0"/>
          </a:p>
        </p:txBody>
      </p:sp>
      <p:sp>
        <p:nvSpPr>
          <p:cNvPr id="44" name="Shape 42"/>
          <p:cNvSpPr/>
          <p:nvPr/>
        </p:nvSpPr>
        <p:spPr>
          <a:xfrm>
            <a:off x="749808" y="5596128"/>
            <a:ext cx="10552176" cy="0"/>
          </a:xfrm>
          <a:prstGeom prst="line">
            <a:avLst/>
          </a:prstGeom>
          <a:noFill/>
          <a:ln w="10160">
            <a:solidFill>
              <a:srgbClr val="344653"/>
            </a:solidFill>
            <a:prstDash val="solid"/>
          </a:ln>
        </p:spPr>
      </p:sp>
      <p:sp>
        <p:nvSpPr>
          <p:cNvPr id="45" name="Text 43"/>
          <p:cNvSpPr/>
          <p:nvPr/>
        </p:nvSpPr>
        <p:spPr>
          <a:xfrm>
            <a:off x="749808" y="5815584"/>
            <a:ext cx="1170432" cy="164592"/>
          </a:xfrm>
          <a:prstGeom prst="rect">
            <a:avLst/>
          </a:prstGeom>
          <a:noFill/>
          <a:ln/>
        </p:spPr>
        <p:txBody>
          <a:bodyPr wrap="square" lIns="0" tIns="0" rIns="0" bIns="0" rtlCol="0" anchor="ctr">
            <a:normAutofit/>
          </a:bodyPr>
          <a:lstStyle/>
          <a:p>
            <a:pPr algn="l" indent="0" marL="0">
              <a:buNone/>
            </a:pPr>
            <a:r>
              <a:rPr lang="en-US" sz="780" b="1" spc="90" kern="0" dirty="0">
                <a:solidFill>
                  <a:srgbClr val="41D3AE"/>
                </a:solidFill>
                <a:latin typeface="Aptos Mono" pitchFamily="34" charset="0"/>
                <a:ea typeface="Aptos Mono" pitchFamily="34" charset="-122"/>
                <a:cs typeface="Aptos Mono" pitchFamily="34" charset="-120"/>
              </a:rPr>
              <a:t>DÉMONTRÉ</a:t>
            </a:r>
            <a:endParaRPr lang="en-US" sz="780" dirty="0"/>
          </a:p>
        </p:txBody>
      </p:sp>
      <p:sp>
        <p:nvSpPr>
          <p:cNvPr id="46" name="Text 44"/>
          <p:cNvSpPr/>
          <p:nvPr/>
        </p:nvSpPr>
        <p:spPr>
          <a:xfrm>
            <a:off x="2084832" y="5779008"/>
            <a:ext cx="3127248" cy="201168"/>
          </a:xfrm>
          <a:prstGeom prst="rect">
            <a:avLst/>
          </a:prstGeom>
          <a:noFill/>
          <a:ln/>
        </p:spPr>
        <p:txBody>
          <a:bodyPr wrap="square" lIns="0" tIns="0" rIns="0" bIns="0" rtlCol="0" anchor="ctr">
            <a:normAutofit/>
          </a:bodyPr>
          <a:lstStyle/>
          <a:p>
            <a:pPr algn="l" indent="0" marL="0">
              <a:buNone/>
            </a:pPr>
            <a:r>
              <a:rPr lang="en-US" sz="1040" b="1" dirty="0">
                <a:solidFill>
                  <a:srgbClr val="F5F7F8"/>
                </a:solidFill>
                <a:latin typeface="Aptos Display" pitchFamily="34" charset="0"/>
                <a:ea typeface="Aptos Display" pitchFamily="34" charset="-122"/>
                <a:cs typeface="Aptos Display" pitchFamily="34" charset="-120"/>
              </a:rPr>
              <a:t>Java / Spring Boot   ·   Angular</a:t>
            </a:r>
            <a:endParaRPr lang="en-US" sz="1040" dirty="0"/>
          </a:p>
        </p:txBody>
      </p:sp>
      <p:sp>
        <p:nvSpPr>
          <p:cNvPr id="47" name="Text 45"/>
          <p:cNvSpPr/>
          <p:nvPr/>
        </p:nvSpPr>
        <p:spPr>
          <a:xfrm>
            <a:off x="5998464" y="5815584"/>
            <a:ext cx="1261872" cy="164592"/>
          </a:xfrm>
          <a:prstGeom prst="rect">
            <a:avLst/>
          </a:prstGeom>
          <a:noFill/>
          <a:ln/>
        </p:spPr>
        <p:txBody>
          <a:bodyPr wrap="square" lIns="0" tIns="0" rIns="0" bIns="0" rtlCol="0" anchor="ctr">
            <a:normAutofit/>
          </a:bodyPr>
          <a:lstStyle/>
          <a:p>
            <a:pPr algn="l" indent="0" marL="0">
              <a:buNone/>
            </a:pPr>
            <a:r>
              <a:rPr lang="en-US" sz="780" b="1" spc="90" kern="0" dirty="0">
                <a:solidFill>
                  <a:srgbClr val="6C7F89"/>
                </a:solidFill>
                <a:latin typeface="Aptos Mono" pitchFamily="34" charset="0"/>
                <a:ea typeface="Aptos Mono" pitchFamily="34" charset="-122"/>
                <a:cs typeface="Aptos Mono" pitchFamily="34" charset="-120"/>
              </a:rPr>
              <a:t>VISION CIBLE</a:t>
            </a:r>
            <a:endParaRPr lang="en-US" sz="780" dirty="0"/>
          </a:p>
        </p:txBody>
      </p:sp>
      <p:sp>
        <p:nvSpPr>
          <p:cNvPr id="48" name="Text 46"/>
          <p:cNvSpPr/>
          <p:nvPr/>
        </p:nvSpPr>
        <p:spPr>
          <a:xfrm>
            <a:off x="7424928" y="5779008"/>
            <a:ext cx="3858768" cy="201168"/>
          </a:xfrm>
          <a:prstGeom prst="rect">
            <a:avLst/>
          </a:prstGeom>
          <a:noFill/>
          <a:ln/>
        </p:spPr>
        <p:txBody>
          <a:bodyPr wrap="square" lIns="0" tIns="0" rIns="0" bIns="0" rtlCol="0" anchor="ctr">
            <a:normAutofit/>
          </a:bodyPr>
          <a:lstStyle/>
          <a:p>
            <a:pPr algn="r" indent="0" marL="0">
              <a:buNone/>
            </a:pPr>
            <a:r>
              <a:rPr lang="en-US" sz="920" dirty="0">
                <a:solidFill>
                  <a:srgbClr val="9EADB8"/>
                </a:solidFill>
                <a:latin typeface="Aptos Mono" pitchFamily="34" charset="0"/>
                <a:ea typeface="Aptos Mono" pitchFamily="34" charset="-122"/>
                <a:cs typeface="Aptos Mono" pitchFamily="34" charset="-120"/>
              </a:rPr>
              <a:t>.NET · PHP · Python · React · cloud · refactoring</a:t>
            </a:r>
            <a:endParaRPr lang="en-US" sz="9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117"/>
        </a:solidFill>
      </p:bgPr>
    </p:bg>
    <p:spTree>
      <p:nvGrpSpPr>
        <p:cNvPr id="1" name=""/>
        <p:cNvGrpSpPr/>
        <p:nvPr/>
      </p:nvGrpSpPr>
      <p:grpSpPr>
        <a:xfrm>
          <a:off x="0" y="0"/>
          <a:ext cx="0" cy="0"/>
          <a:chOff x="0" y="0"/>
          <a:chExt cx="0" cy="0"/>
        </a:xfrm>
      </p:grpSpPr>
      <p:sp>
        <p:nvSpPr>
          <p:cNvPr id="2" name="Shape 0"/>
          <p:cNvSpPr/>
          <p:nvPr/>
        </p:nvSpPr>
        <p:spPr>
          <a:xfrm>
            <a:off x="676656" y="411480"/>
            <a:ext cx="10735056" cy="0"/>
          </a:xfrm>
          <a:prstGeom prst="line">
            <a:avLst/>
          </a:prstGeom>
          <a:noFill/>
          <a:ln w="10160">
            <a:solidFill>
              <a:srgbClr val="344653">
                <a:alpha val="85000"/>
              </a:srgbClr>
            </a:solidFill>
            <a:prstDash val="solid"/>
          </a:ln>
        </p:spPr>
      </p:sp>
      <p:sp>
        <p:nvSpPr>
          <p:cNvPr id="3" name="Shape 1"/>
          <p:cNvSpPr/>
          <p:nvPr/>
        </p:nvSpPr>
        <p:spPr>
          <a:xfrm>
            <a:off x="658368" y="356616"/>
            <a:ext cx="73152" cy="73152"/>
          </a:xfrm>
          <a:prstGeom prst="ellipse">
            <a:avLst/>
          </a:prstGeom>
          <a:solidFill>
            <a:srgbClr val="41D3AE"/>
          </a:solidFill>
          <a:ln w="12700">
            <a:solidFill>
              <a:srgbClr val="41D3AE">
                <a:alpha val="0"/>
              </a:srgbClr>
            </a:solidFill>
            <a:prstDash val="solid"/>
          </a:ln>
        </p:spPr>
      </p:sp>
      <p:sp>
        <p:nvSpPr>
          <p:cNvPr id="4" name="Text 2"/>
          <p:cNvSpPr/>
          <p:nvPr/>
        </p:nvSpPr>
        <p:spPr>
          <a:xfrm>
            <a:off x="822960" y="201168"/>
            <a:ext cx="1207008" cy="164592"/>
          </a:xfrm>
          <a:prstGeom prst="rect">
            <a:avLst/>
          </a:prstGeom>
          <a:noFill/>
          <a:ln/>
        </p:spPr>
        <p:txBody>
          <a:bodyPr wrap="square" lIns="0" tIns="0" rIns="0" bIns="0" rtlCol="0" anchor="ctr">
            <a:normAutofit/>
          </a:bodyPr>
          <a:lstStyle/>
          <a:p>
            <a:pPr algn="l" indent="0" marL="0">
              <a:buNone/>
            </a:pPr>
            <a:r>
              <a:rPr lang="en-US" sz="760" b="1" dirty="0">
                <a:solidFill>
                  <a:srgbClr val="9EADB8"/>
                </a:solidFill>
                <a:latin typeface="Aptos" pitchFamily="34" charset="0"/>
                <a:ea typeface="Aptos" pitchFamily="34" charset="-122"/>
                <a:cs typeface="Aptos" pitchFamily="34" charset="-120"/>
              </a:rPr>
              <a:t>Contexte</a:t>
            </a:r>
            <a:endParaRPr lang="en-US" sz="760" dirty="0"/>
          </a:p>
        </p:txBody>
      </p:sp>
      <p:sp>
        <p:nvSpPr>
          <p:cNvPr id="5" name="Shape 3"/>
          <p:cNvSpPr/>
          <p:nvPr/>
        </p:nvSpPr>
        <p:spPr>
          <a:xfrm>
            <a:off x="2130552" y="356616"/>
            <a:ext cx="73152" cy="73152"/>
          </a:xfrm>
          <a:prstGeom prst="ellipse">
            <a:avLst/>
          </a:prstGeom>
          <a:solidFill>
            <a:srgbClr val="41D3AE"/>
          </a:solidFill>
          <a:ln w="12700">
            <a:solidFill>
              <a:srgbClr val="41D3AE">
                <a:alpha val="0"/>
              </a:srgbClr>
            </a:solidFill>
            <a:prstDash val="solid"/>
          </a:ln>
        </p:spPr>
      </p:sp>
      <p:sp>
        <p:nvSpPr>
          <p:cNvPr id="6" name="Text 4"/>
          <p:cNvSpPr/>
          <p:nvPr/>
        </p:nvSpPr>
        <p:spPr>
          <a:xfrm>
            <a:off x="2295144" y="201168"/>
            <a:ext cx="1207008" cy="164592"/>
          </a:xfrm>
          <a:prstGeom prst="rect">
            <a:avLst/>
          </a:prstGeom>
          <a:noFill/>
          <a:ln/>
        </p:spPr>
        <p:txBody>
          <a:bodyPr wrap="square" lIns="0" tIns="0" rIns="0" bIns="0" rtlCol="0" anchor="ctr">
            <a:normAutofit/>
          </a:bodyPr>
          <a:lstStyle/>
          <a:p>
            <a:pPr algn="l" indent="0" marL="0">
              <a:buNone/>
            </a:pPr>
            <a:r>
              <a:rPr lang="en-US" sz="760" b="1" dirty="0">
                <a:solidFill>
                  <a:srgbClr val="9EADB8"/>
                </a:solidFill>
                <a:latin typeface="Aptos" pitchFamily="34" charset="0"/>
                <a:ea typeface="Aptos" pitchFamily="34" charset="-122"/>
                <a:cs typeface="Aptos" pitchFamily="34" charset="-120"/>
              </a:rPr>
              <a:t>Solution</a:t>
            </a:r>
            <a:endParaRPr lang="en-US" sz="760" dirty="0"/>
          </a:p>
        </p:txBody>
      </p:sp>
      <p:sp>
        <p:nvSpPr>
          <p:cNvPr id="7" name="Shape 5"/>
          <p:cNvSpPr/>
          <p:nvPr/>
        </p:nvSpPr>
        <p:spPr>
          <a:xfrm>
            <a:off x="3493008" y="356616"/>
            <a:ext cx="109728" cy="109728"/>
          </a:xfrm>
          <a:prstGeom prst="ellipse">
            <a:avLst/>
          </a:prstGeom>
          <a:solidFill>
            <a:srgbClr val="68D6E8"/>
          </a:solidFill>
          <a:ln w="12700">
            <a:solidFill>
              <a:srgbClr val="68D6E8">
                <a:alpha val="0"/>
              </a:srgbClr>
            </a:solidFill>
            <a:prstDash val="solid"/>
          </a:ln>
        </p:spPr>
      </p:sp>
      <p:sp>
        <p:nvSpPr>
          <p:cNvPr id="8" name="Text 6"/>
          <p:cNvSpPr/>
          <p:nvPr/>
        </p:nvSpPr>
        <p:spPr>
          <a:xfrm>
            <a:off x="3657600" y="201168"/>
            <a:ext cx="1207008" cy="164592"/>
          </a:xfrm>
          <a:prstGeom prst="rect">
            <a:avLst/>
          </a:prstGeom>
          <a:noFill/>
          <a:ln/>
        </p:spPr>
        <p:txBody>
          <a:bodyPr wrap="square" lIns="0" tIns="0" rIns="0" bIns="0" rtlCol="0" anchor="ctr">
            <a:normAutofit/>
          </a:bodyPr>
          <a:lstStyle/>
          <a:p>
            <a:pPr algn="l" indent="0" marL="0">
              <a:buNone/>
            </a:pPr>
            <a:r>
              <a:rPr lang="en-US" sz="810" b="1" dirty="0">
                <a:solidFill>
                  <a:srgbClr val="68D6E8"/>
                </a:solidFill>
                <a:latin typeface="Aptos" pitchFamily="34" charset="0"/>
                <a:ea typeface="Aptos" pitchFamily="34" charset="-122"/>
                <a:cs typeface="Aptos" pitchFamily="34" charset="-120"/>
              </a:rPr>
              <a:t>Architecture</a:t>
            </a:r>
            <a:endParaRPr lang="en-US" sz="810" dirty="0"/>
          </a:p>
        </p:txBody>
      </p:sp>
      <p:sp>
        <p:nvSpPr>
          <p:cNvPr id="9" name="Shape 7"/>
          <p:cNvSpPr/>
          <p:nvPr/>
        </p:nvSpPr>
        <p:spPr>
          <a:xfrm>
            <a:off x="3639312" y="521208"/>
            <a:ext cx="731520" cy="0"/>
          </a:xfrm>
          <a:prstGeom prst="line">
            <a:avLst/>
          </a:prstGeom>
          <a:noFill/>
          <a:ln w="22860">
            <a:solidFill>
              <a:srgbClr val="68D6E8"/>
            </a:solidFill>
            <a:prstDash val="solid"/>
          </a:ln>
        </p:spPr>
      </p:sp>
      <p:sp>
        <p:nvSpPr>
          <p:cNvPr id="10" name="Shape 8"/>
          <p:cNvSpPr/>
          <p:nvPr/>
        </p:nvSpPr>
        <p:spPr>
          <a:xfrm>
            <a:off x="5001768" y="356616"/>
            <a:ext cx="73152" cy="73152"/>
          </a:xfrm>
          <a:prstGeom prst="ellipse">
            <a:avLst/>
          </a:prstGeom>
          <a:solidFill>
            <a:srgbClr val="344653">
              <a:alpha val="80000"/>
            </a:srgbClr>
          </a:solidFill>
          <a:ln w="12700">
            <a:solidFill>
              <a:srgbClr val="344653">
                <a:alpha val="0"/>
              </a:srgbClr>
            </a:solidFill>
            <a:prstDash val="solid"/>
          </a:ln>
        </p:spPr>
      </p:sp>
      <p:sp>
        <p:nvSpPr>
          <p:cNvPr id="11" name="Text 9"/>
          <p:cNvSpPr/>
          <p:nvPr/>
        </p:nvSpPr>
        <p:spPr>
          <a:xfrm>
            <a:off x="5166360" y="201168"/>
            <a:ext cx="1097280" cy="164592"/>
          </a:xfrm>
          <a:prstGeom prst="rect">
            <a:avLst/>
          </a:prstGeom>
          <a:noFill/>
          <a:ln/>
        </p:spPr>
        <p:txBody>
          <a:bodyPr wrap="square" lIns="0" tIns="0" rIns="0" bIns="0" rtlCol="0" anchor="ctr">
            <a:normAutofit/>
          </a:bodyPr>
          <a:lstStyle/>
          <a:p>
            <a:pPr algn="l" indent="0" marL="0">
              <a:buNone/>
            </a:pPr>
            <a:r>
              <a:rPr lang="en-US" sz="760" dirty="0">
                <a:solidFill>
                  <a:srgbClr val="9EADB8"/>
                </a:solidFill>
                <a:latin typeface="Aptos" pitchFamily="34" charset="0"/>
                <a:ea typeface="Aptos" pitchFamily="34" charset="-122"/>
                <a:cs typeface="Aptos" pitchFamily="34" charset="-120"/>
              </a:rPr>
              <a:t>Réalisation</a:t>
            </a:r>
            <a:endParaRPr lang="en-US" sz="760" dirty="0"/>
          </a:p>
        </p:txBody>
      </p:sp>
      <p:sp>
        <p:nvSpPr>
          <p:cNvPr id="12" name="Shape 10"/>
          <p:cNvSpPr/>
          <p:nvPr/>
        </p:nvSpPr>
        <p:spPr>
          <a:xfrm>
            <a:off x="6583680" y="356616"/>
            <a:ext cx="73152" cy="73152"/>
          </a:xfrm>
          <a:prstGeom prst="ellipse">
            <a:avLst/>
          </a:prstGeom>
          <a:solidFill>
            <a:srgbClr val="344653">
              <a:alpha val="80000"/>
            </a:srgbClr>
          </a:solidFill>
          <a:ln w="12700">
            <a:solidFill>
              <a:srgbClr val="344653">
                <a:alpha val="0"/>
              </a:srgbClr>
            </a:solidFill>
            <a:prstDash val="solid"/>
          </a:ln>
        </p:spPr>
      </p:sp>
      <p:sp>
        <p:nvSpPr>
          <p:cNvPr id="13" name="Text 11"/>
          <p:cNvSpPr/>
          <p:nvPr/>
        </p:nvSpPr>
        <p:spPr>
          <a:xfrm>
            <a:off x="6748272" y="201168"/>
            <a:ext cx="1207008" cy="164592"/>
          </a:xfrm>
          <a:prstGeom prst="rect">
            <a:avLst/>
          </a:prstGeom>
          <a:noFill/>
          <a:ln/>
        </p:spPr>
        <p:txBody>
          <a:bodyPr wrap="square" lIns="0" tIns="0" rIns="0" bIns="0" rtlCol="0" anchor="ctr">
            <a:normAutofit/>
          </a:bodyPr>
          <a:lstStyle/>
          <a:p>
            <a:pPr algn="l" indent="0" marL="0">
              <a:buNone/>
            </a:pPr>
            <a:r>
              <a:rPr lang="en-US" sz="760" dirty="0">
                <a:solidFill>
                  <a:srgbClr val="9EADB8"/>
                </a:solidFill>
                <a:latin typeface="Aptos" pitchFamily="34" charset="0"/>
                <a:ea typeface="Aptos" pitchFamily="34" charset="-122"/>
                <a:cs typeface="Aptos" pitchFamily="34" charset="-120"/>
              </a:rPr>
              <a:t>Démo</a:t>
            </a:r>
            <a:endParaRPr lang="en-US" sz="760" dirty="0"/>
          </a:p>
        </p:txBody>
      </p:sp>
      <p:sp>
        <p:nvSpPr>
          <p:cNvPr id="14" name="Shape 12"/>
          <p:cNvSpPr/>
          <p:nvPr/>
        </p:nvSpPr>
        <p:spPr>
          <a:xfrm>
            <a:off x="8229600" y="356616"/>
            <a:ext cx="73152" cy="73152"/>
          </a:xfrm>
          <a:prstGeom prst="ellipse">
            <a:avLst/>
          </a:prstGeom>
          <a:solidFill>
            <a:srgbClr val="344653">
              <a:alpha val="80000"/>
            </a:srgbClr>
          </a:solidFill>
          <a:ln w="12700">
            <a:solidFill>
              <a:srgbClr val="344653">
                <a:alpha val="0"/>
              </a:srgbClr>
            </a:solidFill>
            <a:prstDash val="solid"/>
          </a:ln>
        </p:spPr>
      </p:sp>
      <p:sp>
        <p:nvSpPr>
          <p:cNvPr id="15" name="Text 13"/>
          <p:cNvSpPr/>
          <p:nvPr/>
        </p:nvSpPr>
        <p:spPr>
          <a:xfrm>
            <a:off x="8394192" y="201168"/>
            <a:ext cx="1207008" cy="164592"/>
          </a:xfrm>
          <a:prstGeom prst="rect">
            <a:avLst/>
          </a:prstGeom>
          <a:noFill/>
          <a:ln/>
        </p:spPr>
        <p:txBody>
          <a:bodyPr wrap="square" lIns="0" tIns="0" rIns="0" bIns="0" rtlCol="0" anchor="ctr">
            <a:normAutofit/>
          </a:bodyPr>
          <a:lstStyle/>
          <a:p>
            <a:pPr algn="l" indent="0" marL="0">
              <a:buNone/>
            </a:pPr>
            <a:r>
              <a:rPr lang="en-US" sz="760" dirty="0">
                <a:solidFill>
                  <a:srgbClr val="9EADB8"/>
                </a:solidFill>
                <a:latin typeface="Aptos" pitchFamily="34" charset="0"/>
                <a:ea typeface="Aptos" pitchFamily="34" charset="-122"/>
                <a:cs typeface="Aptos" pitchFamily="34" charset="-120"/>
              </a:rPr>
              <a:t>Résultats</a:t>
            </a:r>
            <a:endParaRPr lang="en-US" sz="760" dirty="0"/>
          </a:p>
        </p:txBody>
      </p:sp>
      <p:sp>
        <p:nvSpPr>
          <p:cNvPr id="16" name="Shape 14"/>
          <p:cNvSpPr/>
          <p:nvPr/>
        </p:nvSpPr>
        <p:spPr>
          <a:xfrm>
            <a:off x="9784080" y="356616"/>
            <a:ext cx="73152" cy="73152"/>
          </a:xfrm>
          <a:prstGeom prst="ellipse">
            <a:avLst/>
          </a:prstGeom>
          <a:solidFill>
            <a:srgbClr val="344653">
              <a:alpha val="80000"/>
            </a:srgbClr>
          </a:solidFill>
          <a:ln w="12700">
            <a:solidFill>
              <a:srgbClr val="344653">
                <a:alpha val="0"/>
              </a:srgbClr>
            </a:solidFill>
            <a:prstDash val="solid"/>
          </a:ln>
        </p:spPr>
      </p:sp>
      <p:sp>
        <p:nvSpPr>
          <p:cNvPr id="17" name="Text 15"/>
          <p:cNvSpPr/>
          <p:nvPr/>
        </p:nvSpPr>
        <p:spPr>
          <a:xfrm>
            <a:off x="9948672" y="201168"/>
            <a:ext cx="1207008" cy="164592"/>
          </a:xfrm>
          <a:prstGeom prst="rect">
            <a:avLst/>
          </a:prstGeom>
          <a:noFill/>
          <a:ln/>
        </p:spPr>
        <p:txBody>
          <a:bodyPr wrap="square" lIns="0" tIns="0" rIns="0" bIns="0" rtlCol="0" anchor="ctr">
            <a:normAutofit/>
          </a:bodyPr>
          <a:lstStyle/>
          <a:p>
            <a:pPr algn="l" indent="0" marL="0">
              <a:buNone/>
            </a:pPr>
            <a:r>
              <a:rPr lang="en-US" sz="760" dirty="0">
                <a:solidFill>
                  <a:srgbClr val="9EADB8"/>
                </a:solidFill>
                <a:latin typeface="Aptos" pitchFamily="34" charset="0"/>
                <a:ea typeface="Aptos" pitchFamily="34" charset="-122"/>
                <a:cs typeface="Aptos" pitchFamily="34" charset="-120"/>
              </a:rPr>
              <a:t>Conclusion</a:t>
            </a:r>
            <a:endParaRPr lang="en-US" sz="760" dirty="0"/>
          </a:p>
        </p:txBody>
      </p:sp>
      <p:sp>
        <p:nvSpPr>
          <p:cNvPr id="18" name="Shape 16"/>
          <p:cNvSpPr/>
          <p:nvPr/>
        </p:nvSpPr>
        <p:spPr>
          <a:xfrm>
            <a:off x="658368" y="6428232"/>
            <a:ext cx="10863072" cy="0"/>
          </a:xfrm>
          <a:prstGeom prst="line">
            <a:avLst/>
          </a:prstGeom>
          <a:noFill/>
          <a:ln w="8890">
            <a:solidFill>
              <a:srgbClr val="344653">
                <a:alpha val="80000"/>
              </a:srgbClr>
            </a:solidFill>
            <a:prstDash val="solid"/>
          </a:ln>
        </p:spPr>
      </p:sp>
      <p:sp>
        <p:nvSpPr>
          <p:cNvPr id="19" name="Text 17"/>
          <p:cNvSpPr/>
          <p:nvPr/>
        </p:nvSpPr>
        <p:spPr>
          <a:xfrm>
            <a:off x="658368" y="6510528"/>
            <a:ext cx="2926080" cy="146304"/>
          </a:xfrm>
          <a:prstGeom prst="rect">
            <a:avLst/>
          </a:prstGeom>
          <a:noFill/>
          <a:ln/>
        </p:spPr>
        <p:txBody>
          <a:bodyPr wrap="square" lIns="0" tIns="0" rIns="0" bIns="0" rtlCol="0" anchor="ctr">
            <a:normAutofit/>
          </a:bodyPr>
          <a:lstStyle/>
          <a:p>
            <a:pPr algn="l" indent="0" marL="0">
              <a:buNone/>
            </a:pPr>
            <a:r>
              <a:rPr lang="en-US" sz="720" b="1" spc="120" kern="0" dirty="0">
                <a:solidFill>
                  <a:srgbClr val="6C7F89"/>
                </a:solidFill>
                <a:latin typeface="Aptos Mono" pitchFamily="34" charset="0"/>
                <a:ea typeface="Aptos Mono" pitchFamily="34" charset="-122"/>
                <a:cs typeface="Aptos Mono" pitchFamily="34" charset="-120"/>
              </a:rPr>
              <a:t>AGENTIC MIGRATION PLATFORM</a:t>
            </a:r>
            <a:endParaRPr lang="en-US" sz="720" dirty="0"/>
          </a:p>
        </p:txBody>
      </p:sp>
      <p:sp>
        <p:nvSpPr>
          <p:cNvPr id="20" name="Text 18"/>
          <p:cNvSpPr/>
          <p:nvPr/>
        </p:nvSpPr>
        <p:spPr>
          <a:xfrm>
            <a:off x="10561320" y="6501384"/>
            <a:ext cx="950976" cy="155448"/>
          </a:xfrm>
          <a:prstGeom prst="rect">
            <a:avLst/>
          </a:prstGeom>
          <a:noFill/>
          <a:ln/>
        </p:spPr>
        <p:txBody>
          <a:bodyPr wrap="square" lIns="0" tIns="0" rIns="0" bIns="0" rtlCol="0" anchor="ctr">
            <a:normAutofit/>
          </a:bodyPr>
          <a:lstStyle/>
          <a:p>
            <a:pPr algn="r" indent="0" marL="0">
              <a:buNone/>
            </a:pPr>
            <a:r>
              <a:rPr lang="en-US" sz="770" b="1" spc="80" kern="0" dirty="0">
                <a:solidFill>
                  <a:srgbClr val="6C7F89"/>
                </a:solidFill>
                <a:latin typeface="Aptos Mono" pitchFamily="34" charset="0"/>
                <a:ea typeface="Aptos Mono" pitchFamily="34" charset="-122"/>
                <a:cs typeface="Aptos Mono" pitchFamily="34" charset="-120"/>
              </a:rPr>
              <a:t>06 / 18</a:t>
            </a:r>
            <a:endParaRPr lang="en-US" sz="770" dirty="0"/>
          </a:p>
        </p:txBody>
      </p:sp>
      <p:sp>
        <p:nvSpPr>
          <p:cNvPr id="21" name="Text 19"/>
          <p:cNvSpPr/>
          <p:nvPr/>
        </p:nvSpPr>
        <p:spPr>
          <a:xfrm>
            <a:off x="658368" y="758952"/>
            <a:ext cx="3200400" cy="164592"/>
          </a:xfrm>
          <a:prstGeom prst="rect">
            <a:avLst/>
          </a:prstGeom>
          <a:noFill/>
          <a:ln/>
        </p:spPr>
        <p:txBody>
          <a:bodyPr wrap="square" lIns="0" tIns="0" rIns="0" bIns="0" rtlCol="0" anchor="ctr">
            <a:normAutofit/>
          </a:bodyPr>
          <a:lstStyle/>
          <a:p>
            <a:pPr algn="l" indent="0" marL="0">
              <a:buNone/>
            </a:pPr>
            <a:r>
              <a:rPr lang="en-US" sz="900" b="1" spc="135" kern="0" dirty="0">
                <a:solidFill>
                  <a:srgbClr val="68D6E8"/>
                </a:solidFill>
                <a:latin typeface="Aptos Mono" pitchFamily="34" charset="0"/>
                <a:ea typeface="Aptos Mono" pitchFamily="34" charset="-122"/>
                <a:cs typeface="Aptos Mono" pitchFamily="34" charset="-120"/>
              </a:rPr>
              <a:t>ARCHITECTURE</a:t>
            </a:r>
            <a:endParaRPr lang="en-US" sz="900" dirty="0"/>
          </a:p>
        </p:txBody>
      </p:sp>
      <p:sp>
        <p:nvSpPr>
          <p:cNvPr id="22" name="Text 20"/>
          <p:cNvSpPr/>
          <p:nvPr/>
        </p:nvSpPr>
        <p:spPr>
          <a:xfrm>
            <a:off x="658368" y="969264"/>
            <a:ext cx="10607040" cy="493776"/>
          </a:xfrm>
          <a:prstGeom prst="rect">
            <a:avLst/>
          </a:prstGeom>
          <a:noFill/>
          <a:ln/>
        </p:spPr>
        <p:txBody>
          <a:bodyPr wrap="square" lIns="0" tIns="0" rIns="0" bIns="0" rtlCol="0" anchor="t">
            <a:normAutofit/>
          </a:bodyPr>
          <a:lstStyle/>
          <a:p>
            <a:pPr algn="l" indent="0" marL="0">
              <a:buNone/>
            </a:pPr>
            <a:r>
              <a:rPr lang="en-US" sz="2900" b="1" dirty="0">
                <a:solidFill>
                  <a:srgbClr val="F5F7F8"/>
                </a:solidFill>
                <a:latin typeface="Aptos Display" pitchFamily="34" charset="0"/>
                <a:ea typeface="Aptos Display" pitchFamily="34" charset="-122"/>
                <a:cs typeface="Aptos Display" pitchFamily="34" charset="-120"/>
              </a:rPr>
              <a:t>Architecture fonctionnelle</a:t>
            </a:r>
            <a:endParaRPr lang="en-US" sz="2900" dirty="0"/>
          </a:p>
        </p:txBody>
      </p:sp>
      <p:sp>
        <p:nvSpPr>
          <p:cNvPr id="23" name="Text 21"/>
          <p:cNvSpPr/>
          <p:nvPr/>
        </p:nvSpPr>
        <p:spPr>
          <a:xfrm>
            <a:off x="658368" y="1499616"/>
            <a:ext cx="9966960" cy="256032"/>
          </a:xfrm>
          <a:prstGeom prst="rect">
            <a:avLst/>
          </a:prstGeom>
          <a:noFill/>
          <a:ln/>
        </p:spPr>
        <p:txBody>
          <a:bodyPr wrap="square" lIns="0" tIns="0" rIns="0" bIns="0" rtlCol="0" anchor="t">
            <a:normAutofit/>
          </a:bodyPr>
          <a:lstStyle/>
          <a:p>
            <a:pPr algn="l" indent="0" marL="0">
              <a:buNone/>
            </a:pPr>
            <a:r>
              <a:rPr lang="en-US" sz="1200" dirty="0">
                <a:solidFill>
                  <a:srgbClr val="9EADB8"/>
                </a:solidFill>
                <a:latin typeface="Aptos" pitchFamily="34" charset="0"/>
                <a:ea typeface="Aptos" pitchFamily="34" charset="-122"/>
                <a:cs typeface="Aptos" pitchFamily="34" charset="-120"/>
              </a:rPr>
              <a:t>La plateforme sépare le raisonnement, l'exécution, l'autorisation et la preuve.</a:t>
            </a:r>
            <a:endParaRPr lang="en-US" sz="1200" dirty="0"/>
          </a:p>
        </p:txBody>
      </p:sp>
      <p:sp>
        <p:nvSpPr>
          <p:cNvPr id="24" name="Text 22"/>
          <p:cNvSpPr/>
          <p:nvPr/>
        </p:nvSpPr>
        <p:spPr>
          <a:xfrm>
            <a:off x="731520" y="2048256"/>
            <a:ext cx="2377440" cy="164592"/>
          </a:xfrm>
          <a:prstGeom prst="rect">
            <a:avLst/>
          </a:prstGeom>
          <a:noFill/>
          <a:ln/>
        </p:spPr>
        <p:txBody>
          <a:bodyPr wrap="square" lIns="0" tIns="0" rIns="0" bIns="0" rtlCol="0" anchor="ctr">
            <a:normAutofit/>
          </a:bodyPr>
          <a:lstStyle/>
          <a:p>
            <a:pPr algn="l" indent="0" marL="0">
              <a:buNone/>
            </a:pPr>
            <a:r>
              <a:rPr lang="en-US" sz="840" b="1" spc="120" kern="0" dirty="0">
                <a:solidFill>
                  <a:srgbClr val="68D6E8"/>
                </a:solidFill>
                <a:latin typeface="Aptos Mono" pitchFamily="34" charset="0"/>
                <a:ea typeface="Aptos Mono" pitchFamily="34" charset="-122"/>
                <a:cs typeface="Aptos Mono" pitchFamily="34" charset="-120"/>
              </a:rPr>
              <a:t>RESPONSIBILITY MAP</a:t>
            </a:r>
            <a:endParaRPr lang="en-US" sz="840" dirty="0"/>
          </a:p>
        </p:txBody>
      </p:sp>
      <p:sp>
        <p:nvSpPr>
          <p:cNvPr id="25" name="Shape 23"/>
          <p:cNvSpPr/>
          <p:nvPr/>
        </p:nvSpPr>
        <p:spPr>
          <a:xfrm>
            <a:off x="749808" y="2395728"/>
            <a:ext cx="6931152" cy="658368"/>
          </a:xfrm>
          <a:prstGeom prst="rect">
            <a:avLst/>
          </a:prstGeom>
          <a:solidFill>
            <a:srgbClr val="131D26"/>
          </a:solidFill>
          <a:ln w="12700">
            <a:solidFill>
              <a:srgbClr val="F4B84A"/>
            </a:solidFill>
            <a:prstDash val="solid"/>
          </a:ln>
        </p:spPr>
      </p:sp>
      <p:sp>
        <p:nvSpPr>
          <p:cNvPr id="26" name="Text 24"/>
          <p:cNvSpPr/>
          <p:nvPr/>
        </p:nvSpPr>
        <p:spPr>
          <a:xfrm>
            <a:off x="987552" y="2615184"/>
            <a:ext cx="1554480" cy="146304"/>
          </a:xfrm>
          <a:prstGeom prst="rect">
            <a:avLst/>
          </a:prstGeom>
          <a:noFill/>
          <a:ln/>
        </p:spPr>
        <p:txBody>
          <a:bodyPr wrap="square" lIns="0" tIns="0" rIns="0" bIns="0" rtlCol="0" anchor="ctr">
            <a:normAutofit/>
          </a:bodyPr>
          <a:lstStyle/>
          <a:p>
            <a:pPr algn="l" indent="0" marL="0">
              <a:buNone/>
            </a:pPr>
            <a:r>
              <a:rPr lang="en-US" sz="770" b="1" spc="75" kern="0" dirty="0">
                <a:solidFill>
                  <a:srgbClr val="F4B84A"/>
                </a:solidFill>
                <a:latin typeface="Aptos Mono" pitchFamily="34" charset="0"/>
                <a:ea typeface="Aptos Mono" pitchFamily="34" charset="-122"/>
                <a:cs typeface="Aptos Mono" pitchFamily="34" charset="-120"/>
              </a:rPr>
              <a:t>01 · GATE HUMAINE</a:t>
            </a:r>
            <a:endParaRPr lang="en-US" sz="770" dirty="0"/>
          </a:p>
        </p:txBody>
      </p:sp>
      <p:sp>
        <p:nvSpPr>
          <p:cNvPr id="27" name="Text 25"/>
          <p:cNvSpPr/>
          <p:nvPr/>
        </p:nvSpPr>
        <p:spPr>
          <a:xfrm>
            <a:off x="2761488" y="2578608"/>
            <a:ext cx="4370832" cy="182880"/>
          </a:xfrm>
          <a:prstGeom prst="rect">
            <a:avLst/>
          </a:prstGeom>
          <a:noFill/>
          <a:ln/>
        </p:spPr>
        <p:txBody>
          <a:bodyPr wrap="square" lIns="0" tIns="0" rIns="0" bIns="0" rtlCol="0" anchor="ctr">
            <a:normAutofit/>
          </a:bodyPr>
          <a:lstStyle/>
          <a:p>
            <a:pPr algn="l" indent="0" marL="0">
              <a:buNone/>
            </a:pPr>
            <a:r>
              <a:rPr lang="en-US" sz="1240" b="1" dirty="0">
                <a:solidFill>
                  <a:srgbClr val="F5F7F8"/>
                </a:solidFill>
                <a:latin typeface="Aptos Display" pitchFamily="34" charset="0"/>
                <a:ea typeface="Aptos Display" pitchFamily="34" charset="-122"/>
                <a:cs typeface="Aptos Display" pitchFamily="34" charset="-120"/>
              </a:rPr>
              <a:t>intention · validation · décision sensible</a:t>
            </a:r>
            <a:endParaRPr lang="en-US" sz="1240" dirty="0"/>
          </a:p>
        </p:txBody>
      </p:sp>
      <p:sp>
        <p:nvSpPr>
          <p:cNvPr id="28" name="Shape 26"/>
          <p:cNvSpPr/>
          <p:nvPr/>
        </p:nvSpPr>
        <p:spPr>
          <a:xfrm>
            <a:off x="749808" y="3273552"/>
            <a:ext cx="6931152" cy="658368"/>
          </a:xfrm>
          <a:prstGeom prst="rect">
            <a:avLst/>
          </a:prstGeom>
          <a:solidFill>
            <a:srgbClr val="131D26"/>
          </a:solidFill>
          <a:ln w="12700">
            <a:solidFill>
              <a:srgbClr val="4E9DFF"/>
            </a:solidFill>
            <a:prstDash val="solid"/>
          </a:ln>
        </p:spPr>
      </p:sp>
      <p:sp>
        <p:nvSpPr>
          <p:cNvPr id="29" name="Text 27"/>
          <p:cNvSpPr/>
          <p:nvPr/>
        </p:nvSpPr>
        <p:spPr>
          <a:xfrm>
            <a:off x="987552" y="3493008"/>
            <a:ext cx="1737360" cy="146304"/>
          </a:xfrm>
          <a:prstGeom prst="rect">
            <a:avLst/>
          </a:prstGeom>
          <a:noFill/>
          <a:ln/>
        </p:spPr>
        <p:txBody>
          <a:bodyPr wrap="square" lIns="0" tIns="0" rIns="0" bIns="0" rtlCol="0" anchor="ctr">
            <a:normAutofit/>
          </a:bodyPr>
          <a:lstStyle/>
          <a:p>
            <a:pPr algn="l" indent="0" marL="0">
              <a:buNone/>
            </a:pPr>
            <a:r>
              <a:rPr lang="en-US" sz="770" b="1" spc="75" kern="0" dirty="0">
                <a:solidFill>
                  <a:srgbClr val="4E9DFF"/>
                </a:solidFill>
                <a:latin typeface="Aptos Mono" pitchFamily="34" charset="0"/>
                <a:ea typeface="Aptos Mono" pitchFamily="34" charset="-122"/>
                <a:cs typeface="Aptos Mono" pitchFamily="34" charset="-120"/>
              </a:rPr>
              <a:t>02 · ORCHESTRATEUR</a:t>
            </a:r>
            <a:endParaRPr lang="en-US" sz="770" dirty="0"/>
          </a:p>
        </p:txBody>
      </p:sp>
      <p:sp>
        <p:nvSpPr>
          <p:cNvPr id="30" name="Text 28"/>
          <p:cNvSpPr/>
          <p:nvPr/>
        </p:nvSpPr>
        <p:spPr>
          <a:xfrm>
            <a:off x="2761488" y="3456432"/>
            <a:ext cx="4370832" cy="182880"/>
          </a:xfrm>
          <a:prstGeom prst="rect">
            <a:avLst/>
          </a:prstGeom>
          <a:noFill/>
          <a:ln/>
        </p:spPr>
        <p:txBody>
          <a:bodyPr wrap="square" lIns="0" tIns="0" rIns="0" bIns="0" rtlCol="0" anchor="ctr">
            <a:normAutofit/>
          </a:bodyPr>
          <a:lstStyle/>
          <a:p>
            <a:pPr algn="l" indent="0" marL="0">
              <a:buNone/>
            </a:pPr>
            <a:r>
              <a:rPr lang="en-US" sz="1240" b="1" dirty="0">
                <a:solidFill>
                  <a:srgbClr val="F5F7F8"/>
                </a:solidFill>
                <a:latin typeface="Aptos Display" pitchFamily="34" charset="0"/>
                <a:ea typeface="Aptos Display" pitchFamily="34" charset="-122"/>
                <a:cs typeface="Aptos Display" pitchFamily="34" charset="-120"/>
              </a:rPr>
              <a:t>état métier · transitions · contexte</a:t>
            </a:r>
            <a:endParaRPr lang="en-US" sz="1240" dirty="0"/>
          </a:p>
        </p:txBody>
      </p:sp>
      <p:sp>
        <p:nvSpPr>
          <p:cNvPr id="31" name="Shape 29"/>
          <p:cNvSpPr/>
          <p:nvPr/>
        </p:nvSpPr>
        <p:spPr>
          <a:xfrm>
            <a:off x="749808" y="4151376"/>
            <a:ext cx="6931152" cy="877824"/>
          </a:xfrm>
          <a:prstGeom prst="rect">
            <a:avLst/>
          </a:prstGeom>
          <a:solidFill>
            <a:srgbClr val="1B2A35"/>
          </a:solidFill>
          <a:ln w="12700">
            <a:solidFill>
              <a:srgbClr val="68D6E8"/>
            </a:solidFill>
            <a:prstDash val="solid"/>
          </a:ln>
        </p:spPr>
      </p:sp>
      <p:sp>
        <p:nvSpPr>
          <p:cNvPr id="32" name="Text 30"/>
          <p:cNvSpPr/>
          <p:nvPr/>
        </p:nvSpPr>
        <p:spPr>
          <a:xfrm>
            <a:off x="987552" y="4352544"/>
            <a:ext cx="1920240" cy="146304"/>
          </a:xfrm>
          <a:prstGeom prst="rect">
            <a:avLst/>
          </a:prstGeom>
          <a:noFill/>
          <a:ln/>
        </p:spPr>
        <p:txBody>
          <a:bodyPr wrap="square" lIns="0" tIns="0" rIns="0" bIns="0" rtlCol="0" anchor="ctr">
            <a:normAutofit/>
          </a:bodyPr>
          <a:lstStyle/>
          <a:p>
            <a:pPr algn="l" indent="0" marL="0">
              <a:buNone/>
            </a:pPr>
            <a:r>
              <a:rPr lang="en-US" sz="770" b="1" spc="75" kern="0" dirty="0">
                <a:solidFill>
                  <a:srgbClr val="68D6E8"/>
                </a:solidFill>
                <a:latin typeface="Aptos Mono" pitchFamily="34" charset="0"/>
                <a:ea typeface="Aptos Mono" pitchFamily="34" charset="-122"/>
                <a:cs typeface="Aptos Mono" pitchFamily="34" charset="-120"/>
              </a:rPr>
              <a:t>03 · AGENTS SPÉCIALISÉS</a:t>
            </a:r>
            <a:endParaRPr lang="en-US" sz="770" dirty="0"/>
          </a:p>
        </p:txBody>
      </p:sp>
      <p:sp>
        <p:nvSpPr>
          <p:cNvPr id="33" name="Shape 31"/>
          <p:cNvSpPr/>
          <p:nvPr/>
        </p:nvSpPr>
        <p:spPr>
          <a:xfrm>
            <a:off x="3218688" y="4379976"/>
            <a:ext cx="164592" cy="164592"/>
          </a:xfrm>
          <a:prstGeom prst="ellipse">
            <a:avLst/>
          </a:prstGeom>
          <a:solidFill>
            <a:srgbClr val="68D6E8"/>
          </a:solidFill>
          <a:ln w="12700">
            <a:solidFill>
              <a:srgbClr val="68D6E8">
                <a:alpha val="0"/>
              </a:srgbClr>
            </a:solidFill>
            <a:prstDash val="solid"/>
          </a:ln>
        </p:spPr>
      </p:sp>
      <p:sp>
        <p:nvSpPr>
          <p:cNvPr id="34" name="Text 32"/>
          <p:cNvSpPr/>
          <p:nvPr/>
        </p:nvSpPr>
        <p:spPr>
          <a:xfrm>
            <a:off x="3465576" y="4370832"/>
            <a:ext cx="749808" cy="155448"/>
          </a:xfrm>
          <a:prstGeom prst="rect">
            <a:avLst/>
          </a:prstGeom>
          <a:noFill/>
          <a:ln/>
        </p:spPr>
        <p:txBody>
          <a:bodyPr wrap="square" lIns="0" tIns="0" rIns="0" bIns="0" rtlCol="0" anchor="ctr">
            <a:normAutofit/>
          </a:bodyPr>
          <a:lstStyle/>
          <a:p>
            <a:pPr algn="l" indent="0" marL="0">
              <a:buNone/>
            </a:pPr>
            <a:r>
              <a:rPr lang="en-US" sz="720" b="1" spc="35" kern="0" dirty="0">
                <a:solidFill>
                  <a:srgbClr val="9EADB8"/>
                </a:solidFill>
                <a:latin typeface="Aptos Mono" pitchFamily="34" charset="0"/>
                <a:ea typeface="Aptos Mono" pitchFamily="34" charset="-122"/>
                <a:cs typeface="Aptos Mono" pitchFamily="34" charset="-120"/>
              </a:rPr>
              <a:t>ANALYSE</a:t>
            </a:r>
            <a:endParaRPr lang="en-US" sz="720" dirty="0"/>
          </a:p>
        </p:txBody>
      </p:sp>
      <p:sp>
        <p:nvSpPr>
          <p:cNvPr id="35" name="Shape 33"/>
          <p:cNvSpPr/>
          <p:nvPr/>
        </p:nvSpPr>
        <p:spPr>
          <a:xfrm>
            <a:off x="4224528" y="4379976"/>
            <a:ext cx="164592" cy="164592"/>
          </a:xfrm>
          <a:prstGeom prst="ellipse">
            <a:avLst/>
          </a:prstGeom>
          <a:solidFill>
            <a:srgbClr val="68D6E8"/>
          </a:solidFill>
          <a:ln w="12700">
            <a:solidFill>
              <a:srgbClr val="68D6E8">
                <a:alpha val="0"/>
              </a:srgbClr>
            </a:solidFill>
            <a:prstDash val="solid"/>
          </a:ln>
        </p:spPr>
      </p:sp>
      <p:sp>
        <p:nvSpPr>
          <p:cNvPr id="36" name="Text 34"/>
          <p:cNvSpPr/>
          <p:nvPr/>
        </p:nvSpPr>
        <p:spPr>
          <a:xfrm>
            <a:off x="4471416" y="4370832"/>
            <a:ext cx="749808" cy="155448"/>
          </a:xfrm>
          <a:prstGeom prst="rect">
            <a:avLst/>
          </a:prstGeom>
          <a:noFill/>
          <a:ln/>
        </p:spPr>
        <p:txBody>
          <a:bodyPr wrap="square" lIns="0" tIns="0" rIns="0" bIns="0" rtlCol="0" anchor="ctr">
            <a:normAutofit/>
          </a:bodyPr>
          <a:lstStyle/>
          <a:p>
            <a:pPr algn="l" indent="0" marL="0">
              <a:buNone/>
            </a:pPr>
            <a:r>
              <a:rPr lang="en-US" sz="720" b="1" spc="35" kern="0" dirty="0">
                <a:solidFill>
                  <a:srgbClr val="9EADB8"/>
                </a:solidFill>
                <a:latin typeface="Aptos Mono" pitchFamily="34" charset="0"/>
                <a:ea typeface="Aptos Mono" pitchFamily="34" charset="-122"/>
                <a:cs typeface="Aptos Mono" pitchFamily="34" charset="-120"/>
              </a:rPr>
              <a:t>PLAN</a:t>
            </a:r>
            <a:endParaRPr lang="en-US" sz="720" dirty="0"/>
          </a:p>
        </p:txBody>
      </p:sp>
      <p:sp>
        <p:nvSpPr>
          <p:cNvPr id="37" name="Shape 35"/>
          <p:cNvSpPr/>
          <p:nvPr/>
        </p:nvSpPr>
        <p:spPr>
          <a:xfrm>
            <a:off x="5230368" y="4379976"/>
            <a:ext cx="164592" cy="164592"/>
          </a:xfrm>
          <a:prstGeom prst="ellipse">
            <a:avLst/>
          </a:prstGeom>
          <a:solidFill>
            <a:srgbClr val="68D6E8"/>
          </a:solidFill>
          <a:ln w="12700">
            <a:solidFill>
              <a:srgbClr val="68D6E8">
                <a:alpha val="0"/>
              </a:srgbClr>
            </a:solidFill>
            <a:prstDash val="solid"/>
          </a:ln>
        </p:spPr>
      </p:sp>
      <p:sp>
        <p:nvSpPr>
          <p:cNvPr id="38" name="Text 36"/>
          <p:cNvSpPr/>
          <p:nvPr/>
        </p:nvSpPr>
        <p:spPr>
          <a:xfrm>
            <a:off x="5477256" y="4370832"/>
            <a:ext cx="749808" cy="155448"/>
          </a:xfrm>
          <a:prstGeom prst="rect">
            <a:avLst/>
          </a:prstGeom>
          <a:noFill/>
          <a:ln/>
        </p:spPr>
        <p:txBody>
          <a:bodyPr wrap="square" lIns="0" tIns="0" rIns="0" bIns="0" rtlCol="0" anchor="ctr">
            <a:normAutofit/>
          </a:bodyPr>
          <a:lstStyle/>
          <a:p>
            <a:pPr algn="l" indent="0" marL="0">
              <a:buNone/>
            </a:pPr>
            <a:r>
              <a:rPr lang="en-US" sz="720" b="1" spc="35" kern="0" dirty="0">
                <a:solidFill>
                  <a:srgbClr val="9EADB8"/>
                </a:solidFill>
                <a:latin typeface="Aptos Mono" pitchFamily="34" charset="0"/>
                <a:ea typeface="Aptos Mono" pitchFamily="34" charset="-122"/>
                <a:cs typeface="Aptos Mono" pitchFamily="34" charset="-120"/>
              </a:rPr>
              <a:t>TRANSFORM</a:t>
            </a:r>
            <a:endParaRPr lang="en-US" sz="720" dirty="0"/>
          </a:p>
        </p:txBody>
      </p:sp>
      <p:sp>
        <p:nvSpPr>
          <p:cNvPr id="39" name="Shape 37"/>
          <p:cNvSpPr/>
          <p:nvPr/>
        </p:nvSpPr>
        <p:spPr>
          <a:xfrm>
            <a:off x="6236208" y="4379976"/>
            <a:ext cx="164592" cy="164592"/>
          </a:xfrm>
          <a:prstGeom prst="ellipse">
            <a:avLst/>
          </a:prstGeom>
          <a:solidFill>
            <a:srgbClr val="68D6E8"/>
          </a:solidFill>
          <a:ln w="12700">
            <a:solidFill>
              <a:srgbClr val="68D6E8">
                <a:alpha val="0"/>
              </a:srgbClr>
            </a:solidFill>
            <a:prstDash val="solid"/>
          </a:ln>
        </p:spPr>
      </p:sp>
      <p:sp>
        <p:nvSpPr>
          <p:cNvPr id="40" name="Text 38"/>
          <p:cNvSpPr/>
          <p:nvPr/>
        </p:nvSpPr>
        <p:spPr>
          <a:xfrm>
            <a:off x="6483096" y="4370832"/>
            <a:ext cx="749808" cy="155448"/>
          </a:xfrm>
          <a:prstGeom prst="rect">
            <a:avLst/>
          </a:prstGeom>
          <a:noFill/>
          <a:ln/>
        </p:spPr>
        <p:txBody>
          <a:bodyPr wrap="square" lIns="0" tIns="0" rIns="0" bIns="0" rtlCol="0" anchor="ctr">
            <a:normAutofit/>
          </a:bodyPr>
          <a:lstStyle/>
          <a:p>
            <a:pPr algn="l" indent="0" marL="0">
              <a:buNone/>
            </a:pPr>
            <a:r>
              <a:rPr lang="en-US" sz="720" b="1" spc="35" kern="0" dirty="0">
                <a:solidFill>
                  <a:srgbClr val="9EADB8"/>
                </a:solidFill>
                <a:latin typeface="Aptos Mono" pitchFamily="34" charset="0"/>
                <a:ea typeface="Aptos Mono" pitchFamily="34" charset="-122"/>
                <a:cs typeface="Aptos Mono" pitchFamily="34" charset="-120"/>
              </a:rPr>
              <a:t>RÉPARE</a:t>
            </a:r>
            <a:endParaRPr lang="en-US" sz="720" dirty="0"/>
          </a:p>
        </p:txBody>
      </p:sp>
      <p:sp>
        <p:nvSpPr>
          <p:cNvPr id="41" name="Shape 39"/>
          <p:cNvSpPr/>
          <p:nvPr/>
        </p:nvSpPr>
        <p:spPr>
          <a:xfrm>
            <a:off x="749808" y="5212080"/>
            <a:ext cx="6931152" cy="658368"/>
          </a:xfrm>
          <a:prstGeom prst="rect">
            <a:avLst/>
          </a:prstGeom>
          <a:solidFill>
            <a:srgbClr val="131D26"/>
          </a:solidFill>
          <a:ln w="12700">
            <a:solidFill>
              <a:srgbClr val="4E9DFF"/>
            </a:solidFill>
            <a:prstDash val="solid"/>
          </a:ln>
        </p:spPr>
      </p:sp>
      <p:sp>
        <p:nvSpPr>
          <p:cNvPr id="42" name="Text 40"/>
          <p:cNvSpPr/>
          <p:nvPr/>
        </p:nvSpPr>
        <p:spPr>
          <a:xfrm>
            <a:off x="987552" y="5431536"/>
            <a:ext cx="1225296" cy="146304"/>
          </a:xfrm>
          <a:prstGeom prst="rect">
            <a:avLst/>
          </a:prstGeom>
          <a:noFill/>
          <a:ln/>
        </p:spPr>
        <p:txBody>
          <a:bodyPr wrap="square" lIns="0" tIns="0" rIns="0" bIns="0" rtlCol="0" anchor="ctr">
            <a:normAutofit/>
          </a:bodyPr>
          <a:lstStyle/>
          <a:p>
            <a:pPr algn="l" indent="0" marL="0">
              <a:buNone/>
            </a:pPr>
            <a:r>
              <a:rPr lang="en-US" sz="770" b="1" spc="75" kern="0" dirty="0">
                <a:solidFill>
                  <a:srgbClr val="4E9DFF"/>
                </a:solidFill>
                <a:latin typeface="Aptos Mono" pitchFamily="34" charset="0"/>
                <a:ea typeface="Aptos Mono" pitchFamily="34" charset="-122"/>
                <a:cs typeface="Aptos Mono" pitchFamily="34" charset="-120"/>
              </a:rPr>
              <a:t>04 · SERVICES</a:t>
            </a:r>
            <a:endParaRPr lang="en-US" sz="770" dirty="0"/>
          </a:p>
        </p:txBody>
      </p:sp>
      <p:sp>
        <p:nvSpPr>
          <p:cNvPr id="43" name="Text 41"/>
          <p:cNvSpPr/>
          <p:nvPr/>
        </p:nvSpPr>
        <p:spPr>
          <a:xfrm>
            <a:off x="2761488" y="5394960"/>
            <a:ext cx="4370832" cy="182880"/>
          </a:xfrm>
          <a:prstGeom prst="rect">
            <a:avLst/>
          </a:prstGeom>
          <a:noFill/>
          <a:ln/>
        </p:spPr>
        <p:txBody>
          <a:bodyPr wrap="square" lIns="0" tIns="0" rIns="0" bIns="0" rtlCol="0" anchor="ctr">
            <a:normAutofit/>
          </a:bodyPr>
          <a:lstStyle/>
          <a:p>
            <a:pPr algn="l" indent="0" marL="0">
              <a:buNone/>
            </a:pPr>
            <a:r>
              <a:rPr lang="en-US" sz="1240" b="1" dirty="0">
                <a:solidFill>
                  <a:srgbClr val="F5F7F8"/>
                </a:solidFill>
                <a:latin typeface="Aptos Display" pitchFamily="34" charset="0"/>
                <a:ea typeface="Aptos Display" pitchFamily="34" charset="-122"/>
                <a:cs typeface="Aptos Display" pitchFamily="34" charset="-120"/>
              </a:rPr>
              <a:t>patch · build · tests · checks</a:t>
            </a:r>
            <a:endParaRPr lang="en-US" sz="1240" dirty="0"/>
          </a:p>
        </p:txBody>
      </p:sp>
      <p:sp>
        <p:nvSpPr>
          <p:cNvPr id="44" name="Shape 42"/>
          <p:cNvSpPr/>
          <p:nvPr/>
        </p:nvSpPr>
        <p:spPr>
          <a:xfrm>
            <a:off x="8156448" y="2395728"/>
            <a:ext cx="3127248" cy="3474720"/>
          </a:xfrm>
          <a:prstGeom prst="rect">
            <a:avLst/>
          </a:prstGeom>
          <a:solidFill>
            <a:srgbClr val="1B2A35"/>
          </a:solidFill>
          <a:ln w="12700">
            <a:solidFill>
              <a:srgbClr val="41D3AE"/>
            </a:solidFill>
            <a:prstDash val="solid"/>
          </a:ln>
        </p:spPr>
      </p:sp>
      <p:sp>
        <p:nvSpPr>
          <p:cNvPr id="45" name="Text 43"/>
          <p:cNvSpPr/>
          <p:nvPr/>
        </p:nvSpPr>
        <p:spPr>
          <a:xfrm>
            <a:off x="8449056" y="2670048"/>
            <a:ext cx="2395728" cy="164592"/>
          </a:xfrm>
          <a:prstGeom prst="rect">
            <a:avLst/>
          </a:prstGeom>
          <a:noFill/>
          <a:ln/>
        </p:spPr>
        <p:txBody>
          <a:bodyPr wrap="square" lIns="0" tIns="0" rIns="0" bIns="0" rtlCol="0" anchor="ctr">
            <a:normAutofit/>
          </a:bodyPr>
          <a:lstStyle/>
          <a:p>
            <a:pPr algn="l" indent="0" marL="0">
              <a:buNone/>
            </a:pPr>
            <a:r>
              <a:rPr lang="en-US" sz="800" b="1" spc="75" kern="0" dirty="0">
                <a:solidFill>
                  <a:srgbClr val="41D3AE"/>
                </a:solidFill>
                <a:latin typeface="Aptos Mono" pitchFamily="34" charset="0"/>
                <a:ea typeface="Aptos Mono" pitchFamily="34" charset="-122"/>
                <a:cs typeface="Aptos Mono" pitchFamily="34" charset="-120"/>
              </a:rPr>
              <a:t>05 · EVIDENCE REGISTRY</a:t>
            </a:r>
            <a:endParaRPr lang="en-US" sz="800" dirty="0"/>
          </a:p>
        </p:txBody>
      </p:sp>
      <p:sp>
        <p:nvSpPr>
          <p:cNvPr id="46" name="Text 44"/>
          <p:cNvSpPr/>
          <p:nvPr/>
        </p:nvSpPr>
        <p:spPr>
          <a:xfrm>
            <a:off x="8449056" y="3127248"/>
            <a:ext cx="2157984" cy="877824"/>
          </a:xfrm>
          <a:prstGeom prst="rect">
            <a:avLst/>
          </a:prstGeom>
          <a:noFill/>
          <a:ln/>
        </p:spPr>
        <p:txBody>
          <a:bodyPr wrap="square" lIns="0" tIns="0" rIns="0" bIns="0" rtlCol="0" anchor="t">
            <a:normAutofit/>
          </a:bodyPr>
          <a:lstStyle/>
          <a:p>
            <a:pPr algn="l" indent="0" marL="0">
              <a:buNone/>
            </a:pPr>
            <a:r>
              <a:rPr lang="en-US" sz="2200" b="1" dirty="0">
                <a:solidFill>
                  <a:srgbClr val="F5F7F8"/>
                </a:solidFill>
                <a:latin typeface="Aptos Display" pitchFamily="34" charset="0"/>
                <a:ea typeface="Aptos Display" pitchFamily="34" charset="-122"/>
                <a:cs typeface="Aptos Display" pitchFamily="34" charset="-120"/>
              </a:rPr>
              <a:t>Une décision</a:t>
            </a:r>
            <a:endParaRPr lang="en-US" sz="2200" dirty="0"/>
          </a:p>
          <a:p>
            <a:pPr algn="l" indent="0" marL="0">
              <a:buNone/>
            </a:pPr>
            <a:r>
              <a:rPr lang="en-US" sz="2200" b="1" dirty="0">
                <a:solidFill>
                  <a:srgbClr val="F5F7F8"/>
                </a:solidFill>
                <a:latin typeface="Aptos Display" pitchFamily="34" charset="0"/>
                <a:ea typeface="Aptos Display" pitchFamily="34" charset="-122"/>
                <a:cs typeface="Aptos Display" pitchFamily="34" charset="-120"/>
              </a:rPr>
              <a:t>reste attachée</a:t>
            </a:r>
            <a:endParaRPr lang="en-US" sz="2200" dirty="0"/>
          </a:p>
          <a:p>
            <a:pPr algn="l" indent="0" marL="0">
              <a:buNone/>
            </a:pPr>
            <a:r>
              <a:rPr lang="en-US" sz="2200" b="1" dirty="0">
                <a:solidFill>
                  <a:srgbClr val="F5F7F8"/>
                </a:solidFill>
                <a:latin typeface="Aptos Display" pitchFamily="34" charset="0"/>
                <a:ea typeface="Aptos Display" pitchFamily="34" charset="-122"/>
                <a:cs typeface="Aptos Display" pitchFamily="34" charset="-120"/>
              </a:rPr>
              <a:t>à son état.</a:t>
            </a:r>
            <a:endParaRPr lang="en-US" sz="2200" dirty="0"/>
          </a:p>
        </p:txBody>
      </p:sp>
      <p:sp>
        <p:nvSpPr>
          <p:cNvPr id="47" name="Shape 45"/>
          <p:cNvSpPr/>
          <p:nvPr/>
        </p:nvSpPr>
        <p:spPr>
          <a:xfrm>
            <a:off x="8449056" y="4315968"/>
            <a:ext cx="2103120" cy="0"/>
          </a:xfrm>
          <a:prstGeom prst="line">
            <a:avLst/>
          </a:prstGeom>
          <a:noFill/>
          <a:ln w="20320">
            <a:solidFill>
              <a:srgbClr val="41D3AE"/>
            </a:solidFill>
            <a:prstDash val="solid"/>
          </a:ln>
        </p:spPr>
      </p:sp>
      <p:sp>
        <p:nvSpPr>
          <p:cNvPr id="48" name="Text 46"/>
          <p:cNvSpPr/>
          <p:nvPr/>
        </p:nvSpPr>
        <p:spPr>
          <a:xfrm>
            <a:off x="8449056" y="4517136"/>
            <a:ext cx="914400" cy="146304"/>
          </a:xfrm>
          <a:prstGeom prst="rect">
            <a:avLst/>
          </a:prstGeom>
          <a:noFill/>
          <a:ln/>
        </p:spPr>
        <p:txBody>
          <a:bodyPr wrap="square" lIns="0" tIns="0" rIns="0" bIns="0" rtlCol="0" anchor="ctr">
            <a:normAutofit/>
          </a:bodyPr>
          <a:lstStyle/>
          <a:p>
            <a:pPr algn="l" indent="0" marL="0">
              <a:buNone/>
            </a:pPr>
            <a:r>
              <a:rPr lang="en-US" sz="760" b="1" spc="75" kern="0" dirty="0">
                <a:solidFill>
                  <a:srgbClr val="41D3AE"/>
                </a:solidFill>
                <a:latin typeface="Aptos Mono" pitchFamily="34" charset="0"/>
                <a:ea typeface="Aptos Mono" pitchFamily="34" charset="-122"/>
                <a:cs typeface="Aptos Mono" pitchFamily="34" charset="-120"/>
              </a:rPr>
              <a:t>ARTIFACT</a:t>
            </a:r>
            <a:endParaRPr lang="en-US" sz="760" dirty="0"/>
          </a:p>
        </p:txBody>
      </p:sp>
      <p:sp>
        <p:nvSpPr>
          <p:cNvPr id="49" name="Text 47"/>
          <p:cNvSpPr/>
          <p:nvPr/>
        </p:nvSpPr>
        <p:spPr>
          <a:xfrm>
            <a:off x="8449056" y="4791456"/>
            <a:ext cx="2304288" cy="201168"/>
          </a:xfrm>
          <a:prstGeom prst="rect">
            <a:avLst/>
          </a:prstGeom>
          <a:noFill/>
          <a:ln/>
        </p:spPr>
        <p:txBody>
          <a:bodyPr wrap="square" lIns="0" tIns="0" rIns="0" bIns="0" rtlCol="0" anchor="ctr">
            <a:normAutofit/>
          </a:bodyPr>
          <a:lstStyle/>
          <a:p>
            <a:pPr algn="l" indent="0" marL="0">
              <a:buNone/>
            </a:pPr>
            <a:r>
              <a:rPr lang="en-US" sz="1030" b="1" dirty="0">
                <a:solidFill>
                  <a:srgbClr val="9EADB8"/>
                </a:solidFill>
                <a:latin typeface="Aptos Mono" pitchFamily="34" charset="0"/>
                <a:ea typeface="Aptos Mono" pitchFamily="34" charset="-122"/>
                <a:cs typeface="Aptos Mono" pitchFamily="34" charset="-120"/>
              </a:rPr>
              <a:t>checksum · trace · preuve</a:t>
            </a:r>
            <a:endParaRPr lang="en-US" sz="1030" dirty="0"/>
          </a:p>
        </p:txBody>
      </p:sp>
      <p:sp>
        <p:nvSpPr>
          <p:cNvPr id="50" name="Shape 48"/>
          <p:cNvSpPr/>
          <p:nvPr/>
        </p:nvSpPr>
        <p:spPr>
          <a:xfrm>
            <a:off x="7680960" y="3602736"/>
            <a:ext cx="438912" cy="0"/>
          </a:xfrm>
          <a:prstGeom prst="line">
            <a:avLst/>
          </a:prstGeom>
          <a:noFill/>
          <a:ln w="16510">
            <a:solidFill>
              <a:srgbClr val="41D3AE"/>
            </a:solidFill>
            <a:prstDash val="solid"/>
            <a:tailEnd type="triangle"/>
          </a:ln>
        </p:spPr>
      </p:sp>
      <p:sp>
        <p:nvSpPr>
          <p:cNvPr id="51" name="Shape 49"/>
          <p:cNvSpPr/>
          <p:nvPr/>
        </p:nvSpPr>
        <p:spPr>
          <a:xfrm>
            <a:off x="7680960" y="5468112"/>
            <a:ext cx="438912" cy="0"/>
          </a:xfrm>
          <a:prstGeom prst="line">
            <a:avLst/>
          </a:prstGeom>
          <a:noFill/>
          <a:ln w="16510">
            <a:solidFill>
              <a:srgbClr val="41D3AE"/>
            </a:solidFill>
            <a:prstDash val="solid"/>
            <a:tailEnd type="triangle"/>
          </a:ln>
        </p:spPr>
      </p:sp>
      <p:sp>
        <p:nvSpPr>
          <p:cNvPr id="52" name="Text 50"/>
          <p:cNvSpPr/>
          <p:nvPr/>
        </p:nvSpPr>
        <p:spPr>
          <a:xfrm>
            <a:off x="749808" y="6071616"/>
            <a:ext cx="6217920" cy="164592"/>
          </a:xfrm>
          <a:prstGeom prst="rect">
            <a:avLst/>
          </a:prstGeom>
          <a:noFill/>
          <a:ln/>
        </p:spPr>
        <p:txBody>
          <a:bodyPr wrap="square" lIns="0" tIns="0" rIns="0" bIns="0" rtlCol="0" anchor="ctr">
            <a:normAutofit/>
          </a:bodyPr>
          <a:lstStyle/>
          <a:p>
            <a:pPr algn="l" indent="0" marL="0">
              <a:buNone/>
            </a:pPr>
            <a:r>
              <a:rPr lang="en-US" sz="780" b="1" spc="78" kern="0" dirty="0">
                <a:solidFill>
                  <a:srgbClr val="9EADB8"/>
                </a:solidFill>
                <a:latin typeface="Aptos Mono" pitchFamily="34" charset="0"/>
                <a:ea typeface="Aptos Mono" pitchFamily="34" charset="-122"/>
                <a:cs typeface="Aptos Mono" pitchFamily="34" charset="-120"/>
              </a:rPr>
              <a:t>L'ÉTAT EST MÉTIER · LA COMMANDE EST DÉTERMINISTE</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117"/>
        </a:solidFill>
      </p:bgPr>
    </p:bg>
    <p:spTree>
      <p:nvGrpSpPr>
        <p:cNvPr id="1" name=""/>
        <p:cNvGrpSpPr/>
        <p:nvPr/>
      </p:nvGrpSpPr>
      <p:grpSpPr>
        <a:xfrm>
          <a:off x="0" y="0"/>
          <a:ext cx="0" cy="0"/>
          <a:chOff x="0" y="0"/>
          <a:chExt cx="0" cy="0"/>
        </a:xfrm>
      </p:grpSpPr>
      <p:sp>
        <p:nvSpPr>
          <p:cNvPr id="2" name="Shape 0"/>
          <p:cNvSpPr/>
          <p:nvPr/>
        </p:nvSpPr>
        <p:spPr>
          <a:xfrm>
            <a:off x="676656" y="411480"/>
            <a:ext cx="10735056" cy="0"/>
          </a:xfrm>
          <a:prstGeom prst="line">
            <a:avLst/>
          </a:prstGeom>
          <a:noFill/>
          <a:ln w="10160">
            <a:solidFill>
              <a:srgbClr val="344653">
                <a:alpha val="85000"/>
              </a:srgbClr>
            </a:solidFill>
            <a:prstDash val="solid"/>
          </a:ln>
        </p:spPr>
      </p:sp>
      <p:sp>
        <p:nvSpPr>
          <p:cNvPr id="3" name="Shape 1"/>
          <p:cNvSpPr/>
          <p:nvPr/>
        </p:nvSpPr>
        <p:spPr>
          <a:xfrm>
            <a:off x="658368" y="356616"/>
            <a:ext cx="73152" cy="73152"/>
          </a:xfrm>
          <a:prstGeom prst="ellipse">
            <a:avLst/>
          </a:prstGeom>
          <a:solidFill>
            <a:srgbClr val="41D3AE"/>
          </a:solidFill>
          <a:ln w="12700">
            <a:solidFill>
              <a:srgbClr val="41D3AE">
                <a:alpha val="0"/>
              </a:srgbClr>
            </a:solidFill>
            <a:prstDash val="solid"/>
          </a:ln>
        </p:spPr>
      </p:sp>
      <p:sp>
        <p:nvSpPr>
          <p:cNvPr id="4" name="Text 2"/>
          <p:cNvSpPr/>
          <p:nvPr/>
        </p:nvSpPr>
        <p:spPr>
          <a:xfrm>
            <a:off x="822960" y="201168"/>
            <a:ext cx="1207008" cy="164592"/>
          </a:xfrm>
          <a:prstGeom prst="rect">
            <a:avLst/>
          </a:prstGeom>
          <a:noFill/>
          <a:ln/>
        </p:spPr>
        <p:txBody>
          <a:bodyPr wrap="square" lIns="0" tIns="0" rIns="0" bIns="0" rtlCol="0" anchor="ctr">
            <a:normAutofit/>
          </a:bodyPr>
          <a:lstStyle/>
          <a:p>
            <a:pPr algn="l" indent="0" marL="0">
              <a:buNone/>
            </a:pPr>
            <a:r>
              <a:rPr lang="en-US" sz="760" b="1" dirty="0">
                <a:solidFill>
                  <a:srgbClr val="9EADB8"/>
                </a:solidFill>
                <a:latin typeface="Aptos" pitchFamily="34" charset="0"/>
                <a:ea typeface="Aptos" pitchFamily="34" charset="-122"/>
                <a:cs typeface="Aptos" pitchFamily="34" charset="-120"/>
              </a:rPr>
              <a:t>Contexte</a:t>
            </a:r>
            <a:endParaRPr lang="en-US" sz="760" dirty="0"/>
          </a:p>
        </p:txBody>
      </p:sp>
      <p:sp>
        <p:nvSpPr>
          <p:cNvPr id="5" name="Shape 3"/>
          <p:cNvSpPr/>
          <p:nvPr/>
        </p:nvSpPr>
        <p:spPr>
          <a:xfrm>
            <a:off x="2130552" y="356616"/>
            <a:ext cx="73152" cy="73152"/>
          </a:xfrm>
          <a:prstGeom prst="ellipse">
            <a:avLst/>
          </a:prstGeom>
          <a:solidFill>
            <a:srgbClr val="41D3AE"/>
          </a:solidFill>
          <a:ln w="12700">
            <a:solidFill>
              <a:srgbClr val="41D3AE">
                <a:alpha val="0"/>
              </a:srgbClr>
            </a:solidFill>
            <a:prstDash val="solid"/>
          </a:ln>
        </p:spPr>
      </p:sp>
      <p:sp>
        <p:nvSpPr>
          <p:cNvPr id="6" name="Text 4"/>
          <p:cNvSpPr/>
          <p:nvPr/>
        </p:nvSpPr>
        <p:spPr>
          <a:xfrm>
            <a:off x="2295144" y="201168"/>
            <a:ext cx="1207008" cy="164592"/>
          </a:xfrm>
          <a:prstGeom prst="rect">
            <a:avLst/>
          </a:prstGeom>
          <a:noFill/>
          <a:ln/>
        </p:spPr>
        <p:txBody>
          <a:bodyPr wrap="square" lIns="0" tIns="0" rIns="0" bIns="0" rtlCol="0" anchor="ctr">
            <a:normAutofit/>
          </a:bodyPr>
          <a:lstStyle/>
          <a:p>
            <a:pPr algn="l" indent="0" marL="0">
              <a:buNone/>
            </a:pPr>
            <a:r>
              <a:rPr lang="en-US" sz="760" b="1" dirty="0">
                <a:solidFill>
                  <a:srgbClr val="9EADB8"/>
                </a:solidFill>
                <a:latin typeface="Aptos" pitchFamily="34" charset="0"/>
                <a:ea typeface="Aptos" pitchFamily="34" charset="-122"/>
                <a:cs typeface="Aptos" pitchFamily="34" charset="-120"/>
              </a:rPr>
              <a:t>Solution</a:t>
            </a:r>
            <a:endParaRPr lang="en-US" sz="760" dirty="0"/>
          </a:p>
        </p:txBody>
      </p:sp>
      <p:sp>
        <p:nvSpPr>
          <p:cNvPr id="7" name="Shape 5"/>
          <p:cNvSpPr/>
          <p:nvPr/>
        </p:nvSpPr>
        <p:spPr>
          <a:xfrm>
            <a:off x="3493008" y="356616"/>
            <a:ext cx="109728" cy="109728"/>
          </a:xfrm>
          <a:prstGeom prst="ellipse">
            <a:avLst/>
          </a:prstGeom>
          <a:solidFill>
            <a:srgbClr val="68D6E8"/>
          </a:solidFill>
          <a:ln w="12700">
            <a:solidFill>
              <a:srgbClr val="68D6E8">
                <a:alpha val="0"/>
              </a:srgbClr>
            </a:solidFill>
            <a:prstDash val="solid"/>
          </a:ln>
        </p:spPr>
      </p:sp>
      <p:sp>
        <p:nvSpPr>
          <p:cNvPr id="8" name="Text 6"/>
          <p:cNvSpPr/>
          <p:nvPr/>
        </p:nvSpPr>
        <p:spPr>
          <a:xfrm>
            <a:off x="3657600" y="201168"/>
            <a:ext cx="1207008" cy="164592"/>
          </a:xfrm>
          <a:prstGeom prst="rect">
            <a:avLst/>
          </a:prstGeom>
          <a:noFill/>
          <a:ln/>
        </p:spPr>
        <p:txBody>
          <a:bodyPr wrap="square" lIns="0" tIns="0" rIns="0" bIns="0" rtlCol="0" anchor="ctr">
            <a:normAutofit/>
          </a:bodyPr>
          <a:lstStyle/>
          <a:p>
            <a:pPr algn="l" indent="0" marL="0">
              <a:buNone/>
            </a:pPr>
            <a:r>
              <a:rPr lang="en-US" sz="810" b="1" dirty="0">
                <a:solidFill>
                  <a:srgbClr val="68D6E8"/>
                </a:solidFill>
                <a:latin typeface="Aptos" pitchFamily="34" charset="0"/>
                <a:ea typeface="Aptos" pitchFamily="34" charset="-122"/>
                <a:cs typeface="Aptos" pitchFamily="34" charset="-120"/>
              </a:rPr>
              <a:t>Architecture</a:t>
            </a:r>
            <a:endParaRPr lang="en-US" sz="810" dirty="0"/>
          </a:p>
        </p:txBody>
      </p:sp>
      <p:sp>
        <p:nvSpPr>
          <p:cNvPr id="9" name="Shape 7"/>
          <p:cNvSpPr/>
          <p:nvPr/>
        </p:nvSpPr>
        <p:spPr>
          <a:xfrm>
            <a:off x="3639312" y="521208"/>
            <a:ext cx="731520" cy="0"/>
          </a:xfrm>
          <a:prstGeom prst="line">
            <a:avLst/>
          </a:prstGeom>
          <a:noFill/>
          <a:ln w="22860">
            <a:solidFill>
              <a:srgbClr val="68D6E8"/>
            </a:solidFill>
            <a:prstDash val="solid"/>
          </a:ln>
        </p:spPr>
      </p:sp>
      <p:sp>
        <p:nvSpPr>
          <p:cNvPr id="10" name="Shape 8"/>
          <p:cNvSpPr/>
          <p:nvPr/>
        </p:nvSpPr>
        <p:spPr>
          <a:xfrm>
            <a:off x="5001768" y="356616"/>
            <a:ext cx="73152" cy="73152"/>
          </a:xfrm>
          <a:prstGeom prst="ellipse">
            <a:avLst/>
          </a:prstGeom>
          <a:solidFill>
            <a:srgbClr val="344653">
              <a:alpha val="80000"/>
            </a:srgbClr>
          </a:solidFill>
          <a:ln w="12700">
            <a:solidFill>
              <a:srgbClr val="344653">
                <a:alpha val="0"/>
              </a:srgbClr>
            </a:solidFill>
            <a:prstDash val="solid"/>
          </a:ln>
        </p:spPr>
      </p:sp>
      <p:sp>
        <p:nvSpPr>
          <p:cNvPr id="11" name="Text 9"/>
          <p:cNvSpPr/>
          <p:nvPr/>
        </p:nvSpPr>
        <p:spPr>
          <a:xfrm>
            <a:off x="5166360" y="201168"/>
            <a:ext cx="1097280" cy="164592"/>
          </a:xfrm>
          <a:prstGeom prst="rect">
            <a:avLst/>
          </a:prstGeom>
          <a:noFill/>
          <a:ln/>
        </p:spPr>
        <p:txBody>
          <a:bodyPr wrap="square" lIns="0" tIns="0" rIns="0" bIns="0" rtlCol="0" anchor="ctr">
            <a:normAutofit/>
          </a:bodyPr>
          <a:lstStyle/>
          <a:p>
            <a:pPr algn="l" indent="0" marL="0">
              <a:buNone/>
            </a:pPr>
            <a:r>
              <a:rPr lang="en-US" sz="760" dirty="0">
                <a:solidFill>
                  <a:srgbClr val="9EADB8"/>
                </a:solidFill>
                <a:latin typeface="Aptos" pitchFamily="34" charset="0"/>
                <a:ea typeface="Aptos" pitchFamily="34" charset="-122"/>
                <a:cs typeface="Aptos" pitchFamily="34" charset="-120"/>
              </a:rPr>
              <a:t>Réalisation</a:t>
            </a:r>
            <a:endParaRPr lang="en-US" sz="760" dirty="0"/>
          </a:p>
        </p:txBody>
      </p:sp>
      <p:sp>
        <p:nvSpPr>
          <p:cNvPr id="12" name="Shape 10"/>
          <p:cNvSpPr/>
          <p:nvPr/>
        </p:nvSpPr>
        <p:spPr>
          <a:xfrm>
            <a:off x="6583680" y="356616"/>
            <a:ext cx="73152" cy="73152"/>
          </a:xfrm>
          <a:prstGeom prst="ellipse">
            <a:avLst/>
          </a:prstGeom>
          <a:solidFill>
            <a:srgbClr val="344653">
              <a:alpha val="80000"/>
            </a:srgbClr>
          </a:solidFill>
          <a:ln w="12700">
            <a:solidFill>
              <a:srgbClr val="344653">
                <a:alpha val="0"/>
              </a:srgbClr>
            </a:solidFill>
            <a:prstDash val="solid"/>
          </a:ln>
        </p:spPr>
      </p:sp>
      <p:sp>
        <p:nvSpPr>
          <p:cNvPr id="13" name="Text 11"/>
          <p:cNvSpPr/>
          <p:nvPr/>
        </p:nvSpPr>
        <p:spPr>
          <a:xfrm>
            <a:off x="6748272" y="201168"/>
            <a:ext cx="1207008" cy="164592"/>
          </a:xfrm>
          <a:prstGeom prst="rect">
            <a:avLst/>
          </a:prstGeom>
          <a:noFill/>
          <a:ln/>
        </p:spPr>
        <p:txBody>
          <a:bodyPr wrap="square" lIns="0" tIns="0" rIns="0" bIns="0" rtlCol="0" anchor="ctr">
            <a:normAutofit/>
          </a:bodyPr>
          <a:lstStyle/>
          <a:p>
            <a:pPr algn="l" indent="0" marL="0">
              <a:buNone/>
            </a:pPr>
            <a:r>
              <a:rPr lang="en-US" sz="760" dirty="0">
                <a:solidFill>
                  <a:srgbClr val="9EADB8"/>
                </a:solidFill>
                <a:latin typeface="Aptos" pitchFamily="34" charset="0"/>
                <a:ea typeface="Aptos" pitchFamily="34" charset="-122"/>
                <a:cs typeface="Aptos" pitchFamily="34" charset="-120"/>
              </a:rPr>
              <a:t>Démo</a:t>
            </a:r>
            <a:endParaRPr lang="en-US" sz="760" dirty="0"/>
          </a:p>
        </p:txBody>
      </p:sp>
      <p:sp>
        <p:nvSpPr>
          <p:cNvPr id="14" name="Shape 12"/>
          <p:cNvSpPr/>
          <p:nvPr/>
        </p:nvSpPr>
        <p:spPr>
          <a:xfrm>
            <a:off x="8229600" y="356616"/>
            <a:ext cx="73152" cy="73152"/>
          </a:xfrm>
          <a:prstGeom prst="ellipse">
            <a:avLst/>
          </a:prstGeom>
          <a:solidFill>
            <a:srgbClr val="344653">
              <a:alpha val="80000"/>
            </a:srgbClr>
          </a:solidFill>
          <a:ln w="12700">
            <a:solidFill>
              <a:srgbClr val="344653">
                <a:alpha val="0"/>
              </a:srgbClr>
            </a:solidFill>
            <a:prstDash val="solid"/>
          </a:ln>
        </p:spPr>
      </p:sp>
      <p:sp>
        <p:nvSpPr>
          <p:cNvPr id="15" name="Text 13"/>
          <p:cNvSpPr/>
          <p:nvPr/>
        </p:nvSpPr>
        <p:spPr>
          <a:xfrm>
            <a:off x="8394192" y="201168"/>
            <a:ext cx="1207008" cy="164592"/>
          </a:xfrm>
          <a:prstGeom prst="rect">
            <a:avLst/>
          </a:prstGeom>
          <a:noFill/>
          <a:ln/>
        </p:spPr>
        <p:txBody>
          <a:bodyPr wrap="square" lIns="0" tIns="0" rIns="0" bIns="0" rtlCol="0" anchor="ctr">
            <a:normAutofit/>
          </a:bodyPr>
          <a:lstStyle/>
          <a:p>
            <a:pPr algn="l" indent="0" marL="0">
              <a:buNone/>
            </a:pPr>
            <a:r>
              <a:rPr lang="en-US" sz="760" dirty="0">
                <a:solidFill>
                  <a:srgbClr val="9EADB8"/>
                </a:solidFill>
                <a:latin typeface="Aptos" pitchFamily="34" charset="0"/>
                <a:ea typeface="Aptos" pitchFamily="34" charset="-122"/>
                <a:cs typeface="Aptos" pitchFamily="34" charset="-120"/>
              </a:rPr>
              <a:t>Résultats</a:t>
            </a:r>
            <a:endParaRPr lang="en-US" sz="760" dirty="0"/>
          </a:p>
        </p:txBody>
      </p:sp>
      <p:sp>
        <p:nvSpPr>
          <p:cNvPr id="16" name="Shape 14"/>
          <p:cNvSpPr/>
          <p:nvPr/>
        </p:nvSpPr>
        <p:spPr>
          <a:xfrm>
            <a:off x="9784080" y="356616"/>
            <a:ext cx="73152" cy="73152"/>
          </a:xfrm>
          <a:prstGeom prst="ellipse">
            <a:avLst/>
          </a:prstGeom>
          <a:solidFill>
            <a:srgbClr val="344653">
              <a:alpha val="80000"/>
            </a:srgbClr>
          </a:solidFill>
          <a:ln w="12700">
            <a:solidFill>
              <a:srgbClr val="344653">
                <a:alpha val="0"/>
              </a:srgbClr>
            </a:solidFill>
            <a:prstDash val="solid"/>
          </a:ln>
        </p:spPr>
      </p:sp>
      <p:sp>
        <p:nvSpPr>
          <p:cNvPr id="17" name="Text 15"/>
          <p:cNvSpPr/>
          <p:nvPr/>
        </p:nvSpPr>
        <p:spPr>
          <a:xfrm>
            <a:off x="9948672" y="201168"/>
            <a:ext cx="1207008" cy="164592"/>
          </a:xfrm>
          <a:prstGeom prst="rect">
            <a:avLst/>
          </a:prstGeom>
          <a:noFill/>
          <a:ln/>
        </p:spPr>
        <p:txBody>
          <a:bodyPr wrap="square" lIns="0" tIns="0" rIns="0" bIns="0" rtlCol="0" anchor="ctr">
            <a:normAutofit/>
          </a:bodyPr>
          <a:lstStyle/>
          <a:p>
            <a:pPr algn="l" indent="0" marL="0">
              <a:buNone/>
            </a:pPr>
            <a:r>
              <a:rPr lang="en-US" sz="760" dirty="0">
                <a:solidFill>
                  <a:srgbClr val="9EADB8"/>
                </a:solidFill>
                <a:latin typeface="Aptos" pitchFamily="34" charset="0"/>
                <a:ea typeface="Aptos" pitchFamily="34" charset="-122"/>
                <a:cs typeface="Aptos" pitchFamily="34" charset="-120"/>
              </a:rPr>
              <a:t>Conclusion</a:t>
            </a:r>
            <a:endParaRPr lang="en-US" sz="760" dirty="0"/>
          </a:p>
        </p:txBody>
      </p:sp>
      <p:sp>
        <p:nvSpPr>
          <p:cNvPr id="18" name="Shape 16"/>
          <p:cNvSpPr/>
          <p:nvPr/>
        </p:nvSpPr>
        <p:spPr>
          <a:xfrm>
            <a:off x="658368" y="6428232"/>
            <a:ext cx="10863072" cy="0"/>
          </a:xfrm>
          <a:prstGeom prst="line">
            <a:avLst/>
          </a:prstGeom>
          <a:noFill/>
          <a:ln w="8890">
            <a:solidFill>
              <a:srgbClr val="344653">
                <a:alpha val="80000"/>
              </a:srgbClr>
            </a:solidFill>
            <a:prstDash val="solid"/>
          </a:ln>
        </p:spPr>
      </p:sp>
      <p:sp>
        <p:nvSpPr>
          <p:cNvPr id="19" name="Text 17"/>
          <p:cNvSpPr/>
          <p:nvPr/>
        </p:nvSpPr>
        <p:spPr>
          <a:xfrm>
            <a:off x="658368" y="6510528"/>
            <a:ext cx="2926080" cy="146304"/>
          </a:xfrm>
          <a:prstGeom prst="rect">
            <a:avLst/>
          </a:prstGeom>
          <a:noFill/>
          <a:ln/>
        </p:spPr>
        <p:txBody>
          <a:bodyPr wrap="square" lIns="0" tIns="0" rIns="0" bIns="0" rtlCol="0" anchor="ctr">
            <a:normAutofit/>
          </a:bodyPr>
          <a:lstStyle/>
          <a:p>
            <a:pPr algn="l" indent="0" marL="0">
              <a:buNone/>
            </a:pPr>
            <a:r>
              <a:rPr lang="en-US" sz="720" b="1" spc="120" kern="0" dirty="0">
                <a:solidFill>
                  <a:srgbClr val="6C7F89"/>
                </a:solidFill>
                <a:latin typeface="Aptos Mono" pitchFamily="34" charset="0"/>
                <a:ea typeface="Aptos Mono" pitchFamily="34" charset="-122"/>
                <a:cs typeface="Aptos Mono" pitchFamily="34" charset="-120"/>
              </a:rPr>
              <a:t>AGENTIC MIGRATION PLATFORM</a:t>
            </a:r>
            <a:endParaRPr lang="en-US" sz="720" dirty="0"/>
          </a:p>
        </p:txBody>
      </p:sp>
      <p:sp>
        <p:nvSpPr>
          <p:cNvPr id="20" name="Text 18"/>
          <p:cNvSpPr/>
          <p:nvPr/>
        </p:nvSpPr>
        <p:spPr>
          <a:xfrm>
            <a:off x="10561320" y="6501384"/>
            <a:ext cx="950976" cy="155448"/>
          </a:xfrm>
          <a:prstGeom prst="rect">
            <a:avLst/>
          </a:prstGeom>
          <a:noFill/>
          <a:ln/>
        </p:spPr>
        <p:txBody>
          <a:bodyPr wrap="square" lIns="0" tIns="0" rIns="0" bIns="0" rtlCol="0" anchor="ctr">
            <a:normAutofit/>
          </a:bodyPr>
          <a:lstStyle/>
          <a:p>
            <a:pPr algn="r" indent="0" marL="0">
              <a:buNone/>
            </a:pPr>
            <a:r>
              <a:rPr lang="en-US" sz="770" b="1" spc="80" kern="0" dirty="0">
                <a:solidFill>
                  <a:srgbClr val="6C7F89"/>
                </a:solidFill>
                <a:latin typeface="Aptos Mono" pitchFamily="34" charset="0"/>
                <a:ea typeface="Aptos Mono" pitchFamily="34" charset="-122"/>
                <a:cs typeface="Aptos Mono" pitchFamily="34" charset="-120"/>
              </a:rPr>
              <a:t>07 / 18</a:t>
            </a:r>
            <a:endParaRPr lang="en-US" sz="770" dirty="0"/>
          </a:p>
        </p:txBody>
      </p:sp>
      <p:sp>
        <p:nvSpPr>
          <p:cNvPr id="21" name="Text 19"/>
          <p:cNvSpPr/>
          <p:nvPr/>
        </p:nvSpPr>
        <p:spPr>
          <a:xfrm>
            <a:off x="658368" y="758952"/>
            <a:ext cx="3200400" cy="164592"/>
          </a:xfrm>
          <a:prstGeom prst="rect">
            <a:avLst/>
          </a:prstGeom>
          <a:noFill/>
          <a:ln/>
        </p:spPr>
        <p:txBody>
          <a:bodyPr wrap="square" lIns="0" tIns="0" rIns="0" bIns="0" rtlCol="0" anchor="ctr">
            <a:normAutofit/>
          </a:bodyPr>
          <a:lstStyle/>
          <a:p>
            <a:pPr algn="l" indent="0" marL="0">
              <a:buNone/>
            </a:pPr>
            <a:r>
              <a:rPr lang="en-US" sz="900" b="1" spc="135" kern="0" dirty="0">
                <a:solidFill>
                  <a:srgbClr val="68D6E8"/>
                </a:solidFill>
                <a:latin typeface="Aptos Mono" pitchFamily="34" charset="0"/>
                <a:ea typeface="Aptos Mono" pitchFamily="34" charset="-122"/>
                <a:cs typeface="Aptos Mono" pitchFamily="34" charset="-120"/>
              </a:rPr>
              <a:t>ARCHITECTURE</a:t>
            </a:r>
            <a:endParaRPr lang="en-US" sz="900" dirty="0"/>
          </a:p>
        </p:txBody>
      </p:sp>
      <p:sp>
        <p:nvSpPr>
          <p:cNvPr id="22" name="Text 20"/>
          <p:cNvSpPr/>
          <p:nvPr/>
        </p:nvSpPr>
        <p:spPr>
          <a:xfrm>
            <a:off x="658368" y="969264"/>
            <a:ext cx="10607040" cy="493776"/>
          </a:xfrm>
          <a:prstGeom prst="rect">
            <a:avLst/>
          </a:prstGeom>
          <a:noFill/>
          <a:ln/>
        </p:spPr>
        <p:txBody>
          <a:bodyPr wrap="square" lIns="0" tIns="0" rIns="0" bIns="0" rtlCol="0" anchor="t">
            <a:normAutofit/>
          </a:bodyPr>
          <a:lstStyle/>
          <a:p>
            <a:pPr algn="l" indent="0" marL="0">
              <a:buNone/>
            </a:pPr>
            <a:r>
              <a:rPr lang="en-US" sz="2900" b="1" dirty="0">
                <a:solidFill>
                  <a:srgbClr val="F5F7F8"/>
                </a:solidFill>
                <a:latin typeface="Aptos Display" pitchFamily="34" charset="0"/>
                <a:ea typeface="Aptos Display" pitchFamily="34" charset="-122"/>
                <a:cs typeface="Aptos Display" pitchFamily="34" charset="-120"/>
              </a:rPr>
              <a:t>Deux toolchains, un même contrat</a:t>
            </a:r>
            <a:endParaRPr lang="en-US" sz="2900" dirty="0"/>
          </a:p>
        </p:txBody>
      </p:sp>
      <p:sp>
        <p:nvSpPr>
          <p:cNvPr id="23" name="Text 21"/>
          <p:cNvSpPr/>
          <p:nvPr/>
        </p:nvSpPr>
        <p:spPr>
          <a:xfrm>
            <a:off x="658368" y="1499616"/>
            <a:ext cx="9966960" cy="256032"/>
          </a:xfrm>
          <a:prstGeom prst="rect">
            <a:avLst/>
          </a:prstGeom>
          <a:noFill/>
          <a:ln/>
        </p:spPr>
        <p:txBody>
          <a:bodyPr wrap="square" lIns="0" tIns="0" rIns="0" bIns="0" rtlCol="0" anchor="t">
            <a:normAutofit/>
          </a:bodyPr>
          <a:lstStyle/>
          <a:p>
            <a:pPr algn="l" indent="0" marL="0">
              <a:buNone/>
            </a:pPr>
            <a:r>
              <a:rPr lang="en-US" sz="1200" dirty="0">
                <a:solidFill>
                  <a:srgbClr val="9EADB8"/>
                </a:solidFill>
                <a:latin typeface="Aptos" pitchFamily="34" charset="0"/>
                <a:ea typeface="Aptos" pitchFamily="34" charset="-122"/>
                <a:cs typeface="Aptos" pitchFamily="34" charset="-120"/>
              </a:rPr>
              <a:t>Java et Angular gardent leurs outils ; les gates et les preuves restent communs.</a:t>
            </a:r>
            <a:endParaRPr lang="en-US" sz="1200" dirty="0"/>
          </a:p>
        </p:txBody>
      </p:sp>
      <p:sp>
        <p:nvSpPr>
          <p:cNvPr id="24" name="Text 22"/>
          <p:cNvSpPr/>
          <p:nvPr/>
        </p:nvSpPr>
        <p:spPr>
          <a:xfrm>
            <a:off x="731520" y="2048256"/>
            <a:ext cx="2194560" cy="164592"/>
          </a:xfrm>
          <a:prstGeom prst="rect">
            <a:avLst/>
          </a:prstGeom>
          <a:noFill/>
          <a:ln/>
        </p:spPr>
        <p:txBody>
          <a:bodyPr wrap="square" lIns="0" tIns="0" rIns="0" bIns="0" rtlCol="0" anchor="ctr">
            <a:normAutofit/>
          </a:bodyPr>
          <a:lstStyle/>
          <a:p>
            <a:pPr algn="l" indent="0" marL="0">
              <a:buNone/>
            </a:pPr>
            <a:r>
              <a:rPr lang="en-US" sz="840" b="1" spc="120" kern="0" dirty="0">
                <a:solidFill>
                  <a:srgbClr val="68D6E8"/>
                </a:solidFill>
                <a:latin typeface="Aptos Mono" pitchFamily="34" charset="0"/>
                <a:ea typeface="Aptos Mono" pitchFamily="34" charset="-122"/>
                <a:cs typeface="Aptos Mono" pitchFamily="34" charset="-120"/>
              </a:rPr>
              <a:t>PIPELINES SPÉCIFIQUES</a:t>
            </a:r>
            <a:endParaRPr lang="en-US" sz="840" dirty="0"/>
          </a:p>
        </p:txBody>
      </p:sp>
      <p:sp>
        <p:nvSpPr>
          <p:cNvPr id="25" name="Shape 23"/>
          <p:cNvSpPr/>
          <p:nvPr/>
        </p:nvSpPr>
        <p:spPr>
          <a:xfrm>
            <a:off x="6089904" y="2359152"/>
            <a:ext cx="0" cy="3310128"/>
          </a:xfrm>
          <a:prstGeom prst="line">
            <a:avLst/>
          </a:prstGeom>
          <a:noFill/>
          <a:ln w="10160">
            <a:solidFill>
              <a:srgbClr val="344653"/>
            </a:solidFill>
            <a:prstDash val="solid"/>
          </a:ln>
        </p:spPr>
      </p:sp>
      <p:sp>
        <p:nvSpPr>
          <p:cNvPr id="26" name="Text 24"/>
          <p:cNvSpPr/>
          <p:nvPr/>
        </p:nvSpPr>
        <p:spPr>
          <a:xfrm>
            <a:off x="841248" y="2487168"/>
            <a:ext cx="2834640" cy="164592"/>
          </a:xfrm>
          <a:prstGeom prst="rect">
            <a:avLst/>
          </a:prstGeom>
          <a:noFill/>
          <a:ln/>
        </p:spPr>
        <p:txBody>
          <a:bodyPr wrap="square" lIns="0" tIns="0" rIns="0" bIns="0" rtlCol="0" anchor="ctr">
            <a:normAutofit/>
          </a:bodyPr>
          <a:lstStyle/>
          <a:p>
            <a:pPr algn="l" indent="0" marL="0">
              <a:buNone/>
            </a:pPr>
            <a:r>
              <a:rPr lang="en-US" sz="1000" b="1" spc="100" kern="0" dirty="0">
                <a:solidFill>
                  <a:srgbClr val="4E9DFF"/>
                </a:solidFill>
                <a:latin typeface="Aptos Mono" pitchFamily="34" charset="0"/>
                <a:ea typeface="Aptos Mono" pitchFamily="34" charset="-122"/>
                <a:cs typeface="Aptos Mono" pitchFamily="34" charset="-120"/>
              </a:rPr>
              <a:t>JAVA / SPRING BOOT</a:t>
            </a:r>
            <a:endParaRPr lang="en-US" sz="1000" dirty="0"/>
          </a:p>
        </p:txBody>
      </p:sp>
      <p:sp>
        <p:nvSpPr>
          <p:cNvPr id="27" name="Text 25"/>
          <p:cNvSpPr/>
          <p:nvPr/>
        </p:nvSpPr>
        <p:spPr>
          <a:xfrm>
            <a:off x="841248" y="2761488"/>
            <a:ext cx="3017520" cy="201168"/>
          </a:xfrm>
          <a:prstGeom prst="rect">
            <a:avLst/>
          </a:prstGeom>
          <a:noFill/>
          <a:ln/>
        </p:spPr>
        <p:txBody>
          <a:bodyPr wrap="square" lIns="0" tIns="0" rIns="0" bIns="0" rtlCol="0" anchor="ctr">
            <a:normAutofit/>
          </a:bodyPr>
          <a:lstStyle/>
          <a:p>
            <a:pPr algn="l" indent="0" marL="0">
              <a:buNone/>
            </a:pPr>
            <a:r>
              <a:rPr lang="en-US" sz="1200" b="1" dirty="0">
                <a:solidFill>
                  <a:srgbClr val="F5F7F8"/>
                </a:solidFill>
                <a:latin typeface="Aptos Display" pitchFamily="34" charset="0"/>
                <a:ea typeface="Aptos Display" pitchFamily="34" charset="-122"/>
                <a:cs typeface="Aptos Display" pitchFamily="34" charset="-120"/>
              </a:rPr>
              <a:t>JDK · Maven · OpenRewrite</a:t>
            </a:r>
            <a:endParaRPr lang="en-US" sz="1200" dirty="0"/>
          </a:p>
        </p:txBody>
      </p:sp>
      <p:sp>
        <p:nvSpPr>
          <p:cNvPr id="28" name="Shape 26"/>
          <p:cNvSpPr/>
          <p:nvPr/>
        </p:nvSpPr>
        <p:spPr>
          <a:xfrm>
            <a:off x="1225296" y="3529584"/>
            <a:ext cx="4315968" cy="0"/>
          </a:xfrm>
          <a:prstGeom prst="line">
            <a:avLst/>
          </a:prstGeom>
          <a:noFill/>
          <a:ln w="21590">
            <a:solidFill>
              <a:srgbClr val="4E9DFF"/>
            </a:solidFill>
            <a:prstDash val="solid"/>
          </a:ln>
        </p:spPr>
      </p:sp>
      <p:sp>
        <p:nvSpPr>
          <p:cNvPr id="29" name="Shape 27"/>
          <p:cNvSpPr/>
          <p:nvPr/>
        </p:nvSpPr>
        <p:spPr>
          <a:xfrm>
            <a:off x="1234440" y="3364992"/>
            <a:ext cx="329184" cy="329184"/>
          </a:xfrm>
          <a:prstGeom prst="ellipse">
            <a:avLst/>
          </a:prstGeom>
          <a:solidFill>
            <a:srgbClr val="0B1117"/>
          </a:solidFill>
          <a:ln w="19050">
            <a:solidFill>
              <a:srgbClr val="4E9DFF"/>
            </a:solidFill>
            <a:prstDash val="solid"/>
          </a:ln>
        </p:spPr>
      </p:sp>
      <p:sp>
        <p:nvSpPr>
          <p:cNvPr id="30" name="Shape 28"/>
          <p:cNvSpPr/>
          <p:nvPr/>
        </p:nvSpPr>
        <p:spPr>
          <a:xfrm>
            <a:off x="1339596" y="3470148"/>
            <a:ext cx="118872" cy="118872"/>
          </a:xfrm>
          <a:prstGeom prst="ellipse">
            <a:avLst/>
          </a:prstGeom>
          <a:solidFill>
            <a:srgbClr val="4E9DFF"/>
          </a:solidFill>
          <a:ln w="12700">
            <a:solidFill>
              <a:srgbClr val="4E9DFF">
                <a:alpha val="0"/>
              </a:srgbClr>
            </a:solidFill>
            <a:prstDash val="solid"/>
          </a:ln>
        </p:spPr>
      </p:sp>
      <p:sp>
        <p:nvSpPr>
          <p:cNvPr id="31" name="Text 29"/>
          <p:cNvSpPr/>
          <p:nvPr/>
        </p:nvSpPr>
        <p:spPr>
          <a:xfrm>
            <a:off x="1005840" y="3840480"/>
            <a:ext cx="786384" cy="201168"/>
          </a:xfrm>
          <a:prstGeom prst="rect">
            <a:avLst/>
          </a:prstGeom>
          <a:noFill/>
          <a:ln/>
        </p:spPr>
        <p:txBody>
          <a:bodyPr wrap="square" lIns="0" tIns="0" rIns="0" bIns="0" rtlCol="0" anchor="ctr">
            <a:normAutofit/>
          </a:bodyPr>
          <a:lstStyle/>
          <a:p>
            <a:pPr algn="ctr" indent="0" marL="0">
              <a:buNone/>
            </a:pPr>
            <a:r>
              <a:rPr lang="en-US" sz="1220" b="1" dirty="0">
                <a:solidFill>
                  <a:srgbClr val="F5F7F8"/>
                </a:solidFill>
                <a:latin typeface="Aptos Display" pitchFamily="34" charset="0"/>
                <a:ea typeface="Aptos Display" pitchFamily="34" charset="-122"/>
                <a:cs typeface="Aptos Display" pitchFamily="34" charset="-120"/>
              </a:rPr>
              <a:t>JDK</a:t>
            </a:r>
            <a:endParaRPr lang="en-US" sz="1220" dirty="0"/>
          </a:p>
        </p:txBody>
      </p:sp>
      <p:sp>
        <p:nvSpPr>
          <p:cNvPr id="32" name="Text 30"/>
          <p:cNvSpPr/>
          <p:nvPr/>
        </p:nvSpPr>
        <p:spPr>
          <a:xfrm>
            <a:off x="859536" y="4133088"/>
            <a:ext cx="1078992" cy="182880"/>
          </a:xfrm>
          <a:prstGeom prst="rect">
            <a:avLst/>
          </a:prstGeom>
          <a:noFill/>
          <a:ln/>
        </p:spPr>
        <p:txBody>
          <a:bodyPr wrap="square" lIns="0" tIns="0" rIns="0" bIns="0" rtlCol="0" anchor="t">
            <a:normAutofit/>
          </a:bodyPr>
          <a:lstStyle/>
          <a:p>
            <a:pPr algn="ctr" indent="0" marL="0">
              <a:buNone/>
            </a:pPr>
            <a:r>
              <a:rPr lang="en-US" sz="820" dirty="0">
                <a:solidFill>
                  <a:srgbClr val="4E9DFF"/>
                </a:solidFill>
                <a:latin typeface="Aptos" pitchFamily="34" charset="0"/>
                <a:ea typeface="Aptos" pitchFamily="34" charset="-122"/>
                <a:cs typeface="Aptos" pitchFamily="34" charset="-120"/>
              </a:rPr>
              <a:t>outil</a:t>
            </a:r>
            <a:endParaRPr lang="en-US" sz="820" dirty="0"/>
          </a:p>
        </p:txBody>
      </p:sp>
      <p:sp>
        <p:nvSpPr>
          <p:cNvPr id="33" name="Shape 31"/>
          <p:cNvSpPr/>
          <p:nvPr/>
        </p:nvSpPr>
        <p:spPr>
          <a:xfrm>
            <a:off x="2386584" y="3364992"/>
            <a:ext cx="329184" cy="329184"/>
          </a:xfrm>
          <a:prstGeom prst="ellipse">
            <a:avLst/>
          </a:prstGeom>
          <a:solidFill>
            <a:srgbClr val="0B1117"/>
          </a:solidFill>
          <a:ln w="19050">
            <a:solidFill>
              <a:srgbClr val="4E9DFF"/>
            </a:solidFill>
            <a:prstDash val="solid"/>
          </a:ln>
        </p:spPr>
      </p:sp>
      <p:sp>
        <p:nvSpPr>
          <p:cNvPr id="34" name="Shape 32"/>
          <p:cNvSpPr/>
          <p:nvPr/>
        </p:nvSpPr>
        <p:spPr>
          <a:xfrm>
            <a:off x="2491740" y="3470148"/>
            <a:ext cx="118872" cy="118872"/>
          </a:xfrm>
          <a:prstGeom prst="ellipse">
            <a:avLst/>
          </a:prstGeom>
          <a:solidFill>
            <a:srgbClr val="4E9DFF"/>
          </a:solidFill>
          <a:ln w="12700">
            <a:solidFill>
              <a:srgbClr val="4E9DFF">
                <a:alpha val="0"/>
              </a:srgbClr>
            </a:solidFill>
            <a:prstDash val="solid"/>
          </a:ln>
        </p:spPr>
      </p:sp>
      <p:sp>
        <p:nvSpPr>
          <p:cNvPr id="35" name="Text 33"/>
          <p:cNvSpPr/>
          <p:nvPr/>
        </p:nvSpPr>
        <p:spPr>
          <a:xfrm>
            <a:off x="2157984" y="3840480"/>
            <a:ext cx="786384" cy="201168"/>
          </a:xfrm>
          <a:prstGeom prst="rect">
            <a:avLst/>
          </a:prstGeom>
          <a:noFill/>
          <a:ln/>
        </p:spPr>
        <p:txBody>
          <a:bodyPr wrap="square" lIns="0" tIns="0" rIns="0" bIns="0" rtlCol="0" anchor="ctr">
            <a:normAutofit/>
          </a:bodyPr>
          <a:lstStyle/>
          <a:p>
            <a:pPr algn="ctr" indent="0" marL="0">
              <a:buNone/>
            </a:pPr>
            <a:r>
              <a:rPr lang="en-US" sz="1220" b="1" dirty="0">
                <a:solidFill>
                  <a:srgbClr val="F5F7F8"/>
                </a:solidFill>
                <a:latin typeface="Aptos Display" pitchFamily="34" charset="0"/>
                <a:ea typeface="Aptos Display" pitchFamily="34" charset="-122"/>
                <a:cs typeface="Aptos Display" pitchFamily="34" charset="-120"/>
              </a:rPr>
              <a:t>Maven</a:t>
            </a:r>
            <a:endParaRPr lang="en-US" sz="1220" dirty="0"/>
          </a:p>
        </p:txBody>
      </p:sp>
      <p:sp>
        <p:nvSpPr>
          <p:cNvPr id="36" name="Text 34"/>
          <p:cNvSpPr/>
          <p:nvPr/>
        </p:nvSpPr>
        <p:spPr>
          <a:xfrm>
            <a:off x="2011680" y="4133088"/>
            <a:ext cx="1078992" cy="182880"/>
          </a:xfrm>
          <a:prstGeom prst="rect">
            <a:avLst/>
          </a:prstGeom>
          <a:noFill/>
          <a:ln/>
        </p:spPr>
        <p:txBody>
          <a:bodyPr wrap="square" lIns="0" tIns="0" rIns="0" bIns="0" rtlCol="0" anchor="t">
            <a:normAutofit/>
          </a:bodyPr>
          <a:lstStyle/>
          <a:p>
            <a:pPr algn="ctr" indent="0" marL="0">
              <a:buNone/>
            </a:pPr>
            <a:r>
              <a:rPr lang="en-US" sz="820" dirty="0">
                <a:solidFill>
                  <a:srgbClr val="4E9DFF"/>
                </a:solidFill>
                <a:latin typeface="Aptos" pitchFamily="34" charset="0"/>
                <a:ea typeface="Aptos" pitchFamily="34" charset="-122"/>
                <a:cs typeface="Aptos" pitchFamily="34" charset="-120"/>
              </a:rPr>
              <a:t>outil</a:t>
            </a:r>
            <a:endParaRPr lang="en-US" sz="820" dirty="0"/>
          </a:p>
        </p:txBody>
      </p:sp>
      <p:sp>
        <p:nvSpPr>
          <p:cNvPr id="37" name="Shape 35"/>
          <p:cNvSpPr/>
          <p:nvPr/>
        </p:nvSpPr>
        <p:spPr>
          <a:xfrm>
            <a:off x="3538728" y="3364992"/>
            <a:ext cx="329184" cy="329184"/>
          </a:xfrm>
          <a:prstGeom prst="ellipse">
            <a:avLst/>
          </a:prstGeom>
          <a:solidFill>
            <a:srgbClr val="0B1117"/>
          </a:solidFill>
          <a:ln w="19050">
            <a:solidFill>
              <a:srgbClr val="4E9DFF"/>
            </a:solidFill>
            <a:prstDash val="solid"/>
          </a:ln>
        </p:spPr>
      </p:sp>
      <p:sp>
        <p:nvSpPr>
          <p:cNvPr id="38" name="Shape 36"/>
          <p:cNvSpPr/>
          <p:nvPr/>
        </p:nvSpPr>
        <p:spPr>
          <a:xfrm>
            <a:off x="3643884" y="3470148"/>
            <a:ext cx="118872" cy="118872"/>
          </a:xfrm>
          <a:prstGeom prst="ellipse">
            <a:avLst/>
          </a:prstGeom>
          <a:solidFill>
            <a:srgbClr val="4E9DFF"/>
          </a:solidFill>
          <a:ln w="12700">
            <a:solidFill>
              <a:srgbClr val="4E9DFF">
                <a:alpha val="0"/>
              </a:srgbClr>
            </a:solidFill>
            <a:prstDash val="solid"/>
          </a:ln>
        </p:spPr>
      </p:sp>
      <p:sp>
        <p:nvSpPr>
          <p:cNvPr id="39" name="Text 37"/>
          <p:cNvSpPr/>
          <p:nvPr/>
        </p:nvSpPr>
        <p:spPr>
          <a:xfrm>
            <a:off x="3310128" y="3840480"/>
            <a:ext cx="786384" cy="201168"/>
          </a:xfrm>
          <a:prstGeom prst="rect">
            <a:avLst/>
          </a:prstGeom>
          <a:noFill/>
          <a:ln/>
        </p:spPr>
        <p:txBody>
          <a:bodyPr wrap="square" lIns="0" tIns="0" rIns="0" bIns="0" rtlCol="0" anchor="ctr">
            <a:normAutofit/>
          </a:bodyPr>
          <a:lstStyle/>
          <a:p>
            <a:pPr algn="ctr" indent="0" marL="0">
              <a:buNone/>
            </a:pPr>
            <a:r>
              <a:rPr lang="en-US" sz="1220" b="1" dirty="0">
                <a:solidFill>
                  <a:srgbClr val="F5F7F8"/>
                </a:solidFill>
                <a:latin typeface="Aptos Display" pitchFamily="34" charset="0"/>
                <a:ea typeface="Aptos Display" pitchFamily="34" charset="-122"/>
                <a:cs typeface="Aptos Display" pitchFamily="34" charset="-120"/>
              </a:rPr>
              <a:t>Rewrite</a:t>
            </a:r>
            <a:endParaRPr lang="en-US" sz="1220" dirty="0"/>
          </a:p>
        </p:txBody>
      </p:sp>
      <p:sp>
        <p:nvSpPr>
          <p:cNvPr id="40" name="Text 38"/>
          <p:cNvSpPr/>
          <p:nvPr/>
        </p:nvSpPr>
        <p:spPr>
          <a:xfrm>
            <a:off x="3163824" y="4133088"/>
            <a:ext cx="1078992" cy="182880"/>
          </a:xfrm>
          <a:prstGeom prst="rect">
            <a:avLst/>
          </a:prstGeom>
          <a:noFill/>
          <a:ln/>
        </p:spPr>
        <p:txBody>
          <a:bodyPr wrap="square" lIns="0" tIns="0" rIns="0" bIns="0" rtlCol="0" anchor="t">
            <a:normAutofit/>
          </a:bodyPr>
          <a:lstStyle/>
          <a:p>
            <a:pPr algn="ctr" indent="0" marL="0">
              <a:buNone/>
            </a:pPr>
            <a:r>
              <a:rPr lang="en-US" sz="820" dirty="0">
                <a:solidFill>
                  <a:srgbClr val="4E9DFF"/>
                </a:solidFill>
                <a:latin typeface="Aptos" pitchFamily="34" charset="0"/>
                <a:ea typeface="Aptos" pitchFamily="34" charset="-122"/>
                <a:cs typeface="Aptos" pitchFamily="34" charset="-120"/>
              </a:rPr>
              <a:t>outil</a:t>
            </a:r>
            <a:endParaRPr lang="en-US" sz="820" dirty="0"/>
          </a:p>
        </p:txBody>
      </p:sp>
      <p:sp>
        <p:nvSpPr>
          <p:cNvPr id="41" name="Shape 39"/>
          <p:cNvSpPr/>
          <p:nvPr/>
        </p:nvSpPr>
        <p:spPr>
          <a:xfrm>
            <a:off x="4690872" y="3364992"/>
            <a:ext cx="329184" cy="329184"/>
          </a:xfrm>
          <a:prstGeom prst="ellipse">
            <a:avLst/>
          </a:prstGeom>
          <a:solidFill>
            <a:srgbClr val="0B1117"/>
          </a:solidFill>
          <a:ln w="19050">
            <a:solidFill>
              <a:srgbClr val="41D3AE"/>
            </a:solidFill>
            <a:prstDash val="solid"/>
          </a:ln>
        </p:spPr>
      </p:sp>
      <p:sp>
        <p:nvSpPr>
          <p:cNvPr id="42" name="Shape 40"/>
          <p:cNvSpPr/>
          <p:nvPr/>
        </p:nvSpPr>
        <p:spPr>
          <a:xfrm>
            <a:off x="4796028" y="3470148"/>
            <a:ext cx="118872" cy="118872"/>
          </a:xfrm>
          <a:prstGeom prst="ellipse">
            <a:avLst/>
          </a:prstGeom>
          <a:solidFill>
            <a:srgbClr val="41D3AE"/>
          </a:solidFill>
          <a:ln w="12700">
            <a:solidFill>
              <a:srgbClr val="41D3AE">
                <a:alpha val="0"/>
              </a:srgbClr>
            </a:solidFill>
            <a:prstDash val="solid"/>
          </a:ln>
        </p:spPr>
      </p:sp>
      <p:sp>
        <p:nvSpPr>
          <p:cNvPr id="43" name="Text 41"/>
          <p:cNvSpPr/>
          <p:nvPr/>
        </p:nvSpPr>
        <p:spPr>
          <a:xfrm>
            <a:off x="4462272" y="3840480"/>
            <a:ext cx="786384" cy="201168"/>
          </a:xfrm>
          <a:prstGeom prst="rect">
            <a:avLst/>
          </a:prstGeom>
          <a:noFill/>
          <a:ln/>
        </p:spPr>
        <p:txBody>
          <a:bodyPr wrap="square" lIns="0" tIns="0" rIns="0" bIns="0" rtlCol="0" anchor="ctr">
            <a:normAutofit/>
          </a:bodyPr>
          <a:lstStyle/>
          <a:p>
            <a:pPr algn="ctr" indent="0" marL="0">
              <a:buNone/>
            </a:pPr>
            <a:r>
              <a:rPr lang="en-US" sz="1220" b="1" dirty="0">
                <a:solidFill>
                  <a:srgbClr val="F5F7F8"/>
                </a:solidFill>
                <a:latin typeface="Aptos Display" pitchFamily="34" charset="0"/>
                <a:ea typeface="Aptos Display" pitchFamily="34" charset="-122"/>
                <a:cs typeface="Aptos Display" pitchFamily="34" charset="-120"/>
              </a:rPr>
              <a:t>Tests</a:t>
            </a:r>
            <a:endParaRPr lang="en-US" sz="1220" dirty="0"/>
          </a:p>
        </p:txBody>
      </p:sp>
      <p:sp>
        <p:nvSpPr>
          <p:cNvPr id="44" name="Text 42"/>
          <p:cNvSpPr/>
          <p:nvPr/>
        </p:nvSpPr>
        <p:spPr>
          <a:xfrm>
            <a:off x="4315968" y="4133088"/>
            <a:ext cx="1078992" cy="182880"/>
          </a:xfrm>
          <a:prstGeom prst="rect">
            <a:avLst/>
          </a:prstGeom>
          <a:noFill/>
          <a:ln/>
        </p:spPr>
        <p:txBody>
          <a:bodyPr wrap="square" lIns="0" tIns="0" rIns="0" bIns="0" rtlCol="0" anchor="t">
            <a:normAutofit/>
          </a:bodyPr>
          <a:lstStyle/>
          <a:p>
            <a:pPr algn="ctr" indent="0" marL="0">
              <a:buNone/>
            </a:pPr>
            <a:r>
              <a:rPr lang="en-US" sz="820" dirty="0">
                <a:solidFill>
                  <a:srgbClr val="41D3AE"/>
                </a:solidFill>
                <a:latin typeface="Aptos" pitchFamily="34" charset="0"/>
                <a:ea typeface="Aptos" pitchFamily="34" charset="-122"/>
                <a:cs typeface="Aptos" pitchFamily="34" charset="-120"/>
              </a:rPr>
              <a:t>preuve</a:t>
            </a:r>
            <a:endParaRPr lang="en-US" sz="820" dirty="0"/>
          </a:p>
        </p:txBody>
      </p:sp>
      <p:sp>
        <p:nvSpPr>
          <p:cNvPr id="45" name="Text 43"/>
          <p:cNvSpPr/>
          <p:nvPr/>
        </p:nvSpPr>
        <p:spPr>
          <a:xfrm>
            <a:off x="6473952" y="2487168"/>
            <a:ext cx="1920240" cy="164592"/>
          </a:xfrm>
          <a:prstGeom prst="rect">
            <a:avLst/>
          </a:prstGeom>
          <a:noFill/>
          <a:ln/>
        </p:spPr>
        <p:txBody>
          <a:bodyPr wrap="square" lIns="0" tIns="0" rIns="0" bIns="0" rtlCol="0" anchor="ctr">
            <a:normAutofit/>
          </a:bodyPr>
          <a:lstStyle/>
          <a:p>
            <a:pPr algn="l" indent="0" marL="0">
              <a:buNone/>
            </a:pPr>
            <a:r>
              <a:rPr lang="en-US" sz="1000" b="1" spc="100" kern="0" dirty="0">
                <a:solidFill>
                  <a:srgbClr val="68D6E8"/>
                </a:solidFill>
                <a:latin typeface="Aptos Mono" pitchFamily="34" charset="0"/>
                <a:ea typeface="Aptos Mono" pitchFamily="34" charset="-122"/>
                <a:cs typeface="Aptos Mono" pitchFamily="34" charset="-120"/>
              </a:rPr>
              <a:t>ANGULAR</a:t>
            </a:r>
            <a:endParaRPr lang="en-US" sz="1000" dirty="0"/>
          </a:p>
        </p:txBody>
      </p:sp>
      <p:sp>
        <p:nvSpPr>
          <p:cNvPr id="46" name="Text 44"/>
          <p:cNvSpPr/>
          <p:nvPr/>
        </p:nvSpPr>
        <p:spPr>
          <a:xfrm>
            <a:off x="6473952" y="2761488"/>
            <a:ext cx="4069080" cy="201168"/>
          </a:xfrm>
          <a:prstGeom prst="rect">
            <a:avLst/>
          </a:prstGeom>
          <a:noFill/>
          <a:ln/>
        </p:spPr>
        <p:txBody>
          <a:bodyPr wrap="square" lIns="0" tIns="0" rIns="0" bIns="0" rtlCol="0" anchor="ctr">
            <a:normAutofit/>
          </a:bodyPr>
          <a:lstStyle/>
          <a:p>
            <a:pPr algn="l" indent="0" marL="0">
              <a:buNone/>
            </a:pPr>
            <a:r>
              <a:rPr lang="en-US" sz="1200" b="1" dirty="0">
                <a:solidFill>
                  <a:srgbClr val="F5F7F8"/>
                </a:solidFill>
                <a:latin typeface="Aptos Display" pitchFamily="34" charset="0"/>
                <a:ea typeface="Aptos Display" pitchFamily="34" charset="-122"/>
                <a:cs typeface="Aptos Display" pitchFamily="34" charset="-120"/>
              </a:rPr>
              <a:t>Node.js · npm · CLI · TypeScript</a:t>
            </a:r>
            <a:endParaRPr lang="en-US" sz="1200" dirty="0"/>
          </a:p>
        </p:txBody>
      </p:sp>
      <p:sp>
        <p:nvSpPr>
          <p:cNvPr id="47" name="Shape 45"/>
          <p:cNvSpPr/>
          <p:nvPr/>
        </p:nvSpPr>
        <p:spPr>
          <a:xfrm>
            <a:off x="6858000" y="3529584"/>
            <a:ext cx="4315968" cy="0"/>
          </a:xfrm>
          <a:prstGeom prst="line">
            <a:avLst/>
          </a:prstGeom>
          <a:noFill/>
          <a:ln w="21590">
            <a:solidFill>
              <a:srgbClr val="68D6E8"/>
            </a:solidFill>
            <a:prstDash val="solid"/>
          </a:ln>
        </p:spPr>
      </p:sp>
      <p:sp>
        <p:nvSpPr>
          <p:cNvPr id="48" name="Shape 46"/>
          <p:cNvSpPr/>
          <p:nvPr/>
        </p:nvSpPr>
        <p:spPr>
          <a:xfrm>
            <a:off x="6848856" y="3364992"/>
            <a:ext cx="329184" cy="329184"/>
          </a:xfrm>
          <a:prstGeom prst="ellipse">
            <a:avLst/>
          </a:prstGeom>
          <a:solidFill>
            <a:srgbClr val="0B1117"/>
          </a:solidFill>
          <a:ln w="19050">
            <a:solidFill>
              <a:srgbClr val="68D6E8"/>
            </a:solidFill>
            <a:prstDash val="solid"/>
          </a:ln>
        </p:spPr>
      </p:sp>
      <p:sp>
        <p:nvSpPr>
          <p:cNvPr id="49" name="Shape 47"/>
          <p:cNvSpPr/>
          <p:nvPr/>
        </p:nvSpPr>
        <p:spPr>
          <a:xfrm>
            <a:off x="6954012" y="3470148"/>
            <a:ext cx="118872" cy="118872"/>
          </a:xfrm>
          <a:prstGeom prst="ellipse">
            <a:avLst/>
          </a:prstGeom>
          <a:solidFill>
            <a:srgbClr val="68D6E8"/>
          </a:solidFill>
          <a:ln w="12700">
            <a:solidFill>
              <a:srgbClr val="68D6E8">
                <a:alpha val="0"/>
              </a:srgbClr>
            </a:solidFill>
            <a:prstDash val="solid"/>
          </a:ln>
        </p:spPr>
      </p:sp>
      <p:sp>
        <p:nvSpPr>
          <p:cNvPr id="50" name="Text 48"/>
          <p:cNvSpPr/>
          <p:nvPr/>
        </p:nvSpPr>
        <p:spPr>
          <a:xfrm>
            <a:off x="6620256" y="3840480"/>
            <a:ext cx="786384" cy="201168"/>
          </a:xfrm>
          <a:prstGeom prst="rect">
            <a:avLst/>
          </a:prstGeom>
          <a:noFill/>
          <a:ln/>
        </p:spPr>
        <p:txBody>
          <a:bodyPr wrap="square" lIns="0" tIns="0" rIns="0" bIns="0" rtlCol="0" anchor="ctr">
            <a:normAutofit/>
          </a:bodyPr>
          <a:lstStyle/>
          <a:p>
            <a:pPr algn="ctr" indent="0" marL="0">
              <a:buNone/>
            </a:pPr>
            <a:r>
              <a:rPr lang="en-US" sz="1220" b="1" dirty="0">
                <a:solidFill>
                  <a:srgbClr val="F5F7F8"/>
                </a:solidFill>
                <a:latin typeface="Aptos Display" pitchFamily="34" charset="0"/>
                <a:ea typeface="Aptos Display" pitchFamily="34" charset="-122"/>
                <a:cs typeface="Aptos Display" pitchFamily="34" charset="-120"/>
              </a:rPr>
              <a:t>Node</a:t>
            </a:r>
            <a:endParaRPr lang="en-US" sz="1220" dirty="0"/>
          </a:p>
        </p:txBody>
      </p:sp>
      <p:sp>
        <p:nvSpPr>
          <p:cNvPr id="51" name="Text 49"/>
          <p:cNvSpPr/>
          <p:nvPr/>
        </p:nvSpPr>
        <p:spPr>
          <a:xfrm>
            <a:off x="6473952" y="4133088"/>
            <a:ext cx="1078992" cy="182880"/>
          </a:xfrm>
          <a:prstGeom prst="rect">
            <a:avLst/>
          </a:prstGeom>
          <a:noFill/>
          <a:ln/>
        </p:spPr>
        <p:txBody>
          <a:bodyPr wrap="square" lIns="0" tIns="0" rIns="0" bIns="0" rtlCol="0" anchor="t">
            <a:normAutofit/>
          </a:bodyPr>
          <a:lstStyle/>
          <a:p>
            <a:pPr algn="ctr" indent="0" marL="0">
              <a:buNone/>
            </a:pPr>
            <a:r>
              <a:rPr lang="en-US" sz="820" dirty="0">
                <a:solidFill>
                  <a:srgbClr val="68D6E8"/>
                </a:solidFill>
                <a:latin typeface="Aptos" pitchFamily="34" charset="0"/>
                <a:ea typeface="Aptos" pitchFamily="34" charset="-122"/>
                <a:cs typeface="Aptos" pitchFamily="34" charset="-120"/>
              </a:rPr>
              <a:t>outil</a:t>
            </a:r>
            <a:endParaRPr lang="en-US" sz="820" dirty="0"/>
          </a:p>
        </p:txBody>
      </p:sp>
      <p:sp>
        <p:nvSpPr>
          <p:cNvPr id="52" name="Shape 50"/>
          <p:cNvSpPr/>
          <p:nvPr/>
        </p:nvSpPr>
        <p:spPr>
          <a:xfrm>
            <a:off x="8001000" y="3364992"/>
            <a:ext cx="329184" cy="329184"/>
          </a:xfrm>
          <a:prstGeom prst="ellipse">
            <a:avLst/>
          </a:prstGeom>
          <a:solidFill>
            <a:srgbClr val="0B1117"/>
          </a:solidFill>
          <a:ln w="19050">
            <a:solidFill>
              <a:srgbClr val="68D6E8"/>
            </a:solidFill>
            <a:prstDash val="solid"/>
          </a:ln>
        </p:spPr>
      </p:sp>
      <p:sp>
        <p:nvSpPr>
          <p:cNvPr id="53" name="Shape 51"/>
          <p:cNvSpPr/>
          <p:nvPr/>
        </p:nvSpPr>
        <p:spPr>
          <a:xfrm>
            <a:off x="8106156" y="3470148"/>
            <a:ext cx="118872" cy="118872"/>
          </a:xfrm>
          <a:prstGeom prst="ellipse">
            <a:avLst/>
          </a:prstGeom>
          <a:solidFill>
            <a:srgbClr val="68D6E8"/>
          </a:solidFill>
          <a:ln w="12700">
            <a:solidFill>
              <a:srgbClr val="68D6E8">
                <a:alpha val="0"/>
              </a:srgbClr>
            </a:solidFill>
            <a:prstDash val="solid"/>
          </a:ln>
        </p:spPr>
      </p:sp>
      <p:sp>
        <p:nvSpPr>
          <p:cNvPr id="54" name="Text 52"/>
          <p:cNvSpPr/>
          <p:nvPr/>
        </p:nvSpPr>
        <p:spPr>
          <a:xfrm>
            <a:off x="7772400" y="3840480"/>
            <a:ext cx="786384" cy="201168"/>
          </a:xfrm>
          <a:prstGeom prst="rect">
            <a:avLst/>
          </a:prstGeom>
          <a:noFill/>
          <a:ln/>
        </p:spPr>
        <p:txBody>
          <a:bodyPr wrap="square" lIns="0" tIns="0" rIns="0" bIns="0" rtlCol="0" anchor="ctr">
            <a:normAutofit/>
          </a:bodyPr>
          <a:lstStyle/>
          <a:p>
            <a:pPr algn="ctr" indent="0" marL="0">
              <a:buNone/>
            </a:pPr>
            <a:r>
              <a:rPr lang="en-US" sz="1220" b="1" dirty="0">
                <a:solidFill>
                  <a:srgbClr val="F5F7F8"/>
                </a:solidFill>
                <a:latin typeface="Aptos Display" pitchFamily="34" charset="0"/>
                <a:ea typeface="Aptos Display" pitchFamily="34" charset="-122"/>
                <a:cs typeface="Aptos Display" pitchFamily="34" charset="-120"/>
              </a:rPr>
              <a:t>npm</a:t>
            </a:r>
            <a:endParaRPr lang="en-US" sz="1220" dirty="0"/>
          </a:p>
        </p:txBody>
      </p:sp>
      <p:sp>
        <p:nvSpPr>
          <p:cNvPr id="55" name="Text 53"/>
          <p:cNvSpPr/>
          <p:nvPr/>
        </p:nvSpPr>
        <p:spPr>
          <a:xfrm>
            <a:off x="7626096" y="4133088"/>
            <a:ext cx="1078992" cy="182880"/>
          </a:xfrm>
          <a:prstGeom prst="rect">
            <a:avLst/>
          </a:prstGeom>
          <a:noFill/>
          <a:ln/>
        </p:spPr>
        <p:txBody>
          <a:bodyPr wrap="square" lIns="0" tIns="0" rIns="0" bIns="0" rtlCol="0" anchor="t">
            <a:normAutofit/>
          </a:bodyPr>
          <a:lstStyle/>
          <a:p>
            <a:pPr algn="ctr" indent="0" marL="0">
              <a:buNone/>
            </a:pPr>
            <a:r>
              <a:rPr lang="en-US" sz="820" dirty="0">
                <a:solidFill>
                  <a:srgbClr val="68D6E8"/>
                </a:solidFill>
                <a:latin typeface="Aptos" pitchFamily="34" charset="0"/>
                <a:ea typeface="Aptos" pitchFamily="34" charset="-122"/>
                <a:cs typeface="Aptos" pitchFamily="34" charset="-120"/>
              </a:rPr>
              <a:t>outil</a:t>
            </a:r>
            <a:endParaRPr lang="en-US" sz="820" dirty="0"/>
          </a:p>
        </p:txBody>
      </p:sp>
      <p:sp>
        <p:nvSpPr>
          <p:cNvPr id="56" name="Shape 54"/>
          <p:cNvSpPr/>
          <p:nvPr/>
        </p:nvSpPr>
        <p:spPr>
          <a:xfrm>
            <a:off x="9153144" y="3364992"/>
            <a:ext cx="329184" cy="329184"/>
          </a:xfrm>
          <a:prstGeom prst="ellipse">
            <a:avLst/>
          </a:prstGeom>
          <a:solidFill>
            <a:srgbClr val="0B1117"/>
          </a:solidFill>
          <a:ln w="19050">
            <a:solidFill>
              <a:srgbClr val="68D6E8"/>
            </a:solidFill>
            <a:prstDash val="solid"/>
          </a:ln>
        </p:spPr>
      </p:sp>
      <p:sp>
        <p:nvSpPr>
          <p:cNvPr id="57" name="Shape 55"/>
          <p:cNvSpPr/>
          <p:nvPr/>
        </p:nvSpPr>
        <p:spPr>
          <a:xfrm>
            <a:off x="9258300" y="3470148"/>
            <a:ext cx="118872" cy="118872"/>
          </a:xfrm>
          <a:prstGeom prst="ellipse">
            <a:avLst/>
          </a:prstGeom>
          <a:solidFill>
            <a:srgbClr val="68D6E8"/>
          </a:solidFill>
          <a:ln w="12700">
            <a:solidFill>
              <a:srgbClr val="68D6E8">
                <a:alpha val="0"/>
              </a:srgbClr>
            </a:solidFill>
            <a:prstDash val="solid"/>
          </a:ln>
        </p:spPr>
      </p:sp>
      <p:sp>
        <p:nvSpPr>
          <p:cNvPr id="58" name="Text 56"/>
          <p:cNvSpPr/>
          <p:nvPr/>
        </p:nvSpPr>
        <p:spPr>
          <a:xfrm>
            <a:off x="8924544" y="3840480"/>
            <a:ext cx="786384" cy="201168"/>
          </a:xfrm>
          <a:prstGeom prst="rect">
            <a:avLst/>
          </a:prstGeom>
          <a:noFill/>
          <a:ln/>
        </p:spPr>
        <p:txBody>
          <a:bodyPr wrap="square" lIns="0" tIns="0" rIns="0" bIns="0" rtlCol="0" anchor="ctr">
            <a:normAutofit/>
          </a:bodyPr>
          <a:lstStyle/>
          <a:p>
            <a:pPr algn="ctr" indent="0" marL="0">
              <a:buNone/>
            </a:pPr>
            <a:r>
              <a:rPr lang="en-US" sz="1220" b="1" dirty="0">
                <a:solidFill>
                  <a:srgbClr val="F5F7F8"/>
                </a:solidFill>
                <a:latin typeface="Aptos Display" pitchFamily="34" charset="0"/>
                <a:ea typeface="Aptos Display" pitchFamily="34" charset="-122"/>
                <a:cs typeface="Aptos Display" pitchFamily="34" charset="-120"/>
              </a:rPr>
              <a:t>CLI</a:t>
            </a:r>
            <a:endParaRPr lang="en-US" sz="1220" dirty="0"/>
          </a:p>
        </p:txBody>
      </p:sp>
      <p:sp>
        <p:nvSpPr>
          <p:cNvPr id="59" name="Text 57"/>
          <p:cNvSpPr/>
          <p:nvPr/>
        </p:nvSpPr>
        <p:spPr>
          <a:xfrm>
            <a:off x="8778240" y="4133088"/>
            <a:ext cx="1078992" cy="182880"/>
          </a:xfrm>
          <a:prstGeom prst="rect">
            <a:avLst/>
          </a:prstGeom>
          <a:noFill/>
          <a:ln/>
        </p:spPr>
        <p:txBody>
          <a:bodyPr wrap="square" lIns="0" tIns="0" rIns="0" bIns="0" rtlCol="0" anchor="t">
            <a:normAutofit/>
          </a:bodyPr>
          <a:lstStyle/>
          <a:p>
            <a:pPr algn="ctr" indent="0" marL="0">
              <a:buNone/>
            </a:pPr>
            <a:r>
              <a:rPr lang="en-US" sz="820" dirty="0">
                <a:solidFill>
                  <a:srgbClr val="68D6E8"/>
                </a:solidFill>
                <a:latin typeface="Aptos" pitchFamily="34" charset="0"/>
                <a:ea typeface="Aptos" pitchFamily="34" charset="-122"/>
                <a:cs typeface="Aptos" pitchFamily="34" charset="-120"/>
              </a:rPr>
              <a:t>outil</a:t>
            </a:r>
            <a:endParaRPr lang="en-US" sz="820" dirty="0"/>
          </a:p>
        </p:txBody>
      </p:sp>
      <p:sp>
        <p:nvSpPr>
          <p:cNvPr id="60" name="Shape 58"/>
          <p:cNvSpPr/>
          <p:nvPr/>
        </p:nvSpPr>
        <p:spPr>
          <a:xfrm>
            <a:off x="10305288" y="3364992"/>
            <a:ext cx="329184" cy="329184"/>
          </a:xfrm>
          <a:prstGeom prst="ellipse">
            <a:avLst/>
          </a:prstGeom>
          <a:solidFill>
            <a:srgbClr val="0B1117"/>
          </a:solidFill>
          <a:ln w="19050">
            <a:solidFill>
              <a:srgbClr val="41D3AE"/>
            </a:solidFill>
            <a:prstDash val="solid"/>
          </a:ln>
        </p:spPr>
      </p:sp>
      <p:sp>
        <p:nvSpPr>
          <p:cNvPr id="61" name="Shape 59"/>
          <p:cNvSpPr/>
          <p:nvPr/>
        </p:nvSpPr>
        <p:spPr>
          <a:xfrm>
            <a:off x="10410444" y="3470148"/>
            <a:ext cx="118872" cy="118872"/>
          </a:xfrm>
          <a:prstGeom prst="ellipse">
            <a:avLst/>
          </a:prstGeom>
          <a:solidFill>
            <a:srgbClr val="41D3AE"/>
          </a:solidFill>
          <a:ln w="12700">
            <a:solidFill>
              <a:srgbClr val="41D3AE">
                <a:alpha val="0"/>
              </a:srgbClr>
            </a:solidFill>
            <a:prstDash val="solid"/>
          </a:ln>
        </p:spPr>
      </p:sp>
      <p:sp>
        <p:nvSpPr>
          <p:cNvPr id="62" name="Text 60"/>
          <p:cNvSpPr/>
          <p:nvPr/>
        </p:nvSpPr>
        <p:spPr>
          <a:xfrm>
            <a:off x="10076688" y="3840480"/>
            <a:ext cx="786384" cy="201168"/>
          </a:xfrm>
          <a:prstGeom prst="rect">
            <a:avLst/>
          </a:prstGeom>
          <a:noFill/>
          <a:ln/>
        </p:spPr>
        <p:txBody>
          <a:bodyPr wrap="square" lIns="0" tIns="0" rIns="0" bIns="0" rtlCol="0" anchor="ctr">
            <a:normAutofit/>
          </a:bodyPr>
          <a:lstStyle/>
          <a:p>
            <a:pPr algn="ctr" indent="0" marL="0">
              <a:buNone/>
            </a:pPr>
            <a:r>
              <a:rPr lang="en-US" sz="1220" b="1" dirty="0">
                <a:solidFill>
                  <a:srgbClr val="F5F7F8"/>
                </a:solidFill>
                <a:latin typeface="Aptos Display" pitchFamily="34" charset="0"/>
                <a:ea typeface="Aptos Display" pitchFamily="34" charset="-122"/>
                <a:cs typeface="Aptos Display" pitchFamily="34" charset="-120"/>
              </a:rPr>
              <a:t>Build</a:t>
            </a:r>
            <a:endParaRPr lang="en-US" sz="1220" dirty="0"/>
          </a:p>
        </p:txBody>
      </p:sp>
      <p:sp>
        <p:nvSpPr>
          <p:cNvPr id="63" name="Text 61"/>
          <p:cNvSpPr/>
          <p:nvPr/>
        </p:nvSpPr>
        <p:spPr>
          <a:xfrm>
            <a:off x="9930384" y="4133088"/>
            <a:ext cx="1078992" cy="182880"/>
          </a:xfrm>
          <a:prstGeom prst="rect">
            <a:avLst/>
          </a:prstGeom>
          <a:noFill/>
          <a:ln/>
        </p:spPr>
        <p:txBody>
          <a:bodyPr wrap="square" lIns="0" tIns="0" rIns="0" bIns="0" rtlCol="0" anchor="t">
            <a:normAutofit/>
          </a:bodyPr>
          <a:lstStyle/>
          <a:p>
            <a:pPr algn="ctr" indent="0" marL="0">
              <a:buNone/>
            </a:pPr>
            <a:r>
              <a:rPr lang="en-US" sz="820" dirty="0">
                <a:solidFill>
                  <a:srgbClr val="41D3AE"/>
                </a:solidFill>
                <a:latin typeface="Aptos" pitchFamily="34" charset="0"/>
                <a:ea typeface="Aptos" pitchFamily="34" charset="-122"/>
                <a:cs typeface="Aptos" pitchFamily="34" charset="-120"/>
              </a:rPr>
              <a:t>preuve</a:t>
            </a:r>
            <a:endParaRPr lang="en-US" sz="820" dirty="0"/>
          </a:p>
        </p:txBody>
      </p:sp>
      <p:sp>
        <p:nvSpPr>
          <p:cNvPr id="64" name="Shape 62"/>
          <p:cNvSpPr/>
          <p:nvPr/>
        </p:nvSpPr>
        <p:spPr>
          <a:xfrm>
            <a:off x="841248" y="5102352"/>
            <a:ext cx="10442448" cy="603504"/>
          </a:xfrm>
          <a:prstGeom prst="rect">
            <a:avLst/>
          </a:prstGeom>
          <a:solidFill>
            <a:srgbClr val="1B2A35"/>
          </a:solidFill>
          <a:ln w="12700">
            <a:solidFill>
              <a:srgbClr val="F4B84A"/>
            </a:solidFill>
            <a:prstDash val="solid"/>
          </a:ln>
        </p:spPr>
      </p:sp>
      <p:sp>
        <p:nvSpPr>
          <p:cNvPr id="65" name="Text 63"/>
          <p:cNvSpPr/>
          <p:nvPr/>
        </p:nvSpPr>
        <p:spPr>
          <a:xfrm>
            <a:off x="1097280" y="5321808"/>
            <a:ext cx="1554480" cy="146304"/>
          </a:xfrm>
          <a:prstGeom prst="rect">
            <a:avLst/>
          </a:prstGeom>
          <a:noFill/>
          <a:ln/>
        </p:spPr>
        <p:txBody>
          <a:bodyPr wrap="square" lIns="0" tIns="0" rIns="0" bIns="0" rtlCol="0" anchor="ctr">
            <a:normAutofit/>
          </a:bodyPr>
          <a:lstStyle/>
          <a:p>
            <a:pPr algn="l" indent="0" marL="0">
              <a:buNone/>
            </a:pPr>
            <a:r>
              <a:rPr lang="en-US" sz="770" b="1" spc="85" kern="0" dirty="0">
                <a:solidFill>
                  <a:srgbClr val="F4B84A"/>
                </a:solidFill>
                <a:latin typeface="Aptos Mono" pitchFamily="34" charset="0"/>
                <a:ea typeface="Aptos Mono" pitchFamily="34" charset="-122"/>
                <a:cs typeface="Aptos Mono" pitchFamily="34" charset="-120"/>
              </a:rPr>
              <a:t>CONTRAT COMMUN</a:t>
            </a:r>
            <a:endParaRPr lang="en-US" sz="770" dirty="0"/>
          </a:p>
        </p:txBody>
      </p:sp>
      <p:sp>
        <p:nvSpPr>
          <p:cNvPr id="66" name="Text 64"/>
          <p:cNvSpPr/>
          <p:nvPr/>
        </p:nvSpPr>
        <p:spPr>
          <a:xfrm>
            <a:off x="3218688" y="5285232"/>
            <a:ext cx="786384" cy="201168"/>
          </a:xfrm>
          <a:prstGeom prst="rect">
            <a:avLst/>
          </a:prstGeom>
          <a:noFill/>
          <a:ln/>
        </p:spPr>
        <p:txBody>
          <a:bodyPr wrap="square" lIns="0" tIns="0" rIns="0" bIns="0" rtlCol="0" anchor="ctr">
            <a:normAutofit/>
          </a:bodyPr>
          <a:lstStyle/>
          <a:p>
            <a:pPr algn="ctr" indent="0" marL="0">
              <a:buNone/>
            </a:pPr>
            <a:r>
              <a:rPr lang="en-US" sz="1040" b="1" dirty="0">
                <a:solidFill>
                  <a:srgbClr val="F5F7F8"/>
                </a:solidFill>
                <a:latin typeface="Aptos Mono" pitchFamily="34" charset="0"/>
                <a:ea typeface="Aptos Mono" pitchFamily="34" charset="-122"/>
                <a:cs typeface="Aptos Mono" pitchFamily="34" charset="-120"/>
              </a:rPr>
              <a:t>state</a:t>
            </a:r>
            <a:endParaRPr lang="en-US" sz="1040" dirty="0"/>
          </a:p>
        </p:txBody>
      </p:sp>
      <p:sp>
        <p:nvSpPr>
          <p:cNvPr id="67" name="Text 65"/>
          <p:cNvSpPr/>
          <p:nvPr/>
        </p:nvSpPr>
        <p:spPr>
          <a:xfrm>
            <a:off x="4315968" y="5285232"/>
            <a:ext cx="1042416" cy="201168"/>
          </a:xfrm>
          <a:prstGeom prst="rect">
            <a:avLst/>
          </a:prstGeom>
          <a:noFill/>
          <a:ln/>
        </p:spPr>
        <p:txBody>
          <a:bodyPr wrap="square" lIns="0" tIns="0" rIns="0" bIns="0" rtlCol="0" anchor="ctr">
            <a:normAutofit/>
          </a:bodyPr>
          <a:lstStyle/>
          <a:p>
            <a:pPr algn="ctr" indent="0" marL="0">
              <a:buNone/>
            </a:pPr>
            <a:r>
              <a:rPr lang="en-US" sz="1040" b="1" dirty="0">
                <a:solidFill>
                  <a:srgbClr val="F5F7F8"/>
                </a:solidFill>
                <a:latin typeface="Aptos Mono" pitchFamily="34" charset="0"/>
                <a:ea typeface="Aptos Mono" pitchFamily="34" charset="-122"/>
                <a:cs typeface="Aptos Mono" pitchFamily="34" charset="-120"/>
              </a:rPr>
              <a:t>checksum</a:t>
            </a:r>
            <a:endParaRPr lang="en-US" sz="1040" dirty="0"/>
          </a:p>
        </p:txBody>
      </p:sp>
      <p:sp>
        <p:nvSpPr>
          <p:cNvPr id="68" name="Text 66"/>
          <p:cNvSpPr/>
          <p:nvPr/>
        </p:nvSpPr>
        <p:spPr>
          <a:xfrm>
            <a:off x="5705856" y="5285232"/>
            <a:ext cx="658368" cy="201168"/>
          </a:xfrm>
          <a:prstGeom prst="rect">
            <a:avLst/>
          </a:prstGeom>
          <a:noFill/>
          <a:ln/>
        </p:spPr>
        <p:txBody>
          <a:bodyPr wrap="square" lIns="0" tIns="0" rIns="0" bIns="0" rtlCol="0" anchor="ctr">
            <a:normAutofit/>
          </a:bodyPr>
          <a:lstStyle/>
          <a:p>
            <a:pPr algn="ctr" indent="0" marL="0">
              <a:buNone/>
            </a:pPr>
            <a:r>
              <a:rPr lang="en-US" sz="1040" b="1" dirty="0">
                <a:solidFill>
                  <a:srgbClr val="F5F7F8"/>
                </a:solidFill>
                <a:latin typeface="Aptos Mono" pitchFamily="34" charset="0"/>
                <a:ea typeface="Aptos Mono" pitchFamily="34" charset="-122"/>
                <a:cs typeface="Aptos Mono" pitchFamily="34" charset="-120"/>
              </a:rPr>
              <a:t>gate</a:t>
            </a:r>
            <a:endParaRPr lang="en-US" sz="1040" dirty="0"/>
          </a:p>
        </p:txBody>
      </p:sp>
      <p:sp>
        <p:nvSpPr>
          <p:cNvPr id="69" name="Text 67"/>
          <p:cNvSpPr/>
          <p:nvPr/>
        </p:nvSpPr>
        <p:spPr>
          <a:xfrm>
            <a:off x="6803136" y="5285232"/>
            <a:ext cx="1188720" cy="201168"/>
          </a:xfrm>
          <a:prstGeom prst="rect">
            <a:avLst/>
          </a:prstGeom>
          <a:noFill/>
          <a:ln/>
        </p:spPr>
        <p:txBody>
          <a:bodyPr wrap="square" lIns="0" tIns="0" rIns="0" bIns="0" rtlCol="0" anchor="ctr">
            <a:normAutofit/>
          </a:bodyPr>
          <a:lstStyle/>
          <a:p>
            <a:pPr algn="ctr" indent="0" marL="0">
              <a:buNone/>
            </a:pPr>
            <a:r>
              <a:rPr lang="en-US" sz="1040" b="1" dirty="0">
                <a:solidFill>
                  <a:srgbClr val="F5F7F8"/>
                </a:solidFill>
                <a:latin typeface="Aptos Mono" pitchFamily="34" charset="0"/>
                <a:ea typeface="Aptos Mono" pitchFamily="34" charset="-122"/>
                <a:cs typeface="Aptos Mono" pitchFamily="34" charset="-120"/>
              </a:rPr>
              <a:t>validation</a:t>
            </a:r>
            <a:endParaRPr lang="en-US" sz="1040" dirty="0"/>
          </a:p>
        </p:txBody>
      </p:sp>
      <p:sp>
        <p:nvSpPr>
          <p:cNvPr id="70" name="Text 68"/>
          <p:cNvSpPr/>
          <p:nvPr/>
        </p:nvSpPr>
        <p:spPr>
          <a:xfrm>
            <a:off x="8449056" y="5285232"/>
            <a:ext cx="1078992" cy="201168"/>
          </a:xfrm>
          <a:prstGeom prst="rect">
            <a:avLst/>
          </a:prstGeom>
          <a:noFill/>
          <a:ln/>
        </p:spPr>
        <p:txBody>
          <a:bodyPr wrap="square" lIns="0" tIns="0" rIns="0" bIns="0" rtlCol="0" anchor="ctr">
            <a:normAutofit/>
          </a:bodyPr>
          <a:lstStyle/>
          <a:p>
            <a:pPr algn="ctr" indent="0" marL="0">
              <a:buNone/>
            </a:pPr>
            <a:r>
              <a:rPr lang="en-US" sz="1040" b="1" dirty="0">
                <a:solidFill>
                  <a:srgbClr val="F5F7F8"/>
                </a:solidFill>
                <a:latin typeface="Aptos Mono" pitchFamily="34" charset="0"/>
                <a:ea typeface="Aptos Mono" pitchFamily="34" charset="-122"/>
                <a:cs typeface="Aptos Mono" pitchFamily="34" charset="-120"/>
              </a:rPr>
              <a:t>historique</a:t>
            </a:r>
            <a:endParaRPr lang="en-US" sz="104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117"/>
        </a:solidFill>
      </p:bgPr>
    </p:bg>
    <p:spTree>
      <p:nvGrpSpPr>
        <p:cNvPr id="1" name=""/>
        <p:cNvGrpSpPr/>
        <p:nvPr/>
      </p:nvGrpSpPr>
      <p:grpSpPr>
        <a:xfrm>
          <a:off x="0" y="0"/>
          <a:ext cx="0" cy="0"/>
          <a:chOff x="0" y="0"/>
          <a:chExt cx="0" cy="0"/>
        </a:xfrm>
      </p:grpSpPr>
      <p:sp>
        <p:nvSpPr>
          <p:cNvPr id="2" name="Shape 0"/>
          <p:cNvSpPr/>
          <p:nvPr/>
        </p:nvSpPr>
        <p:spPr>
          <a:xfrm>
            <a:off x="676656" y="411480"/>
            <a:ext cx="10735056" cy="0"/>
          </a:xfrm>
          <a:prstGeom prst="line">
            <a:avLst/>
          </a:prstGeom>
          <a:noFill/>
          <a:ln w="10160">
            <a:solidFill>
              <a:srgbClr val="344653">
                <a:alpha val="85000"/>
              </a:srgbClr>
            </a:solidFill>
            <a:prstDash val="solid"/>
          </a:ln>
        </p:spPr>
      </p:sp>
      <p:sp>
        <p:nvSpPr>
          <p:cNvPr id="3" name="Shape 1"/>
          <p:cNvSpPr/>
          <p:nvPr/>
        </p:nvSpPr>
        <p:spPr>
          <a:xfrm>
            <a:off x="658368" y="356616"/>
            <a:ext cx="73152" cy="73152"/>
          </a:xfrm>
          <a:prstGeom prst="ellipse">
            <a:avLst/>
          </a:prstGeom>
          <a:solidFill>
            <a:srgbClr val="41D3AE"/>
          </a:solidFill>
          <a:ln w="12700">
            <a:solidFill>
              <a:srgbClr val="41D3AE">
                <a:alpha val="0"/>
              </a:srgbClr>
            </a:solidFill>
            <a:prstDash val="solid"/>
          </a:ln>
        </p:spPr>
      </p:sp>
      <p:sp>
        <p:nvSpPr>
          <p:cNvPr id="4" name="Text 2"/>
          <p:cNvSpPr/>
          <p:nvPr/>
        </p:nvSpPr>
        <p:spPr>
          <a:xfrm>
            <a:off x="822960" y="201168"/>
            <a:ext cx="1207008" cy="164592"/>
          </a:xfrm>
          <a:prstGeom prst="rect">
            <a:avLst/>
          </a:prstGeom>
          <a:noFill/>
          <a:ln/>
        </p:spPr>
        <p:txBody>
          <a:bodyPr wrap="square" lIns="0" tIns="0" rIns="0" bIns="0" rtlCol="0" anchor="ctr">
            <a:normAutofit/>
          </a:bodyPr>
          <a:lstStyle/>
          <a:p>
            <a:pPr algn="l" indent="0" marL="0">
              <a:buNone/>
            </a:pPr>
            <a:r>
              <a:rPr lang="en-US" sz="760" b="1" dirty="0">
                <a:solidFill>
                  <a:srgbClr val="9EADB8"/>
                </a:solidFill>
                <a:latin typeface="Aptos" pitchFamily="34" charset="0"/>
                <a:ea typeface="Aptos" pitchFamily="34" charset="-122"/>
                <a:cs typeface="Aptos" pitchFamily="34" charset="-120"/>
              </a:rPr>
              <a:t>Contexte</a:t>
            </a:r>
            <a:endParaRPr lang="en-US" sz="760" dirty="0"/>
          </a:p>
        </p:txBody>
      </p:sp>
      <p:sp>
        <p:nvSpPr>
          <p:cNvPr id="5" name="Shape 3"/>
          <p:cNvSpPr/>
          <p:nvPr/>
        </p:nvSpPr>
        <p:spPr>
          <a:xfrm>
            <a:off x="2130552" y="356616"/>
            <a:ext cx="73152" cy="73152"/>
          </a:xfrm>
          <a:prstGeom prst="ellipse">
            <a:avLst/>
          </a:prstGeom>
          <a:solidFill>
            <a:srgbClr val="41D3AE"/>
          </a:solidFill>
          <a:ln w="12700">
            <a:solidFill>
              <a:srgbClr val="41D3AE">
                <a:alpha val="0"/>
              </a:srgbClr>
            </a:solidFill>
            <a:prstDash val="solid"/>
          </a:ln>
        </p:spPr>
      </p:sp>
      <p:sp>
        <p:nvSpPr>
          <p:cNvPr id="6" name="Text 4"/>
          <p:cNvSpPr/>
          <p:nvPr/>
        </p:nvSpPr>
        <p:spPr>
          <a:xfrm>
            <a:off x="2295144" y="201168"/>
            <a:ext cx="1207008" cy="164592"/>
          </a:xfrm>
          <a:prstGeom prst="rect">
            <a:avLst/>
          </a:prstGeom>
          <a:noFill/>
          <a:ln/>
        </p:spPr>
        <p:txBody>
          <a:bodyPr wrap="square" lIns="0" tIns="0" rIns="0" bIns="0" rtlCol="0" anchor="ctr">
            <a:normAutofit/>
          </a:bodyPr>
          <a:lstStyle/>
          <a:p>
            <a:pPr algn="l" indent="0" marL="0">
              <a:buNone/>
            </a:pPr>
            <a:r>
              <a:rPr lang="en-US" sz="760" b="1" dirty="0">
                <a:solidFill>
                  <a:srgbClr val="9EADB8"/>
                </a:solidFill>
                <a:latin typeface="Aptos" pitchFamily="34" charset="0"/>
                <a:ea typeface="Aptos" pitchFamily="34" charset="-122"/>
                <a:cs typeface="Aptos" pitchFamily="34" charset="-120"/>
              </a:rPr>
              <a:t>Solution</a:t>
            </a:r>
            <a:endParaRPr lang="en-US" sz="760" dirty="0"/>
          </a:p>
        </p:txBody>
      </p:sp>
      <p:sp>
        <p:nvSpPr>
          <p:cNvPr id="7" name="Shape 5"/>
          <p:cNvSpPr/>
          <p:nvPr/>
        </p:nvSpPr>
        <p:spPr>
          <a:xfrm>
            <a:off x="3493008" y="356616"/>
            <a:ext cx="109728" cy="109728"/>
          </a:xfrm>
          <a:prstGeom prst="ellipse">
            <a:avLst/>
          </a:prstGeom>
          <a:solidFill>
            <a:srgbClr val="68D6E8"/>
          </a:solidFill>
          <a:ln w="12700">
            <a:solidFill>
              <a:srgbClr val="68D6E8">
                <a:alpha val="0"/>
              </a:srgbClr>
            </a:solidFill>
            <a:prstDash val="solid"/>
          </a:ln>
        </p:spPr>
      </p:sp>
      <p:sp>
        <p:nvSpPr>
          <p:cNvPr id="8" name="Text 6"/>
          <p:cNvSpPr/>
          <p:nvPr/>
        </p:nvSpPr>
        <p:spPr>
          <a:xfrm>
            <a:off x="3657600" y="201168"/>
            <a:ext cx="1207008" cy="164592"/>
          </a:xfrm>
          <a:prstGeom prst="rect">
            <a:avLst/>
          </a:prstGeom>
          <a:noFill/>
          <a:ln/>
        </p:spPr>
        <p:txBody>
          <a:bodyPr wrap="square" lIns="0" tIns="0" rIns="0" bIns="0" rtlCol="0" anchor="ctr">
            <a:normAutofit/>
          </a:bodyPr>
          <a:lstStyle/>
          <a:p>
            <a:pPr algn="l" indent="0" marL="0">
              <a:buNone/>
            </a:pPr>
            <a:r>
              <a:rPr lang="en-US" sz="810" b="1" dirty="0">
                <a:solidFill>
                  <a:srgbClr val="68D6E8"/>
                </a:solidFill>
                <a:latin typeface="Aptos" pitchFamily="34" charset="0"/>
                <a:ea typeface="Aptos" pitchFamily="34" charset="-122"/>
                <a:cs typeface="Aptos" pitchFamily="34" charset="-120"/>
              </a:rPr>
              <a:t>Architecture</a:t>
            </a:r>
            <a:endParaRPr lang="en-US" sz="810" dirty="0"/>
          </a:p>
        </p:txBody>
      </p:sp>
      <p:sp>
        <p:nvSpPr>
          <p:cNvPr id="9" name="Shape 7"/>
          <p:cNvSpPr/>
          <p:nvPr/>
        </p:nvSpPr>
        <p:spPr>
          <a:xfrm>
            <a:off x="3639312" y="521208"/>
            <a:ext cx="731520" cy="0"/>
          </a:xfrm>
          <a:prstGeom prst="line">
            <a:avLst/>
          </a:prstGeom>
          <a:noFill/>
          <a:ln w="22860">
            <a:solidFill>
              <a:srgbClr val="68D6E8"/>
            </a:solidFill>
            <a:prstDash val="solid"/>
          </a:ln>
        </p:spPr>
      </p:sp>
      <p:sp>
        <p:nvSpPr>
          <p:cNvPr id="10" name="Shape 8"/>
          <p:cNvSpPr/>
          <p:nvPr/>
        </p:nvSpPr>
        <p:spPr>
          <a:xfrm>
            <a:off x="5001768" y="356616"/>
            <a:ext cx="73152" cy="73152"/>
          </a:xfrm>
          <a:prstGeom prst="ellipse">
            <a:avLst/>
          </a:prstGeom>
          <a:solidFill>
            <a:srgbClr val="344653">
              <a:alpha val="80000"/>
            </a:srgbClr>
          </a:solidFill>
          <a:ln w="12700">
            <a:solidFill>
              <a:srgbClr val="344653">
                <a:alpha val="0"/>
              </a:srgbClr>
            </a:solidFill>
            <a:prstDash val="solid"/>
          </a:ln>
        </p:spPr>
      </p:sp>
      <p:sp>
        <p:nvSpPr>
          <p:cNvPr id="11" name="Text 9"/>
          <p:cNvSpPr/>
          <p:nvPr/>
        </p:nvSpPr>
        <p:spPr>
          <a:xfrm>
            <a:off x="5166360" y="201168"/>
            <a:ext cx="1097280" cy="164592"/>
          </a:xfrm>
          <a:prstGeom prst="rect">
            <a:avLst/>
          </a:prstGeom>
          <a:noFill/>
          <a:ln/>
        </p:spPr>
        <p:txBody>
          <a:bodyPr wrap="square" lIns="0" tIns="0" rIns="0" bIns="0" rtlCol="0" anchor="ctr">
            <a:normAutofit/>
          </a:bodyPr>
          <a:lstStyle/>
          <a:p>
            <a:pPr algn="l" indent="0" marL="0">
              <a:buNone/>
            </a:pPr>
            <a:r>
              <a:rPr lang="en-US" sz="760" dirty="0">
                <a:solidFill>
                  <a:srgbClr val="9EADB8"/>
                </a:solidFill>
                <a:latin typeface="Aptos" pitchFamily="34" charset="0"/>
                <a:ea typeface="Aptos" pitchFamily="34" charset="-122"/>
                <a:cs typeface="Aptos" pitchFamily="34" charset="-120"/>
              </a:rPr>
              <a:t>Réalisation</a:t>
            </a:r>
            <a:endParaRPr lang="en-US" sz="760" dirty="0"/>
          </a:p>
        </p:txBody>
      </p:sp>
      <p:sp>
        <p:nvSpPr>
          <p:cNvPr id="12" name="Shape 10"/>
          <p:cNvSpPr/>
          <p:nvPr/>
        </p:nvSpPr>
        <p:spPr>
          <a:xfrm>
            <a:off x="6583680" y="356616"/>
            <a:ext cx="73152" cy="73152"/>
          </a:xfrm>
          <a:prstGeom prst="ellipse">
            <a:avLst/>
          </a:prstGeom>
          <a:solidFill>
            <a:srgbClr val="344653">
              <a:alpha val="80000"/>
            </a:srgbClr>
          </a:solidFill>
          <a:ln w="12700">
            <a:solidFill>
              <a:srgbClr val="344653">
                <a:alpha val="0"/>
              </a:srgbClr>
            </a:solidFill>
            <a:prstDash val="solid"/>
          </a:ln>
        </p:spPr>
      </p:sp>
      <p:sp>
        <p:nvSpPr>
          <p:cNvPr id="13" name="Text 11"/>
          <p:cNvSpPr/>
          <p:nvPr/>
        </p:nvSpPr>
        <p:spPr>
          <a:xfrm>
            <a:off x="6748272" y="201168"/>
            <a:ext cx="1207008" cy="164592"/>
          </a:xfrm>
          <a:prstGeom prst="rect">
            <a:avLst/>
          </a:prstGeom>
          <a:noFill/>
          <a:ln/>
        </p:spPr>
        <p:txBody>
          <a:bodyPr wrap="square" lIns="0" tIns="0" rIns="0" bIns="0" rtlCol="0" anchor="ctr">
            <a:normAutofit/>
          </a:bodyPr>
          <a:lstStyle/>
          <a:p>
            <a:pPr algn="l" indent="0" marL="0">
              <a:buNone/>
            </a:pPr>
            <a:r>
              <a:rPr lang="en-US" sz="760" dirty="0">
                <a:solidFill>
                  <a:srgbClr val="9EADB8"/>
                </a:solidFill>
                <a:latin typeface="Aptos" pitchFamily="34" charset="0"/>
                <a:ea typeface="Aptos" pitchFamily="34" charset="-122"/>
                <a:cs typeface="Aptos" pitchFamily="34" charset="-120"/>
              </a:rPr>
              <a:t>Démo</a:t>
            </a:r>
            <a:endParaRPr lang="en-US" sz="760" dirty="0"/>
          </a:p>
        </p:txBody>
      </p:sp>
      <p:sp>
        <p:nvSpPr>
          <p:cNvPr id="14" name="Shape 12"/>
          <p:cNvSpPr/>
          <p:nvPr/>
        </p:nvSpPr>
        <p:spPr>
          <a:xfrm>
            <a:off x="8229600" y="356616"/>
            <a:ext cx="73152" cy="73152"/>
          </a:xfrm>
          <a:prstGeom prst="ellipse">
            <a:avLst/>
          </a:prstGeom>
          <a:solidFill>
            <a:srgbClr val="344653">
              <a:alpha val="80000"/>
            </a:srgbClr>
          </a:solidFill>
          <a:ln w="12700">
            <a:solidFill>
              <a:srgbClr val="344653">
                <a:alpha val="0"/>
              </a:srgbClr>
            </a:solidFill>
            <a:prstDash val="solid"/>
          </a:ln>
        </p:spPr>
      </p:sp>
      <p:sp>
        <p:nvSpPr>
          <p:cNvPr id="15" name="Text 13"/>
          <p:cNvSpPr/>
          <p:nvPr/>
        </p:nvSpPr>
        <p:spPr>
          <a:xfrm>
            <a:off x="8394192" y="201168"/>
            <a:ext cx="1207008" cy="164592"/>
          </a:xfrm>
          <a:prstGeom prst="rect">
            <a:avLst/>
          </a:prstGeom>
          <a:noFill/>
          <a:ln/>
        </p:spPr>
        <p:txBody>
          <a:bodyPr wrap="square" lIns="0" tIns="0" rIns="0" bIns="0" rtlCol="0" anchor="ctr">
            <a:normAutofit/>
          </a:bodyPr>
          <a:lstStyle/>
          <a:p>
            <a:pPr algn="l" indent="0" marL="0">
              <a:buNone/>
            </a:pPr>
            <a:r>
              <a:rPr lang="en-US" sz="760" dirty="0">
                <a:solidFill>
                  <a:srgbClr val="9EADB8"/>
                </a:solidFill>
                <a:latin typeface="Aptos" pitchFamily="34" charset="0"/>
                <a:ea typeface="Aptos" pitchFamily="34" charset="-122"/>
                <a:cs typeface="Aptos" pitchFamily="34" charset="-120"/>
              </a:rPr>
              <a:t>Résultats</a:t>
            </a:r>
            <a:endParaRPr lang="en-US" sz="760" dirty="0"/>
          </a:p>
        </p:txBody>
      </p:sp>
      <p:sp>
        <p:nvSpPr>
          <p:cNvPr id="16" name="Shape 14"/>
          <p:cNvSpPr/>
          <p:nvPr/>
        </p:nvSpPr>
        <p:spPr>
          <a:xfrm>
            <a:off x="9784080" y="356616"/>
            <a:ext cx="73152" cy="73152"/>
          </a:xfrm>
          <a:prstGeom prst="ellipse">
            <a:avLst/>
          </a:prstGeom>
          <a:solidFill>
            <a:srgbClr val="344653">
              <a:alpha val="80000"/>
            </a:srgbClr>
          </a:solidFill>
          <a:ln w="12700">
            <a:solidFill>
              <a:srgbClr val="344653">
                <a:alpha val="0"/>
              </a:srgbClr>
            </a:solidFill>
            <a:prstDash val="solid"/>
          </a:ln>
        </p:spPr>
      </p:sp>
      <p:sp>
        <p:nvSpPr>
          <p:cNvPr id="17" name="Text 15"/>
          <p:cNvSpPr/>
          <p:nvPr/>
        </p:nvSpPr>
        <p:spPr>
          <a:xfrm>
            <a:off x="9948672" y="201168"/>
            <a:ext cx="1207008" cy="164592"/>
          </a:xfrm>
          <a:prstGeom prst="rect">
            <a:avLst/>
          </a:prstGeom>
          <a:noFill/>
          <a:ln/>
        </p:spPr>
        <p:txBody>
          <a:bodyPr wrap="square" lIns="0" tIns="0" rIns="0" bIns="0" rtlCol="0" anchor="ctr">
            <a:normAutofit/>
          </a:bodyPr>
          <a:lstStyle/>
          <a:p>
            <a:pPr algn="l" indent="0" marL="0">
              <a:buNone/>
            </a:pPr>
            <a:r>
              <a:rPr lang="en-US" sz="760" dirty="0">
                <a:solidFill>
                  <a:srgbClr val="9EADB8"/>
                </a:solidFill>
                <a:latin typeface="Aptos" pitchFamily="34" charset="0"/>
                <a:ea typeface="Aptos" pitchFamily="34" charset="-122"/>
                <a:cs typeface="Aptos" pitchFamily="34" charset="-120"/>
              </a:rPr>
              <a:t>Conclusion</a:t>
            </a:r>
            <a:endParaRPr lang="en-US" sz="760" dirty="0"/>
          </a:p>
        </p:txBody>
      </p:sp>
      <p:sp>
        <p:nvSpPr>
          <p:cNvPr id="18" name="Shape 16"/>
          <p:cNvSpPr/>
          <p:nvPr/>
        </p:nvSpPr>
        <p:spPr>
          <a:xfrm>
            <a:off x="658368" y="6428232"/>
            <a:ext cx="10863072" cy="0"/>
          </a:xfrm>
          <a:prstGeom prst="line">
            <a:avLst/>
          </a:prstGeom>
          <a:noFill/>
          <a:ln w="8890">
            <a:solidFill>
              <a:srgbClr val="344653">
                <a:alpha val="80000"/>
              </a:srgbClr>
            </a:solidFill>
            <a:prstDash val="solid"/>
          </a:ln>
        </p:spPr>
      </p:sp>
      <p:sp>
        <p:nvSpPr>
          <p:cNvPr id="19" name="Text 17"/>
          <p:cNvSpPr/>
          <p:nvPr/>
        </p:nvSpPr>
        <p:spPr>
          <a:xfrm>
            <a:off x="658368" y="6510528"/>
            <a:ext cx="2926080" cy="146304"/>
          </a:xfrm>
          <a:prstGeom prst="rect">
            <a:avLst/>
          </a:prstGeom>
          <a:noFill/>
          <a:ln/>
        </p:spPr>
        <p:txBody>
          <a:bodyPr wrap="square" lIns="0" tIns="0" rIns="0" bIns="0" rtlCol="0" anchor="ctr">
            <a:normAutofit/>
          </a:bodyPr>
          <a:lstStyle/>
          <a:p>
            <a:pPr algn="l" indent="0" marL="0">
              <a:buNone/>
            </a:pPr>
            <a:r>
              <a:rPr lang="en-US" sz="720" b="1" spc="120" kern="0" dirty="0">
                <a:solidFill>
                  <a:srgbClr val="6C7F89"/>
                </a:solidFill>
                <a:latin typeface="Aptos Mono" pitchFamily="34" charset="0"/>
                <a:ea typeface="Aptos Mono" pitchFamily="34" charset="-122"/>
                <a:cs typeface="Aptos Mono" pitchFamily="34" charset="-120"/>
              </a:rPr>
              <a:t>AGENTIC MIGRATION PLATFORM</a:t>
            </a:r>
            <a:endParaRPr lang="en-US" sz="720" dirty="0"/>
          </a:p>
        </p:txBody>
      </p:sp>
      <p:sp>
        <p:nvSpPr>
          <p:cNvPr id="20" name="Text 18"/>
          <p:cNvSpPr/>
          <p:nvPr/>
        </p:nvSpPr>
        <p:spPr>
          <a:xfrm>
            <a:off x="10561320" y="6501384"/>
            <a:ext cx="950976" cy="155448"/>
          </a:xfrm>
          <a:prstGeom prst="rect">
            <a:avLst/>
          </a:prstGeom>
          <a:noFill/>
          <a:ln/>
        </p:spPr>
        <p:txBody>
          <a:bodyPr wrap="square" lIns="0" tIns="0" rIns="0" bIns="0" rtlCol="0" anchor="ctr">
            <a:normAutofit/>
          </a:bodyPr>
          <a:lstStyle/>
          <a:p>
            <a:pPr algn="r" indent="0" marL="0">
              <a:buNone/>
            </a:pPr>
            <a:r>
              <a:rPr lang="en-US" sz="770" b="1" spc="80" kern="0" dirty="0">
                <a:solidFill>
                  <a:srgbClr val="6C7F89"/>
                </a:solidFill>
                <a:latin typeface="Aptos Mono" pitchFamily="34" charset="0"/>
                <a:ea typeface="Aptos Mono" pitchFamily="34" charset="-122"/>
                <a:cs typeface="Aptos Mono" pitchFamily="34" charset="-120"/>
              </a:rPr>
              <a:t>08 / 18</a:t>
            </a:r>
            <a:endParaRPr lang="en-US" sz="770" dirty="0"/>
          </a:p>
        </p:txBody>
      </p:sp>
      <p:sp>
        <p:nvSpPr>
          <p:cNvPr id="21" name="Text 19"/>
          <p:cNvSpPr/>
          <p:nvPr/>
        </p:nvSpPr>
        <p:spPr>
          <a:xfrm>
            <a:off x="658368" y="758952"/>
            <a:ext cx="3200400" cy="164592"/>
          </a:xfrm>
          <a:prstGeom prst="rect">
            <a:avLst/>
          </a:prstGeom>
          <a:noFill/>
          <a:ln/>
        </p:spPr>
        <p:txBody>
          <a:bodyPr wrap="square" lIns="0" tIns="0" rIns="0" bIns="0" rtlCol="0" anchor="ctr">
            <a:normAutofit/>
          </a:bodyPr>
          <a:lstStyle/>
          <a:p>
            <a:pPr algn="l" indent="0" marL="0">
              <a:buNone/>
            </a:pPr>
            <a:r>
              <a:rPr lang="en-US" sz="900" b="1" spc="135" kern="0" dirty="0">
                <a:solidFill>
                  <a:srgbClr val="68D6E8"/>
                </a:solidFill>
                <a:latin typeface="Aptos Mono" pitchFamily="34" charset="0"/>
                <a:ea typeface="Aptos Mono" pitchFamily="34" charset="-122"/>
                <a:cs typeface="Aptos Mono" pitchFamily="34" charset="-120"/>
              </a:rPr>
              <a:t>ARCHITECTURE</a:t>
            </a:r>
            <a:endParaRPr lang="en-US" sz="900" dirty="0"/>
          </a:p>
        </p:txBody>
      </p:sp>
      <p:sp>
        <p:nvSpPr>
          <p:cNvPr id="22" name="Text 20"/>
          <p:cNvSpPr/>
          <p:nvPr/>
        </p:nvSpPr>
        <p:spPr>
          <a:xfrm>
            <a:off x="658368" y="969264"/>
            <a:ext cx="10607040" cy="493776"/>
          </a:xfrm>
          <a:prstGeom prst="rect">
            <a:avLst/>
          </a:prstGeom>
          <a:noFill/>
          <a:ln/>
        </p:spPr>
        <p:txBody>
          <a:bodyPr wrap="square" lIns="0" tIns="0" rIns="0" bIns="0" rtlCol="0" anchor="t">
            <a:normAutofit/>
          </a:bodyPr>
          <a:lstStyle/>
          <a:p>
            <a:pPr algn="l" indent="0" marL="0">
              <a:buNone/>
            </a:pPr>
            <a:r>
              <a:rPr lang="en-US" sz="2900" b="1" dirty="0">
                <a:solidFill>
                  <a:srgbClr val="F5F7F8"/>
                </a:solidFill>
                <a:latin typeface="Aptos Display" pitchFamily="34" charset="0"/>
                <a:ea typeface="Aptos Display" pitchFamily="34" charset="-122"/>
                <a:cs typeface="Aptos Display" pitchFamily="34" charset="-120"/>
              </a:rPr>
              <a:t>Le parcours de migration</a:t>
            </a:r>
            <a:endParaRPr lang="en-US" sz="2900" dirty="0"/>
          </a:p>
        </p:txBody>
      </p:sp>
      <p:sp>
        <p:nvSpPr>
          <p:cNvPr id="23" name="Text 21"/>
          <p:cNvSpPr/>
          <p:nvPr/>
        </p:nvSpPr>
        <p:spPr>
          <a:xfrm>
            <a:off x="658368" y="1499616"/>
            <a:ext cx="9966960" cy="256032"/>
          </a:xfrm>
          <a:prstGeom prst="rect">
            <a:avLst/>
          </a:prstGeom>
          <a:noFill/>
          <a:ln/>
        </p:spPr>
        <p:txBody>
          <a:bodyPr wrap="square" lIns="0" tIns="0" rIns="0" bIns="0" rtlCol="0" anchor="t">
            <a:normAutofit/>
          </a:bodyPr>
          <a:lstStyle/>
          <a:p>
            <a:pPr algn="l" indent="0" marL="0">
              <a:buNone/>
            </a:pPr>
            <a:r>
              <a:rPr lang="en-US" sz="1200" dirty="0">
                <a:solidFill>
                  <a:srgbClr val="9EADB8"/>
                </a:solidFill>
                <a:latin typeface="Aptos" pitchFamily="34" charset="0"/>
                <a:ea typeface="Aptos" pitchFamily="34" charset="-122"/>
                <a:cs typeface="Aptos" pitchFamily="34" charset="-120"/>
              </a:rPr>
              <a:t>Chaque transition critique associe un état, un gate, une preuve et une revalidation.</a:t>
            </a:r>
            <a:endParaRPr lang="en-US" sz="1200" dirty="0"/>
          </a:p>
        </p:txBody>
      </p:sp>
      <p:sp>
        <p:nvSpPr>
          <p:cNvPr id="24" name="Text 22"/>
          <p:cNvSpPr/>
          <p:nvPr/>
        </p:nvSpPr>
        <p:spPr>
          <a:xfrm>
            <a:off x="731520" y="2048256"/>
            <a:ext cx="2468880" cy="164592"/>
          </a:xfrm>
          <a:prstGeom prst="rect">
            <a:avLst/>
          </a:prstGeom>
          <a:noFill/>
          <a:ln/>
        </p:spPr>
        <p:txBody>
          <a:bodyPr wrap="square" lIns="0" tIns="0" rIns="0" bIns="0" rtlCol="0" anchor="ctr">
            <a:normAutofit/>
          </a:bodyPr>
          <a:lstStyle/>
          <a:p>
            <a:pPr algn="l" indent="0" marL="0">
              <a:buNone/>
            </a:pPr>
            <a:r>
              <a:rPr lang="en-US" sz="840" b="1" spc="120" kern="0" dirty="0">
                <a:solidFill>
                  <a:srgbClr val="68D6E8"/>
                </a:solidFill>
                <a:latin typeface="Aptos Mono" pitchFamily="34" charset="0"/>
                <a:ea typeface="Aptos Mono" pitchFamily="34" charset="-122"/>
                <a:cs typeface="Aptos Mono" pitchFamily="34" charset="-120"/>
              </a:rPr>
              <a:t>STATE → GATE → PROOF</a:t>
            </a:r>
            <a:endParaRPr lang="en-US" sz="840" dirty="0"/>
          </a:p>
        </p:txBody>
      </p:sp>
      <p:sp>
        <p:nvSpPr>
          <p:cNvPr id="25" name="Shape 23"/>
          <p:cNvSpPr/>
          <p:nvPr/>
        </p:nvSpPr>
        <p:spPr>
          <a:xfrm>
            <a:off x="1051560" y="3547872"/>
            <a:ext cx="9966960" cy="0"/>
          </a:xfrm>
          <a:prstGeom prst="line">
            <a:avLst/>
          </a:prstGeom>
          <a:noFill/>
          <a:ln w="19050">
            <a:solidFill>
              <a:srgbClr val="6C7F89"/>
            </a:solidFill>
            <a:prstDash val="solid"/>
          </a:ln>
        </p:spPr>
      </p:sp>
      <p:sp>
        <p:nvSpPr>
          <p:cNvPr id="26" name="Shape 24"/>
          <p:cNvSpPr/>
          <p:nvPr/>
        </p:nvSpPr>
        <p:spPr>
          <a:xfrm>
            <a:off x="1133856" y="3364992"/>
            <a:ext cx="329184" cy="329184"/>
          </a:xfrm>
          <a:prstGeom prst="ellipse">
            <a:avLst/>
          </a:prstGeom>
          <a:solidFill>
            <a:srgbClr val="0B1117"/>
          </a:solidFill>
          <a:ln w="19050">
            <a:solidFill>
              <a:srgbClr val="4E9DFF"/>
            </a:solidFill>
            <a:prstDash val="solid"/>
          </a:ln>
        </p:spPr>
      </p:sp>
      <p:sp>
        <p:nvSpPr>
          <p:cNvPr id="27" name="Shape 25"/>
          <p:cNvSpPr/>
          <p:nvPr/>
        </p:nvSpPr>
        <p:spPr>
          <a:xfrm>
            <a:off x="1239012" y="3470148"/>
            <a:ext cx="118872" cy="118872"/>
          </a:xfrm>
          <a:prstGeom prst="ellipse">
            <a:avLst/>
          </a:prstGeom>
          <a:solidFill>
            <a:srgbClr val="4E9DFF"/>
          </a:solidFill>
          <a:ln w="12700">
            <a:solidFill>
              <a:srgbClr val="4E9DFF">
                <a:alpha val="0"/>
              </a:srgbClr>
            </a:solidFill>
            <a:prstDash val="solid"/>
          </a:ln>
        </p:spPr>
      </p:sp>
      <p:sp>
        <p:nvSpPr>
          <p:cNvPr id="28" name="Text 26"/>
          <p:cNvSpPr/>
          <p:nvPr/>
        </p:nvSpPr>
        <p:spPr>
          <a:xfrm>
            <a:off x="877824" y="3840480"/>
            <a:ext cx="841248" cy="201168"/>
          </a:xfrm>
          <a:prstGeom prst="rect">
            <a:avLst/>
          </a:prstGeom>
          <a:noFill/>
          <a:ln/>
        </p:spPr>
        <p:txBody>
          <a:bodyPr wrap="square" lIns="0" tIns="0" rIns="0" bIns="0" rtlCol="0" anchor="ctr">
            <a:normAutofit/>
          </a:bodyPr>
          <a:lstStyle/>
          <a:p>
            <a:pPr algn="ctr" indent="0" marL="0">
              <a:buNone/>
            </a:pPr>
            <a:r>
              <a:rPr lang="en-US" sz="1220" b="1" dirty="0">
                <a:solidFill>
                  <a:srgbClr val="F5F7F8"/>
                </a:solidFill>
                <a:latin typeface="Aptos Display" pitchFamily="34" charset="0"/>
                <a:ea typeface="Aptos Display" pitchFamily="34" charset="-122"/>
                <a:cs typeface="Aptos Display" pitchFamily="34" charset="-120"/>
              </a:rPr>
              <a:t>qualifier</a:t>
            </a:r>
            <a:endParaRPr lang="en-US" sz="1220" dirty="0"/>
          </a:p>
        </p:txBody>
      </p:sp>
      <p:sp>
        <p:nvSpPr>
          <p:cNvPr id="29" name="Text 27"/>
          <p:cNvSpPr/>
          <p:nvPr/>
        </p:nvSpPr>
        <p:spPr>
          <a:xfrm>
            <a:off x="731520" y="4133088"/>
            <a:ext cx="1133856" cy="182880"/>
          </a:xfrm>
          <a:prstGeom prst="rect">
            <a:avLst/>
          </a:prstGeom>
          <a:noFill/>
          <a:ln/>
        </p:spPr>
        <p:txBody>
          <a:bodyPr wrap="square" lIns="0" tIns="0" rIns="0" bIns="0" rtlCol="0" anchor="t">
            <a:normAutofit/>
          </a:bodyPr>
          <a:lstStyle/>
          <a:p>
            <a:pPr algn="ctr" indent="0" marL="0">
              <a:buNone/>
            </a:pPr>
            <a:r>
              <a:rPr lang="en-US" sz="820" dirty="0">
                <a:solidFill>
                  <a:srgbClr val="4E9DFF"/>
                </a:solidFill>
                <a:latin typeface="Aptos" pitchFamily="34" charset="0"/>
                <a:ea typeface="Aptos" pitchFamily="34" charset="-122"/>
                <a:cs typeface="Aptos" pitchFamily="34" charset="-120"/>
              </a:rPr>
              <a:t>entrée</a:t>
            </a:r>
            <a:endParaRPr lang="en-US" sz="820" dirty="0"/>
          </a:p>
        </p:txBody>
      </p:sp>
      <p:sp>
        <p:nvSpPr>
          <p:cNvPr id="30" name="Shape 28"/>
          <p:cNvSpPr/>
          <p:nvPr/>
        </p:nvSpPr>
        <p:spPr>
          <a:xfrm>
            <a:off x="1810512" y="3547872"/>
            <a:ext cx="530352" cy="0"/>
          </a:xfrm>
          <a:prstGeom prst="line">
            <a:avLst/>
          </a:prstGeom>
          <a:noFill/>
          <a:ln w="16510">
            <a:solidFill>
              <a:srgbClr val="68D6E8"/>
            </a:solidFill>
            <a:prstDash val="solid"/>
            <a:tailEnd type="triangle"/>
          </a:ln>
        </p:spPr>
      </p:sp>
      <p:sp>
        <p:nvSpPr>
          <p:cNvPr id="31" name="Shape 29"/>
          <p:cNvSpPr/>
          <p:nvPr/>
        </p:nvSpPr>
        <p:spPr>
          <a:xfrm>
            <a:off x="2651760" y="3364992"/>
            <a:ext cx="329184" cy="329184"/>
          </a:xfrm>
          <a:prstGeom prst="ellipse">
            <a:avLst/>
          </a:prstGeom>
          <a:solidFill>
            <a:srgbClr val="0B1117"/>
          </a:solidFill>
          <a:ln w="19050">
            <a:solidFill>
              <a:srgbClr val="68D6E8"/>
            </a:solidFill>
            <a:prstDash val="solid"/>
          </a:ln>
        </p:spPr>
      </p:sp>
      <p:sp>
        <p:nvSpPr>
          <p:cNvPr id="32" name="Shape 30"/>
          <p:cNvSpPr/>
          <p:nvPr/>
        </p:nvSpPr>
        <p:spPr>
          <a:xfrm>
            <a:off x="2756916" y="3470148"/>
            <a:ext cx="118872" cy="118872"/>
          </a:xfrm>
          <a:prstGeom prst="ellipse">
            <a:avLst/>
          </a:prstGeom>
          <a:solidFill>
            <a:srgbClr val="68D6E8"/>
          </a:solidFill>
          <a:ln w="12700">
            <a:solidFill>
              <a:srgbClr val="68D6E8">
                <a:alpha val="0"/>
              </a:srgbClr>
            </a:solidFill>
            <a:prstDash val="solid"/>
          </a:ln>
        </p:spPr>
      </p:sp>
      <p:sp>
        <p:nvSpPr>
          <p:cNvPr id="33" name="Text 31"/>
          <p:cNvSpPr/>
          <p:nvPr/>
        </p:nvSpPr>
        <p:spPr>
          <a:xfrm>
            <a:off x="2395728" y="3840480"/>
            <a:ext cx="841248" cy="201168"/>
          </a:xfrm>
          <a:prstGeom prst="rect">
            <a:avLst/>
          </a:prstGeom>
          <a:noFill/>
          <a:ln/>
        </p:spPr>
        <p:txBody>
          <a:bodyPr wrap="square" lIns="0" tIns="0" rIns="0" bIns="0" rtlCol="0" anchor="ctr">
            <a:normAutofit/>
          </a:bodyPr>
          <a:lstStyle/>
          <a:p>
            <a:pPr algn="ctr" indent="0" marL="0">
              <a:buNone/>
            </a:pPr>
            <a:r>
              <a:rPr lang="en-US" sz="1220" b="1" dirty="0">
                <a:solidFill>
                  <a:srgbClr val="F5F7F8"/>
                </a:solidFill>
                <a:latin typeface="Aptos Display" pitchFamily="34" charset="0"/>
                <a:ea typeface="Aptos Display" pitchFamily="34" charset="-122"/>
                <a:cs typeface="Aptos Display" pitchFamily="34" charset="-120"/>
              </a:rPr>
              <a:t>analyser</a:t>
            </a:r>
            <a:endParaRPr lang="en-US" sz="1220" dirty="0"/>
          </a:p>
        </p:txBody>
      </p:sp>
      <p:sp>
        <p:nvSpPr>
          <p:cNvPr id="34" name="Text 32"/>
          <p:cNvSpPr/>
          <p:nvPr/>
        </p:nvSpPr>
        <p:spPr>
          <a:xfrm>
            <a:off x="2249424" y="4133088"/>
            <a:ext cx="1133856" cy="182880"/>
          </a:xfrm>
          <a:prstGeom prst="rect">
            <a:avLst/>
          </a:prstGeom>
          <a:noFill/>
          <a:ln/>
        </p:spPr>
        <p:txBody>
          <a:bodyPr wrap="square" lIns="0" tIns="0" rIns="0" bIns="0" rtlCol="0" anchor="t">
            <a:normAutofit/>
          </a:bodyPr>
          <a:lstStyle/>
          <a:p>
            <a:pPr algn="ctr" indent="0" marL="0">
              <a:buNone/>
            </a:pPr>
            <a:r>
              <a:rPr lang="en-US" sz="820" dirty="0">
                <a:solidFill>
                  <a:srgbClr val="68D6E8"/>
                </a:solidFill>
                <a:latin typeface="Aptos" pitchFamily="34" charset="0"/>
                <a:ea typeface="Aptos" pitchFamily="34" charset="-122"/>
                <a:cs typeface="Aptos" pitchFamily="34" charset="-120"/>
              </a:rPr>
              <a:t>état</a:t>
            </a:r>
            <a:endParaRPr lang="en-US" sz="820" dirty="0"/>
          </a:p>
        </p:txBody>
      </p:sp>
      <p:sp>
        <p:nvSpPr>
          <p:cNvPr id="35" name="Shape 33"/>
          <p:cNvSpPr/>
          <p:nvPr/>
        </p:nvSpPr>
        <p:spPr>
          <a:xfrm>
            <a:off x="3328416" y="3547872"/>
            <a:ext cx="530352" cy="0"/>
          </a:xfrm>
          <a:prstGeom prst="line">
            <a:avLst/>
          </a:prstGeom>
          <a:noFill/>
          <a:ln w="16510">
            <a:solidFill>
              <a:srgbClr val="68D6E8"/>
            </a:solidFill>
            <a:prstDash val="solid"/>
            <a:tailEnd type="triangle"/>
          </a:ln>
        </p:spPr>
      </p:sp>
      <p:sp>
        <p:nvSpPr>
          <p:cNvPr id="36" name="Shape 34"/>
          <p:cNvSpPr/>
          <p:nvPr/>
        </p:nvSpPr>
        <p:spPr>
          <a:xfrm>
            <a:off x="4169664" y="3364992"/>
            <a:ext cx="329184" cy="329184"/>
          </a:xfrm>
          <a:prstGeom prst="ellipse">
            <a:avLst/>
          </a:prstGeom>
          <a:solidFill>
            <a:srgbClr val="0B1117"/>
          </a:solidFill>
          <a:ln w="19050">
            <a:solidFill>
              <a:srgbClr val="68D6E8"/>
            </a:solidFill>
            <a:prstDash val="solid"/>
          </a:ln>
        </p:spPr>
      </p:sp>
      <p:sp>
        <p:nvSpPr>
          <p:cNvPr id="37" name="Shape 35"/>
          <p:cNvSpPr/>
          <p:nvPr/>
        </p:nvSpPr>
        <p:spPr>
          <a:xfrm>
            <a:off x="4274820" y="3470148"/>
            <a:ext cx="118872" cy="118872"/>
          </a:xfrm>
          <a:prstGeom prst="ellipse">
            <a:avLst/>
          </a:prstGeom>
          <a:solidFill>
            <a:srgbClr val="68D6E8"/>
          </a:solidFill>
          <a:ln w="12700">
            <a:solidFill>
              <a:srgbClr val="68D6E8">
                <a:alpha val="0"/>
              </a:srgbClr>
            </a:solidFill>
            <a:prstDash val="solid"/>
          </a:ln>
        </p:spPr>
      </p:sp>
      <p:sp>
        <p:nvSpPr>
          <p:cNvPr id="38" name="Text 36"/>
          <p:cNvSpPr/>
          <p:nvPr/>
        </p:nvSpPr>
        <p:spPr>
          <a:xfrm>
            <a:off x="3913632" y="3840480"/>
            <a:ext cx="841248" cy="201168"/>
          </a:xfrm>
          <a:prstGeom prst="rect">
            <a:avLst/>
          </a:prstGeom>
          <a:noFill/>
          <a:ln/>
        </p:spPr>
        <p:txBody>
          <a:bodyPr wrap="square" lIns="0" tIns="0" rIns="0" bIns="0" rtlCol="0" anchor="ctr">
            <a:normAutofit/>
          </a:bodyPr>
          <a:lstStyle/>
          <a:p>
            <a:pPr algn="ctr" indent="0" marL="0">
              <a:buNone/>
            </a:pPr>
            <a:r>
              <a:rPr lang="en-US" sz="1220" b="1" dirty="0">
                <a:solidFill>
                  <a:srgbClr val="F5F7F8"/>
                </a:solidFill>
                <a:latin typeface="Aptos Display" pitchFamily="34" charset="0"/>
                <a:ea typeface="Aptos Display" pitchFamily="34" charset="-122"/>
                <a:cs typeface="Aptos Display" pitchFamily="34" charset="-120"/>
              </a:rPr>
              <a:t>planifier</a:t>
            </a:r>
            <a:endParaRPr lang="en-US" sz="1220" dirty="0"/>
          </a:p>
        </p:txBody>
      </p:sp>
      <p:sp>
        <p:nvSpPr>
          <p:cNvPr id="39" name="Text 37"/>
          <p:cNvSpPr/>
          <p:nvPr/>
        </p:nvSpPr>
        <p:spPr>
          <a:xfrm>
            <a:off x="3767328" y="4133088"/>
            <a:ext cx="1133856" cy="182880"/>
          </a:xfrm>
          <a:prstGeom prst="rect">
            <a:avLst/>
          </a:prstGeom>
          <a:noFill/>
          <a:ln/>
        </p:spPr>
        <p:txBody>
          <a:bodyPr wrap="square" lIns="0" tIns="0" rIns="0" bIns="0" rtlCol="0" anchor="t">
            <a:normAutofit/>
          </a:bodyPr>
          <a:lstStyle/>
          <a:p>
            <a:pPr algn="ctr" indent="0" marL="0">
              <a:buNone/>
            </a:pPr>
            <a:r>
              <a:rPr lang="en-US" sz="820" dirty="0">
                <a:solidFill>
                  <a:srgbClr val="68D6E8"/>
                </a:solidFill>
                <a:latin typeface="Aptos" pitchFamily="34" charset="0"/>
                <a:ea typeface="Aptos" pitchFamily="34" charset="-122"/>
                <a:cs typeface="Aptos" pitchFamily="34" charset="-120"/>
              </a:rPr>
              <a:t>état</a:t>
            </a:r>
            <a:endParaRPr lang="en-US" sz="820" dirty="0"/>
          </a:p>
        </p:txBody>
      </p:sp>
      <p:sp>
        <p:nvSpPr>
          <p:cNvPr id="40" name="Shape 38"/>
          <p:cNvSpPr/>
          <p:nvPr/>
        </p:nvSpPr>
        <p:spPr>
          <a:xfrm>
            <a:off x="4846320" y="3547872"/>
            <a:ext cx="530352" cy="0"/>
          </a:xfrm>
          <a:prstGeom prst="line">
            <a:avLst/>
          </a:prstGeom>
          <a:noFill/>
          <a:ln w="16510">
            <a:solidFill>
              <a:srgbClr val="4E9DFF"/>
            </a:solidFill>
            <a:prstDash val="solid"/>
            <a:tailEnd type="triangle"/>
          </a:ln>
        </p:spPr>
      </p:sp>
      <p:sp>
        <p:nvSpPr>
          <p:cNvPr id="41" name="Shape 39"/>
          <p:cNvSpPr/>
          <p:nvPr/>
        </p:nvSpPr>
        <p:spPr>
          <a:xfrm>
            <a:off x="5687568" y="3364992"/>
            <a:ext cx="329184" cy="329184"/>
          </a:xfrm>
          <a:prstGeom prst="ellipse">
            <a:avLst/>
          </a:prstGeom>
          <a:solidFill>
            <a:srgbClr val="0B1117"/>
          </a:solidFill>
          <a:ln w="19050">
            <a:solidFill>
              <a:srgbClr val="4E9DFF"/>
            </a:solidFill>
            <a:prstDash val="solid"/>
          </a:ln>
        </p:spPr>
      </p:sp>
      <p:sp>
        <p:nvSpPr>
          <p:cNvPr id="42" name="Shape 40"/>
          <p:cNvSpPr/>
          <p:nvPr/>
        </p:nvSpPr>
        <p:spPr>
          <a:xfrm>
            <a:off x="5792724" y="3470148"/>
            <a:ext cx="118872" cy="118872"/>
          </a:xfrm>
          <a:prstGeom prst="ellipse">
            <a:avLst/>
          </a:prstGeom>
          <a:solidFill>
            <a:srgbClr val="4E9DFF"/>
          </a:solidFill>
          <a:ln w="12700">
            <a:solidFill>
              <a:srgbClr val="4E9DFF">
                <a:alpha val="0"/>
              </a:srgbClr>
            </a:solidFill>
            <a:prstDash val="solid"/>
          </a:ln>
        </p:spPr>
      </p:sp>
      <p:sp>
        <p:nvSpPr>
          <p:cNvPr id="43" name="Text 41"/>
          <p:cNvSpPr/>
          <p:nvPr/>
        </p:nvSpPr>
        <p:spPr>
          <a:xfrm>
            <a:off x="5431536" y="3840480"/>
            <a:ext cx="841248" cy="201168"/>
          </a:xfrm>
          <a:prstGeom prst="rect">
            <a:avLst/>
          </a:prstGeom>
          <a:noFill/>
          <a:ln/>
        </p:spPr>
        <p:txBody>
          <a:bodyPr wrap="square" lIns="0" tIns="0" rIns="0" bIns="0" rtlCol="0" anchor="ctr">
            <a:normAutofit/>
          </a:bodyPr>
          <a:lstStyle/>
          <a:p>
            <a:pPr algn="ctr" indent="0" marL="0">
              <a:buNone/>
            </a:pPr>
            <a:r>
              <a:rPr lang="en-US" sz="1220" b="1" dirty="0">
                <a:solidFill>
                  <a:srgbClr val="F5F7F8"/>
                </a:solidFill>
                <a:latin typeface="Aptos Display" pitchFamily="34" charset="0"/>
                <a:ea typeface="Aptos Display" pitchFamily="34" charset="-122"/>
                <a:cs typeface="Aptos Display" pitchFamily="34" charset="-120"/>
              </a:rPr>
              <a:t>transformer</a:t>
            </a:r>
            <a:endParaRPr lang="en-US" sz="1220" dirty="0"/>
          </a:p>
        </p:txBody>
      </p:sp>
      <p:sp>
        <p:nvSpPr>
          <p:cNvPr id="44" name="Text 42"/>
          <p:cNvSpPr/>
          <p:nvPr/>
        </p:nvSpPr>
        <p:spPr>
          <a:xfrm>
            <a:off x="5285232" y="4133088"/>
            <a:ext cx="1133856" cy="182880"/>
          </a:xfrm>
          <a:prstGeom prst="rect">
            <a:avLst/>
          </a:prstGeom>
          <a:noFill/>
          <a:ln/>
        </p:spPr>
        <p:txBody>
          <a:bodyPr wrap="square" lIns="0" tIns="0" rIns="0" bIns="0" rtlCol="0" anchor="t">
            <a:normAutofit/>
          </a:bodyPr>
          <a:lstStyle/>
          <a:p>
            <a:pPr algn="ctr" indent="0" marL="0">
              <a:buNone/>
            </a:pPr>
            <a:r>
              <a:rPr lang="en-US" sz="820" dirty="0">
                <a:solidFill>
                  <a:srgbClr val="4E9DFF"/>
                </a:solidFill>
                <a:latin typeface="Aptos" pitchFamily="34" charset="0"/>
                <a:ea typeface="Aptos" pitchFamily="34" charset="-122"/>
                <a:cs typeface="Aptos" pitchFamily="34" charset="-120"/>
              </a:rPr>
              <a:t>état</a:t>
            </a:r>
            <a:endParaRPr lang="en-US" sz="820" dirty="0"/>
          </a:p>
        </p:txBody>
      </p:sp>
      <p:sp>
        <p:nvSpPr>
          <p:cNvPr id="45" name="Shape 43"/>
          <p:cNvSpPr/>
          <p:nvPr/>
        </p:nvSpPr>
        <p:spPr>
          <a:xfrm>
            <a:off x="6364224" y="3547872"/>
            <a:ext cx="530352" cy="0"/>
          </a:xfrm>
          <a:prstGeom prst="line">
            <a:avLst/>
          </a:prstGeom>
          <a:noFill/>
          <a:ln w="16510">
            <a:solidFill>
              <a:srgbClr val="41D3AE"/>
            </a:solidFill>
            <a:prstDash val="solid"/>
            <a:tailEnd type="triangle"/>
          </a:ln>
        </p:spPr>
      </p:sp>
      <p:sp>
        <p:nvSpPr>
          <p:cNvPr id="46" name="Shape 44"/>
          <p:cNvSpPr/>
          <p:nvPr/>
        </p:nvSpPr>
        <p:spPr>
          <a:xfrm>
            <a:off x="7205472" y="3364992"/>
            <a:ext cx="329184" cy="329184"/>
          </a:xfrm>
          <a:prstGeom prst="ellipse">
            <a:avLst/>
          </a:prstGeom>
          <a:solidFill>
            <a:srgbClr val="0B1117"/>
          </a:solidFill>
          <a:ln w="19050">
            <a:solidFill>
              <a:srgbClr val="41D3AE"/>
            </a:solidFill>
            <a:prstDash val="solid"/>
          </a:ln>
        </p:spPr>
      </p:sp>
      <p:sp>
        <p:nvSpPr>
          <p:cNvPr id="47" name="Shape 45"/>
          <p:cNvSpPr/>
          <p:nvPr/>
        </p:nvSpPr>
        <p:spPr>
          <a:xfrm>
            <a:off x="7310628" y="3470148"/>
            <a:ext cx="118872" cy="118872"/>
          </a:xfrm>
          <a:prstGeom prst="ellipse">
            <a:avLst/>
          </a:prstGeom>
          <a:solidFill>
            <a:srgbClr val="41D3AE"/>
          </a:solidFill>
          <a:ln w="12700">
            <a:solidFill>
              <a:srgbClr val="41D3AE">
                <a:alpha val="0"/>
              </a:srgbClr>
            </a:solidFill>
            <a:prstDash val="solid"/>
          </a:ln>
        </p:spPr>
      </p:sp>
      <p:sp>
        <p:nvSpPr>
          <p:cNvPr id="48" name="Text 46"/>
          <p:cNvSpPr/>
          <p:nvPr/>
        </p:nvSpPr>
        <p:spPr>
          <a:xfrm>
            <a:off x="6949440" y="3840480"/>
            <a:ext cx="841248" cy="201168"/>
          </a:xfrm>
          <a:prstGeom prst="rect">
            <a:avLst/>
          </a:prstGeom>
          <a:noFill/>
          <a:ln/>
        </p:spPr>
        <p:txBody>
          <a:bodyPr wrap="square" lIns="0" tIns="0" rIns="0" bIns="0" rtlCol="0" anchor="ctr">
            <a:normAutofit/>
          </a:bodyPr>
          <a:lstStyle/>
          <a:p>
            <a:pPr algn="ctr" indent="0" marL="0">
              <a:buNone/>
            </a:pPr>
            <a:r>
              <a:rPr lang="en-US" sz="1220" b="1" dirty="0">
                <a:solidFill>
                  <a:srgbClr val="F5F7F8"/>
                </a:solidFill>
                <a:latin typeface="Aptos Display" pitchFamily="34" charset="0"/>
                <a:ea typeface="Aptos Display" pitchFamily="34" charset="-122"/>
                <a:cs typeface="Aptos Display" pitchFamily="34" charset="-120"/>
              </a:rPr>
              <a:t>valider</a:t>
            </a:r>
            <a:endParaRPr lang="en-US" sz="1220" dirty="0"/>
          </a:p>
        </p:txBody>
      </p:sp>
      <p:sp>
        <p:nvSpPr>
          <p:cNvPr id="49" name="Text 47"/>
          <p:cNvSpPr/>
          <p:nvPr/>
        </p:nvSpPr>
        <p:spPr>
          <a:xfrm>
            <a:off x="6803136" y="4133088"/>
            <a:ext cx="1133856" cy="182880"/>
          </a:xfrm>
          <a:prstGeom prst="rect">
            <a:avLst/>
          </a:prstGeom>
          <a:noFill/>
          <a:ln/>
        </p:spPr>
        <p:txBody>
          <a:bodyPr wrap="square" lIns="0" tIns="0" rIns="0" bIns="0" rtlCol="0" anchor="t">
            <a:normAutofit/>
          </a:bodyPr>
          <a:lstStyle/>
          <a:p>
            <a:pPr algn="ctr" indent="0" marL="0">
              <a:buNone/>
            </a:pPr>
            <a:r>
              <a:rPr lang="en-US" sz="820" dirty="0">
                <a:solidFill>
                  <a:srgbClr val="41D3AE"/>
                </a:solidFill>
                <a:latin typeface="Aptos" pitchFamily="34" charset="0"/>
                <a:ea typeface="Aptos" pitchFamily="34" charset="-122"/>
                <a:cs typeface="Aptos" pitchFamily="34" charset="-120"/>
              </a:rPr>
              <a:t>état</a:t>
            </a:r>
            <a:endParaRPr lang="en-US" sz="820" dirty="0"/>
          </a:p>
        </p:txBody>
      </p:sp>
      <p:sp>
        <p:nvSpPr>
          <p:cNvPr id="50" name="Shape 48"/>
          <p:cNvSpPr/>
          <p:nvPr/>
        </p:nvSpPr>
        <p:spPr>
          <a:xfrm>
            <a:off x="7882128" y="3547872"/>
            <a:ext cx="530352" cy="0"/>
          </a:xfrm>
          <a:prstGeom prst="line">
            <a:avLst/>
          </a:prstGeom>
          <a:noFill/>
          <a:ln w="16510">
            <a:solidFill>
              <a:srgbClr val="FF6F72"/>
            </a:solidFill>
            <a:prstDash val="solid"/>
            <a:tailEnd type="triangle"/>
          </a:ln>
        </p:spPr>
      </p:sp>
      <p:sp>
        <p:nvSpPr>
          <p:cNvPr id="51" name="Shape 49"/>
          <p:cNvSpPr/>
          <p:nvPr/>
        </p:nvSpPr>
        <p:spPr>
          <a:xfrm>
            <a:off x="8723376" y="3364992"/>
            <a:ext cx="329184" cy="329184"/>
          </a:xfrm>
          <a:prstGeom prst="ellipse">
            <a:avLst/>
          </a:prstGeom>
          <a:solidFill>
            <a:srgbClr val="0B1117"/>
          </a:solidFill>
          <a:ln w="19050">
            <a:solidFill>
              <a:srgbClr val="FF6F72"/>
            </a:solidFill>
            <a:prstDash val="solid"/>
          </a:ln>
        </p:spPr>
      </p:sp>
      <p:sp>
        <p:nvSpPr>
          <p:cNvPr id="52" name="Shape 50"/>
          <p:cNvSpPr/>
          <p:nvPr/>
        </p:nvSpPr>
        <p:spPr>
          <a:xfrm>
            <a:off x="8828532" y="3470148"/>
            <a:ext cx="118872" cy="118872"/>
          </a:xfrm>
          <a:prstGeom prst="ellipse">
            <a:avLst/>
          </a:prstGeom>
          <a:solidFill>
            <a:srgbClr val="FF6F72"/>
          </a:solidFill>
          <a:ln w="12700">
            <a:solidFill>
              <a:srgbClr val="FF6F72">
                <a:alpha val="0"/>
              </a:srgbClr>
            </a:solidFill>
            <a:prstDash val="solid"/>
          </a:ln>
        </p:spPr>
      </p:sp>
      <p:sp>
        <p:nvSpPr>
          <p:cNvPr id="53" name="Text 51"/>
          <p:cNvSpPr/>
          <p:nvPr/>
        </p:nvSpPr>
        <p:spPr>
          <a:xfrm>
            <a:off x="8467344" y="3840480"/>
            <a:ext cx="841248" cy="201168"/>
          </a:xfrm>
          <a:prstGeom prst="rect">
            <a:avLst/>
          </a:prstGeom>
          <a:noFill/>
          <a:ln/>
        </p:spPr>
        <p:txBody>
          <a:bodyPr wrap="square" lIns="0" tIns="0" rIns="0" bIns="0" rtlCol="0" anchor="ctr">
            <a:normAutofit/>
          </a:bodyPr>
          <a:lstStyle/>
          <a:p>
            <a:pPr algn="ctr" indent="0" marL="0">
              <a:buNone/>
            </a:pPr>
            <a:r>
              <a:rPr lang="en-US" sz="1220" b="1" dirty="0">
                <a:solidFill>
                  <a:srgbClr val="F5F7F8"/>
                </a:solidFill>
                <a:latin typeface="Aptos Display" pitchFamily="34" charset="0"/>
                <a:ea typeface="Aptos Display" pitchFamily="34" charset="-122"/>
                <a:cs typeface="Aptos Display" pitchFamily="34" charset="-120"/>
              </a:rPr>
              <a:t>réparer</a:t>
            </a:r>
            <a:endParaRPr lang="en-US" sz="1220" dirty="0"/>
          </a:p>
        </p:txBody>
      </p:sp>
      <p:sp>
        <p:nvSpPr>
          <p:cNvPr id="54" name="Text 52"/>
          <p:cNvSpPr/>
          <p:nvPr/>
        </p:nvSpPr>
        <p:spPr>
          <a:xfrm>
            <a:off x="8321040" y="4133088"/>
            <a:ext cx="1133856" cy="182880"/>
          </a:xfrm>
          <a:prstGeom prst="rect">
            <a:avLst/>
          </a:prstGeom>
          <a:noFill/>
          <a:ln/>
        </p:spPr>
        <p:txBody>
          <a:bodyPr wrap="square" lIns="0" tIns="0" rIns="0" bIns="0" rtlCol="0" anchor="t">
            <a:normAutofit/>
          </a:bodyPr>
          <a:lstStyle/>
          <a:p>
            <a:pPr algn="ctr" indent="0" marL="0">
              <a:buNone/>
            </a:pPr>
            <a:r>
              <a:rPr lang="en-US" sz="820" dirty="0">
                <a:solidFill>
                  <a:srgbClr val="FF6F72"/>
                </a:solidFill>
                <a:latin typeface="Aptos" pitchFamily="34" charset="0"/>
                <a:ea typeface="Aptos" pitchFamily="34" charset="-122"/>
                <a:cs typeface="Aptos" pitchFamily="34" charset="-120"/>
              </a:rPr>
              <a:t>état</a:t>
            </a:r>
            <a:endParaRPr lang="en-US" sz="820" dirty="0"/>
          </a:p>
        </p:txBody>
      </p:sp>
      <p:sp>
        <p:nvSpPr>
          <p:cNvPr id="55" name="Shape 53"/>
          <p:cNvSpPr/>
          <p:nvPr/>
        </p:nvSpPr>
        <p:spPr>
          <a:xfrm>
            <a:off x="9400032" y="3547872"/>
            <a:ext cx="530352" cy="0"/>
          </a:xfrm>
          <a:prstGeom prst="line">
            <a:avLst/>
          </a:prstGeom>
          <a:noFill/>
          <a:ln w="16510">
            <a:solidFill>
              <a:srgbClr val="41D3AE"/>
            </a:solidFill>
            <a:prstDash val="solid"/>
            <a:tailEnd type="triangle"/>
          </a:ln>
        </p:spPr>
      </p:sp>
      <p:sp>
        <p:nvSpPr>
          <p:cNvPr id="56" name="Shape 54"/>
          <p:cNvSpPr/>
          <p:nvPr/>
        </p:nvSpPr>
        <p:spPr>
          <a:xfrm>
            <a:off x="10241280" y="3364992"/>
            <a:ext cx="329184" cy="329184"/>
          </a:xfrm>
          <a:prstGeom prst="ellipse">
            <a:avLst/>
          </a:prstGeom>
          <a:solidFill>
            <a:srgbClr val="0B1117"/>
          </a:solidFill>
          <a:ln w="19050">
            <a:solidFill>
              <a:srgbClr val="41D3AE"/>
            </a:solidFill>
            <a:prstDash val="solid"/>
          </a:ln>
        </p:spPr>
      </p:sp>
      <p:sp>
        <p:nvSpPr>
          <p:cNvPr id="57" name="Shape 55"/>
          <p:cNvSpPr/>
          <p:nvPr/>
        </p:nvSpPr>
        <p:spPr>
          <a:xfrm>
            <a:off x="10346436" y="3470148"/>
            <a:ext cx="118872" cy="118872"/>
          </a:xfrm>
          <a:prstGeom prst="ellipse">
            <a:avLst/>
          </a:prstGeom>
          <a:solidFill>
            <a:srgbClr val="41D3AE"/>
          </a:solidFill>
          <a:ln w="12700">
            <a:solidFill>
              <a:srgbClr val="41D3AE">
                <a:alpha val="0"/>
              </a:srgbClr>
            </a:solidFill>
            <a:prstDash val="solid"/>
          </a:ln>
        </p:spPr>
      </p:sp>
      <p:sp>
        <p:nvSpPr>
          <p:cNvPr id="58" name="Text 56"/>
          <p:cNvSpPr/>
          <p:nvPr/>
        </p:nvSpPr>
        <p:spPr>
          <a:xfrm>
            <a:off x="9985248" y="3840480"/>
            <a:ext cx="841248" cy="201168"/>
          </a:xfrm>
          <a:prstGeom prst="rect">
            <a:avLst/>
          </a:prstGeom>
          <a:noFill/>
          <a:ln/>
        </p:spPr>
        <p:txBody>
          <a:bodyPr wrap="square" lIns="0" tIns="0" rIns="0" bIns="0" rtlCol="0" anchor="ctr">
            <a:normAutofit/>
          </a:bodyPr>
          <a:lstStyle/>
          <a:p>
            <a:pPr algn="ctr" indent="0" marL="0">
              <a:buNone/>
            </a:pPr>
            <a:r>
              <a:rPr lang="en-US" sz="1220" b="1" dirty="0">
                <a:solidFill>
                  <a:srgbClr val="F5F7F8"/>
                </a:solidFill>
                <a:latin typeface="Aptos Display" pitchFamily="34" charset="0"/>
                <a:ea typeface="Aptos Display" pitchFamily="34" charset="-122"/>
                <a:cs typeface="Aptos Display" pitchFamily="34" charset="-120"/>
              </a:rPr>
              <a:t>sceller</a:t>
            </a:r>
            <a:endParaRPr lang="en-US" sz="1220" dirty="0"/>
          </a:p>
        </p:txBody>
      </p:sp>
      <p:sp>
        <p:nvSpPr>
          <p:cNvPr id="59" name="Text 57"/>
          <p:cNvSpPr/>
          <p:nvPr/>
        </p:nvSpPr>
        <p:spPr>
          <a:xfrm>
            <a:off x="9838944" y="4133088"/>
            <a:ext cx="1133856" cy="182880"/>
          </a:xfrm>
          <a:prstGeom prst="rect">
            <a:avLst/>
          </a:prstGeom>
          <a:noFill/>
          <a:ln/>
        </p:spPr>
        <p:txBody>
          <a:bodyPr wrap="square" lIns="0" tIns="0" rIns="0" bIns="0" rtlCol="0" anchor="t">
            <a:normAutofit/>
          </a:bodyPr>
          <a:lstStyle/>
          <a:p>
            <a:pPr algn="ctr" indent="0" marL="0">
              <a:buNone/>
            </a:pPr>
            <a:r>
              <a:rPr lang="en-US" sz="820" dirty="0">
                <a:solidFill>
                  <a:srgbClr val="41D3AE"/>
                </a:solidFill>
                <a:latin typeface="Aptos" pitchFamily="34" charset="0"/>
                <a:ea typeface="Aptos" pitchFamily="34" charset="-122"/>
                <a:cs typeface="Aptos" pitchFamily="34" charset="-120"/>
              </a:rPr>
              <a:t>preuve</a:t>
            </a:r>
            <a:endParaRPr lang="en-US" sz="820" dirty="0"/>
          </a:p>
        </p:txBody>
      </p:sp>
      <p:sp>
        <p:nvSpPr>
          <p:cNvPr id="60" name="Shape 58"/>
          <p:cNvSpPr/>
          <p:nvPr/>
        </p:nvSpPr>
        <p:spPr>
          <a:xfrm>
            <a:off x="4626864" y="2578608"/>
            <a:ext cx="0" cy="1938528"/>
          </a:xfrm>
          <a:prstGeom prst="line">
            <a:avLst/>
          </a:prstGeom>
          <a:noFill/>
          <a:ln w="12700">
            <a:solidFill>
              <a:srgbClr val="F4B84A"/>
            </a:solidFill>
            <a:prstDash val="solid"/>
          </a:ln>
        </p:spPr>
      </p:sp>
      <p:sp>
        <p:nvSpPr>
          <p:cNvPr id="61" name="Shape 59"/>
          <p:cNvSpPr/>
          <p:nvPr/>
        </p:nvSpPr>
        <p:spPr>
          <a:xfrm>
            <a:off x="7662672" y="2578608"/>
            <a:ext cx="0" cy="1938528"/>
          </a:xfrm>
          <a:prstGeom prst="line">
            <a:avLst/>
          </a:prstGeom>
          <a:noFill/>
          <a:ln w="12700">
            <a:solidFill>
              <a:srgbClr val="F4B84A"/>
            </a:solidFill>
            <a:prstDash val="solid"/>
          </a:ln>
        </p:spPr>
      </p:sp>
      <p:sp>
        <p:nvSpPr>
          <p:cNvPr id="62" name="Text 60"/>
          <p:cNvSpPr/>
          <p:nvPr/>
        </p:nvSpPr>
        <p:spPr>
          <a:xfrm>
            <a:off x="4297680" y="2395728"/>
            <a:ext cx="658368" cy="146304"/>
          </a:xfrm>
          <a:prstGeom prst="rect">
            <a:avLst/>
          </a:prstGeom>
          <a:noFill/>
          <a:ln/>
        </p:spPr>
        <p:txBody>
          <a:bodyPr wrap="square" lIns="0" tIns="0" rIns="0" bIns="0" rtlCol="0" anchor="ctr">
            <a:normAutofit/>
          </a:bodyPr>
          <a:lstStyle/>
          <a:p>
            <a:pPr algn="ctr" indent="0" marL="0">
              <a:buNone/>
            </a:pPr>
            <a:r>
              <a:rPr lang="en-US" sz="750" b="1" spc="60" kern="0" dirty="0">
                <a:solidFill>
                  <a:srgbClr val="F4B84A"/>
                </a:solidFill>
                <a:latin typeface="Aptos Mono" pitchFamily="34" charset="0"/>
                <a:ea typeface="Aptos Mono" pitchFamily="34" charset="-122"/>
                <a:cs typeface="Aptos Mono" pitchFamily="34" charset="-120"/>
              </a:rPr>
              <a:t>GATE</a:t>
            </a:r>
            <a:endParaRPr lang="en-US" sz="750" dirty="0"/>
          </a:p>
        </p:txBody>
      </p:sp>
      <p:sp>
        <p:nvSpPr>
          <p:cNvPr id="63" name="Text 61"/>
          <p:cNvSpPr/>
          <p:nvPr/>
        </p:nvSpPr>
        <p:spPr>
          <a:xfrm>
            <a:off x="7333488" y="2395728"/>
            <a:ext cx="658368" cy="146304"/>
          </a:xfrm>
          <a:prstGeom prst="rect">
            <a:avLst/>
          </a:prstGeom>
          <a:noFill/>
          <a:ln/>
        </p:spPr>
        <p:txBody>
          <a:bodyPr wrap="square" lIns="0" tIns="0" rIns="0" bIns="0" rtlCol="0" anchor="ctr">
            <a:normAutofit/>
          </a:bodyPr>
          <a:lstStyle/>
          <a:p>
            <a:pPr algn="ctr" indent="0" marL="0">
              <a:buNone/>
            </a:pPr>
            <a:r>
              <a:rPr lang="en-US" sz="750" b="1" spc="60" kern="0" dirty="0">
                <a:solidFill>
                  <a:srgbClr val="F4B84A"/>
                </a:solidFill>
                <a:latin typeface="Aptos Mono" pitchFamily="34" charset="0"/>
                <a:ea typeface="Aptos Mono" pitchFamily="34" charset="-122"/>
                <a:cs typeface="Aptos Mono" pitchFamily="34" charset="-120"/>
              </a:rPr>
              <a:t>GATE</a:t>
            </a:r>
            <a:endParaRPr lang="en-US" sz="750" dirty="0"/>
          </a:p>
        </p:txBody>
      </p:sp>
      <p:sp>
        <p:nvSpPr>
          <p:cNvPr id="64" name="Shape 62"/>
          <p:cNvSpPr/>
          <p:nvPr/>
        </p:nvSpPr>
        <p:spPr>
          <a:xfrm>
            <a:off x="877824" y="4791456"/>
            <a:ext cx="2980944" cy="713232"/>
          </a:xfrm>
          <a:prstGeom prst="rect">
            <a:avLst/>
          </a:prstGeom>
          <a:solidFill>
            <a:srgbClr val="131D26"/>
          </a:solidFill>
          <a:ln w="11430">
            <a:solidFill>
              <a:srgbClr val="4E9DFF"/>
            </a:solidFill>
            <a:prstDash val="solid"/>
          </a:ln>
        </p:spPr>
      </p:sp>
      <p:sp>
        <p:nvSpPr>
          <p:cNvPr id="65" name="Text 63"/>
          <p:cNvSpPr/>
          <p:nvPr/>
        </p:nvSpPr>
        <p:spPr>
          <a:xfrm>
            <a:off x="1115568" y="5010912"/>
            <a:ext cx="640080" cy="146304"/>
          </a:xfrm>
          <a:prstGeom prst="rect">
            <a:avLst/>
          </a:prstGeom>
          <a:noFill/>
          <a:ln/>
        </p:spPr>
        <p:txBody>
          <a:bodyPr wrap="square" lIns="0" tIns="0" rIns="0" bIns="0" rtlCol="0" anchor="ctr">
            <a:normAutofit/>
          </a:bodyPr>
          <a:lstStyle/>
          <a:p>
            <a:pPr algn="l" indent="0" marL="0">
              <a:buNone/>
            </a:pPr>
            <a:r>
              <a:rPr lang="en-US" sz="780" b="1" spc="80" kern="0" dirty="0">
                <a:solidFill>
                  <a:srgbClr val="4E9DFF"/>
                </a:solidFill>
                <a:latin typeface="Aptos Mono" pitchFamily="34" charset="0"/>
                <a:ea typeface="Aptos Mono" pitchFamily="34" charset="-122"/>
                <a:cs typeface="Aptos Mono" pitchFamily="34" charset="-120"/>
              </a:rPr>
              <a:t>ÉTAT</a:t>
            </a:r>
            <a:endParaRPr lang="en-US" sz="780" dirty="0"/>
          </a:p>
        </p:txBody>
      </p:sp>
      <p:sp>
        <p:nvSpPr>
          <p:cNvPr id="66" name="Text 64"/>
          <p:cNvSpPr/>
          <p:nvPr/>
        </p:nvSpPr>
        <p:spPr>
          <a:xfrm>
            <a:off x="1993392" y="4974336"/>
            <a:ext cx="1572768" cy="182880"/>
          </a:xfrm>
          <a:prstGeom prst="rect">
            <a:avLst/>
          </a:prstGeom>
          <a:noFill/>
          <a:ln/>
        </p:spPr>
        <p:txBody>
          <a:bodyPr wrap="square" lIns="0" tIns="0" rIns="0" bIns="0" rtlCol="0" anchor="ctr">
            <a:normAutofit/>
          </a:bodyPr>
          <a:lstStyle/>
          <a:p>
            <a:pPr algn="l" indent="0" marL="0">
              <a:buNone/>
            </a:pPr>
            <a:r>
              <a:rPr lang="en-US" sz="1020" b="1" dirty="0">
                <a:solidFill>
                  <a:srgbClr val="F5F7F8"/>
                </a:solidFill>
                <a:latin typeface="Aptos Display" pitchFamily="34" charset="0"/>
                <a:ea typeface="Aptos Display" pitchFamily="34" charset="-122"/>
                <a:cs typeface="Aptos Display" pitchFamily="34" charset="-120"/>
              </a:rPr>
              <a:t>ce que le système sait</a:t>
            </a:r>
            <a:endParaRPr lang="en-US" sz="1020" dirty="0"/>
          </a:p>
        </p:txBody>
      </p:sp>
      <p:sp>
        <p:nvSpPr>
          <p:cNvPr id="67" name="Shape 65"/>
          <p:cNvSpPr/>
          <p:nvPr/>
        </p:nvSpPr>
        <p:spPr>
          <a:xfrm>
            <a:off x="4169664" y="4791456"/>
            <a:ext cx="2980944" cy="713232"/>
          </a:xfrm>
          <a:prstGeom prst="rect">
            <a:avLst/>
          </a:prstGeom>
          <a:solidFill>
            <a:srgbClr val="131D26"/>
          </a:solidFill>
          <a:ln w="11430">
            <a:solidFill>
              <a:srgbClr val="F4B84A"/>
            </a:solidFill>
            <a:prstDash val="solid"/>
          </a:ln>
        </p:spPr>
      </p:sp>
      <p:sp>
        <p:nvSpPr>
          <p:cNvPr id="68" name="Text 66"/>
          <p:cNvSpPr/>
          <p:nvPr/>
        </p:nvSpPr>
        <p:spPr>
          <a:xfrm>
            <a:off x="4407408" y="5010912"/>
            <a:ext cx="640080" cy="146304"/>
          </a:xfrm>
          <a:prstGeom prst="rect">
            <a:avLst/>
          </a:prstGeom>
          <a:noFill/>
          <a:ln/>
        </p:spPr>
        <p:txBody>
          <a:bodyPr wrap="square" lIns="0" tIns="0" rIns="0" bIns="0" rtlCol="0" anchor="ctr">
            <a:normAutofit/>
          </a:bodyPr>
          <a:lstStyle/>
          <a:p>
            <a:pPr algn="l" indent="0" marL="0">
              <a:buNone/>
            </a:pPr>
            <a:r>
              <a:rPr lang="en-US" sz="780" b="1" spc="80" kern="0" dirty="0">
                <a:solidFill>
                  <a:srgbClr val="F4B84A"/>
                </a:solidFill>
                <a:latin typeface="Aptos Mono" pitchFamily="34" charset="0"/>
                <a:ea typeface="Aptos Mono" pitchFamily="34" charset="-122"/>
                <a:cs typeface="Aptos Mono" pitchFamily="34" charset="-120"/>
              </a:rPr>
              <a:t>GATE</a:t>
            </a:r>
            <a:endParaRPr lang="en-US" sz="780" dirty="0"/>
          </a:p>
        </p:txBody>
      </p:sp>
      <p:sp>
        <p:nvSpPr>
          <p:cNvPr id="69" name="Text 67"/>
          <p:cNvSpPr/>
          <p:nvPr/>
        </p:nvSpPr>
        <p:spPr>
          <a:xfrm>
            <a:off x="5266944" y="4974336"/>
            <a:ext cx="1609344" cy="182880"/>
          </a:xfrm>
          <a:prstGeom prst="rect">
            <a:avLst/>
          </a:prstGeom>
          <a:noFill/>
          <a:ln/>
        </p:spPr>
        <p:txBody>
          <a:bodyPr wrap="square" lIns="0" tIns="0" rIns="0" bIns="0" rtlCol="0" anchor="ctr">
            <a:normAutofit/>
          </a:bodyPr>
          <a:lstStyle/>
          <a:p>
            <a:pPr algn="l" indent="0" marL="0">
              <a:buNone/>
            </a:pPr>
            <a:r>
              <a:rPr lang="en-US" sz="1020" b="1" dirty="0">
                <a:solidFill>
                  <a:srgbClr val="F5F7F8"/>
                </a:solidFill>
                <a:latin typeface="Aptos Display" pitchFamily="34" charset="0"/>
                <a:ea typeface="Aptos Display" pitchFamily="34" charset="-122"/>
                <a:cs typeface="Aptos Display" pitchFamily="34" charset="-120"/>
              </a:rPr>
              <a:t>ce que l'humain autorise</a:t>
            </a:r>
            <a:endParaRPr lang="en-US" sz="1020" dirty="0"/>
          </a:p>
        </p:txBody>
      </p:sp>
      <p:sp>
        <p:nvSpPr>
          <p:cNvPr id="70" name="Shape 68"/>
          <p:cNvSpPr/>
          <p:nvPr/>
        </p:nvSpPr>
        <p:spPr>
          <a:xfrm>
            <a:off x="7461504" y="4791456"/>
            <a:ext cx="3364992" cy="713232"/>
          </a:xfrm>
          <a:prstGeom prst="rect">
            <a:avLst/>
          </a:prstGeom>
          <a:solidFill>
            <a:srgbClr val="131D26"/>
          </a:solidFill>
          <a:ln w="11430">
            <a:solidFill>
              <a:srgbClr val="41D3AE"/>
            </a:solidFill>
            <a:prstDash val="solid"/>
          </a:ln>
        </p:spPr>
      </p:sp>
      <p:sp>
        <p:nvSpPr>
          <p:cNvPr id="71" name="Text 69"/>
          <p:cNvSpPr/>
          <p:nvPr/>
        </p:nvSpPr>
        <p:spPr>
          <a:xfrm>
            <a:off x="7699248" y="5010912"/>
            <a:ext cx="841248" cy="146304"/>
          </a:xfrm>
          <a:prstGeom prst="rect">
            <a:avLst/>
          </a:prstGeom>
          <a:noFill/>
          <a:ln/>
        </p:spPr>
        <p:txBody>
          <a:bodyPr wrap="square" lIns="0" tIns="0" rIns="0" bIns="0" rtlCol="0" anchor="ctr">
            <a:normAutofit/>
          </a:bodyPr>
          <a:lstStyle/>
          <a:p>
            <a:pPr algn="l" indent="0" marL="0">
              <a:buNone/>
            </a:pPr>
            <a:r>
              <a:rPr lang="en-US" sz="780" b="1" spc="80" kern="0" dirty="0">
                <a:solidFill>
                  <a:srgbClr val="41D3AE"/>
                </a:solidFill>
                <a:latin typeface="Aptos Mono" pitchFamily="34" charset="0"/>
                <a:ea typeface="Aptos Mono" pitchFamily="34" charset="-122"/>
                <a:cs typeface="Aptos Mono" pitchFamily="34" charset="-120"/>
              </a:rPr>
              <a:t>PREUVE</a:t>
            </a:r>
            <a:endParaRPr lang="en-US" sz="780" dirty="0"/>
          </a:p>
        </p:txBody>
      </p:sp>
      <p:sp>
        <p:nvSpPr>
          <p:cNvPr id="72" name="Text 70"/>
          <p:cNvSpPr/>
          <p:nvPr/>
        </p:nvSpPr>
        <p:spPr>
          <a:xfrm>
            <a:off x="8741664" y="4974336"/>
            <a:ext cx="1755648" cy="182880"/>
          </a:xfrm>
          <a:prstGeom prst="rect">
            <a:avLst/>
          </a:prstGeom>
          <a:noFill/>
          <a:ln/>
        </p:spPr>
        <p:txBody>
          <a:bodyPr wrap="square" lIns="0" tIns="0" rIns="0" bIns="0" rtlCol="0" anchor="ctr">
            <a:normAutofit/>
          </a:bodyPr>
          <a:lstStyle/>
          <a:p>
            <a:pPr algn="l" indent="0" marL="0">
              <a:buNone/>
            </a:pPr>
            <a:r>
              <a:rPr lang="en-US" sz="1020" b="1" dirty="0">
                <a:solidFill>
                  <a:srgbClr val="F5F7F8"/>
                </a:solidFill>
                <a:latin typeface="Aptos Display" pitchFamily="34" charset="0"/>
                <a:ea typeface="Aptos Display" pitchFamily="34" charset="-122"/>
                <a:cs typeface="Aptos Display" pitchFamily="34" charset="-120"/>
              </a:rPr>
              <a:t>ce qui permet de revalider</a:t>
            </a:r>
            <a:endParaRPr lang="en-US" sz="10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117"/>
        </a:solidFill>
      </p:bgPr>
    </p:bg>
    <p:spTree>
      <p:nvGrpSpPr>
        <p:cNvPr id="1" name=""/>
        <p:cNvGrpSpPr/>
        <p:nvPr/>
      </p:nvGrpSpPr>
      <p:grpSpPr>
        <a:xfrm>
          <a:off x="0" y="0"/>
          <a:ext cx="0" cy="0"/>
          <a:chOff x="0" y="0"/>
          <a:chExt cx="0" cy="0"/>
        </a:xfrm>
      </p:grpSpPr>
      <p:sp>
        <p:nvSpPr>
          <p:cNvPr id="2" name="Shape 0"/>
          <p:cNvSpPr/>
          <p:nvPr/>
        </p:nvSpPr>
        <p:spPr>
          <a:xfrm>
            <a:off x="676656" y="411480"/>
            <a:ext cx="10735056" cy="0"/>
          </a:xfrm>
          <a:prstGeom prst="line">
            <a:avLst/>
          </a:prstGeom>
          <a:noFill/>
          <a:ln w="10160">
            <a:solidFill>
              <a:srgbClr val="344653">
                <a:alpha val="85000"/>
              </a:srgbClr>
            </a:solidFill>
            <a:prstDash val="solid"/>
          </a:ln>
        </p:spPr>
      </p:sp>
      <p:sp>
        <p:nvSpPr>
          <p:cNvPr id="3" name="Shape 1"/>
          <p:cNvSpPr/>
          <p:nvPr/>
        </p:nvSpPr>
        <p:spPr>
          <a:xfrm>
            <a:off x="658368" y="356616"/>
            <a:ext cx="73152" cy="73152"/>
          </a:xfrm>
          <a:prstGeom prst="ellipse">
            <a:avLst/>
          </a:prstGeom>
          <a:solidFill>
            <a:srgbClr val="41D3AE"/>
          </a:solidFill>
          <a:ln w="12700">
            <a:solidFill>
              <a:srgbClr val="41D3AE">
                <a:alpha val="0"/>
              </a:srgbClr>
            </a:solidFill>
            <a:prstDash val="solid"/>
          </a:ln>
        </p:spPr>
      </p:sp>
      <p:sp>
        <p:nvSpPr>
          <p:cNvPr id="4" name="Text 2"/>
          <p:cNvSpPr/>
          <p:nvPr/>
        </p:nvSpPr>
        <p:spPr>
          <a:xfrm>
            <a:off x="822960" y="201168"/>
            <a:ext cx="1207008" cy="164592"/>
          </a:xfrm>
          <a:prstGeom prst="rect">
            <a:avLst/>
          </a:prstGeom>
          <a:noFill/>
          <a:ln/>
        </p:spPr>
        <p:txBody>
          <a:bodyPr wrap="square" lIns="0" tIns="0" rIns="0" bIns="0" rtlCol="0" anchor="ctr">
            <a:normAutofit/>
          </a:bodyPr>
          <a:lstStyle/>
          <a:p>
            <a:pPr algn="l" indent="0" marL="0">
              <a:buNone/>
            </a:pPr>
            <a:r>
              <a:rPr lang="en-US" sz="760" b="1" dirty="0">
                <a:solidFill>
                  <a:srgbClr val="9EADB8"/>
                </a:solidFill>
                <a:latin typeface="Aptos" pitchFamily="34" charset="0"/>
                <a:ea typeface="Aptos" pitchFamily="34" charset="-122"/>
                <a:cs typeface="Aptos" pitchFamily="34" charset="-120"/>
              </a:rPr>
              <a:t>Contexte</a:t>
            </a:r>
            <a:endParaRPr lang="en-US" sz="760" dirty="0"/>
          </a:p>
        </p:txBody>
      </p:sp>
      <p:sp>
        <p:nvSpPr>
          <p:cNvPr id="5" name="Shape 3"/>
          <p:cNvSpPr/>
          <p:nvPr/>
        </p:nvSpPr>
        <p:spPr>
          <a:xfrm>
            <a:off x="2130552" y="356616"/>
            <a:ext cx="73152" cy="73152"/>
          </a:xfrm>
          <a:prstGeom prst="ellipse">
            <a:avLst/>
          </a:prstGeom>
          <a:solidFill>
            <a:srgbClr val="41D3AE"/>
          </a:solidFill>
          <a:ln w="12700">
            <a:solidFill>
              <a:srgbClr val="41D3AE">
                <a:alpha val="0"/>
              </a:srgbClr>
            </a:solidFill>
            <a:prstDash val="solid"/>
          </a:ln>
        </p:spPr>
      </p:sp>
      <p:sp>
        <p:nvSpPr>
          <p:cNvPr id="6" name="Text 4"/>
          <p:cNvSpPr/>
          <p:nvPr/>
        </p:nvSpPr>
        <p:spPr>
          <a:xfrm>
            <a:off x="2295144" y="201168"/>
            <a:ext cx="1207008" cy="164592"/>
          </a:xfrm>
          <a:prstGeom prst="rect">
            <a:avLst/>
          </a:prstGeom>
          <a:noFill/>
          <a:ln/>
        </p:spPr>
        <p:txBody>
          <a:bodyPr wrap="square" lIns="0" tIns="0" rIns="0" bIns="0" rtlCol="0" anchor="ctr">
            <a:normAutofit/>
          </a:bodyPr>
          <a:lstStyle/>
          <a:p>
            <a:pPr algn="l" indent="0" marL="0">
              <a:buNone/>
            </a:pPr>
            <a:r>
              <a:rPr lang="en-US" sz="760" b="1" dirty="0">
                <a:solidFill>
                  <a:srgbClr val="9EADB8"/>
                </a:solidFill>
                <a:latin typeface="Aptos" pitchFamily="34" charset="0"/>
                <a:ea typeface="Aptos" pitchFamily="34" charset="-122"/>
                <a:cs typeface="Aptos" pitchFamily="34" charset="-120"/>
              </a:rPr>
              <a:t>Solution</a:t>
            </a:r>
            <a:endParaRPr lang="en-US" sz="760" dirty="0"/>
          </a:p>
        </p:txBody>
      </p:sp>
      <p:sp>
        <p:nvSpPr>
          <p:cNvPr id="7" name="Shape 5"/>
          <p:cNvSpPr/>
          <p:nvPr/>
        </p:nvSpPr>
        <p:spPr>
          <a:xfrm>
            <a:off x="3493008" y="356616"/>
            <a:ext cx="73152" cy="73152"/>
          </a:xfrm>
          <a:prstGeom prst="ellipse">
            <a:avLst/>
          </a:prstGeom>
          <a:solidFill>
            <a:srgbClr val="41D3AE"/>
          </a:solidFill>
          <a:ln w="12700">
            <a:solidFill>
              <a:srgbClr val="41D3AE">
                <a:alpha val="0"/>
              </a:srgbClr>
            </a:solidFill>
            <a:prstDash val="solid"/>
          </a:ln>
        </p:spPr>
      </p:sp>
      <p:sp>
        <p:nvSpPr>
          <p:cNvPr id="8" name="Text 6"/>
          <p:cNvSpPr/>
          <p:nvPr/>
        </p:nvSpPr>
        <p:spPr>
          <a:xfrm>
            <a:off x="3657600" y="201168"/>
            <a:ext cx="1207008" cy="164592"/>
          </a:xfrm>
          <a:prstGeom prst="rect">
            <a:avLst/>
          </a:prstGeom>
          <a:noFill/>
          <a:ln/>
        </p:spPr>
        <p:txBody>
          <a:bodyPr wrap="square" lIns="0" tIns="0" rIns="0" bIns="0" rtlCol="0" anchor="ctr">
            <a:normAutofit/>
          </a:bodyPr>
          <a:lstStyle/>
          <a:p>
            <a:pPr algn="l" indent="0" marL="0">
              <a:buNone/>
            </a:pPr>
            <a:r>
              <a:rPr lang="en-US" sz="760" b="1" dirty="0">
                <a:solidFill>
                  <a:srgbClr val="9EADB8"/>
                </a:solidFill>
                <a:latin typeface="Aptos" pitchFamily="34" charset="0"/>
                <a:ea typeface="Aptos" pitchFamily="34" charset="-122"/>
                <a:cs typeface="Aptos" pitchFamily="34" charset="-120"/>
              </a:rPr>
              <a:t>Architecture</a:t>
            </a:r>
            <a:endParaRPr lang="en-US" sz="760" dirty="0"/>
          </a:p>
        </p:txBody>
      </p:sp>
      <p:sp>
        <p:nvSpPr>
          <p:cNvPr id="9" name="Shape 7"/>
          <p:cNvSpPr/>
          <p:nvPr/>
        </p:nvSpPr>
        <p:spPr>
          <a:xfrm>
            <a:off x="5001768" y="356616"/>
            <a:ext cx="109728" cy="109728"/>
          </a:xfrm>
          <a:prstGeom prst="ellipse">
            <a:avLst/>
          </a:prstGeom>
          <a:solidFill>
            <a:srgbClr val="68D6E8"/>
          </a:solidFill>
          <a:ln w="12700">
            <a:solidFill>
              <a:srgbClr val="68D6E8">
                <a:alpha val="0"/>
              </a:srgbClr>
            </a:solidFill>
            <a:prstDash val="solid"/>
          </a:ln>
        </p:spPr>
      </p:sp>
      <p:sp>
        <p:nvSpPr>
          <p:cNvPr id="10" name="Text 8"/>
          <p:cNvSpPr/>
          <p:nvPr/>
        </p:nvSpPr>
        <p:spPr>
          <a:xfrm>
            <a:off x="5166360" y="201168"/>
            <a:ext cx="1097280" cy="164592"/>
          </a:xfrm>
          <a:prstGeom prst="rect">
            <a:avLst/>
          </a:prstGeom>
          <a:noFill/>
          <a:ln/>
        </p:spPr>
        <p:txBody>
          <a:bodyPr wrap="square" lIns="0" tIns="0" rIns="0" bIns="0" rtlCol="0" anchor="ctr">
            <a:normAutofit/>
          </a:bodyPr>
          <a:lstStyle/>
          <a:p>
            <a:pPr algn="l" indent="0" marL="0">
              <a:buNone/>
            </a:pPr>
            <a:r>
              <a:rPr lang="en-US" sz="810" b="1" dirty="0">
                <a:solidFill>
                  <a:srgbClr val="68D6E8"/>
                </a:solidFill>
                <a:latin typeface="Aptos" pitchFamily="34" charset="0"/>
                <a:ea typeface="Aptos" pitchFamily="34" charset="-122"/>
                <a:cs typeface="Aptos" pitchFamily="34" charset="-120"/>
              </a:rPr>
              <a:t>Réalisation</a:t>
            </a:r>
            <a:endParaRPr lang="en-US" sz="810" dirty="0"/>
          </a:p>
        </p:txBody>
      </p:sp>
      <p:sp>
        <p:nvSpPr>
          <p:cNvPr id="11" name="Shape 9"/>
          <p:cNvSpPr/>
          <p:nvPr/>
        </p:nvSpPr>
        <p:spPr>
          <a:xfrm>
            <a:off x="5148072" y="521208"/>
            <a:ext cx="896112" cy="0"/>
          </a:xfrm>
          <a:prstGeom prst="line">
            <a:avLst/>
          </a:prstGeom>
          <a:noFill/>
          <a:ln w="22860">
            <a:solidFill>
              <a:srgbClr val="68D6E8"/>
            </a:solidFill>
            <a:prstDash val="solid"/>
          </a:ln>
        </p:spPr>
      </p:sp>
      <p:sp>
        <p:nvSpPr>
          <p:cNvPr id="12" name="Shape 10"/>
          <p:cNvSpPr/>
          <p:nvPr/>
        </p:nvSpPr>
        <p:spPr>
          <a:xfrm>
            <a:off x="6583680" y="356616"/>
            <a:ext cx="73152" cy="73152"/>
          </a:xfrm>
          <a:prstGeom prst="ellipse">
            <a:avLst/>
          </a:prstGeom>
          <a:solidFill>
            <a:srgbClr val="344653">
              <a:alpha val="80000"/>
            </a:srgbClr>
          </a:solidFill>
          <a:ln w="12700">
            <a:solidFill>
              <a:srgbClr val="344653">
                <a:alpha val="0"/>
              </a:srgbClr>
            </a:solidFill>
            <a:prstDash val="solid"/>
          </a:ln>
        </p:spPr>
      </p:sp>
      <p:sp>
        <p:nvSpPr>
          <p:cNvPr id="13" name="Text 11"/>
          <p:cNvSpPr/>
          <p:nvPr/>
        </p:nvSpPr>
        <p:spPr>
          <a:xfrm>
            <a:off x="6748272" y="201168"/>
            <a:ext cx="1207008" cy="164592"/>
          </a:xfrm>
          <a:prstGeom prst="rect">
            <a:avLst/>
          </a:prstGeom>
          <a:noFill/>
          <a:ln/>
        </p:spPr>
        <p:txBody>
          <a:bodyPr wrap="square" lIns="0" tIns="0" rIns="0" bIns="0" rtlCol="0" anchor="ctr">
            <a:normAutofit/>
          </a:bodyPr>
          <a:lstStyle/>
          <a:p>
            <a:pPr algn="l" indent="0" marL="0">
              <a:buNone/>
            </a:pPr>
            <a:r>
              <a:rPr lang="en-US" sz="760" dirty="0">
                <a:solidFill>
                  <a:srgbClr val="9EADB8"/>
                </a:solidFill>
                <a:latin typeface="Aptos" pitchFamily="34" charset="0"/>
                <a:ea typeface="Aptos" pitchFamily="34" charset="-122"/>
                <a:cs typeface="Aptos" pitchFamily="34" charset="-120"/>
              </a:rPr>
              <a:t>Démo</a:t>
            </a:r>
            <a:endParaRPr lang="en-US" sz="760" dirty="0"/>
          </a:p>
        </p:txBody>
      </p:sp>
      <p:sp>
        <p:nvSpPr>
          <p:cNvPr id="14" name="Shape 12"/>
          <p:cNvSpPr/>
          <p:nvPr/>
        </p:nvSpPr>
        <p:spPr>
          <a:xfrm>
            <a:off x="8229600" y="356616"/>
            <a:ext cx="73152" cy="73152"/>
          </a:xfrm>
          <a:prstGeom prst="ellipse">
            <a:avLst/>
          </a:prstGeom>
          <a:solidFill>
            <a:srgbClr val="344653">
              <a:alpha val="80000"/>
            </a:srgbClr>
          </a:solidFill>
          <a:ln w="12700">
            <a:solidFill>
              <a:srgbClr val="344653">
                <a:alpha val="0"/>
              </a:srgbClr>
            </a:solidFill>
            <a:prstDash val="solid"/>
          </a:ln>
        </p:spPr>
      </p:sp>
      <p:sp>
        <p:nvSpPr>
          <p:cNvPr id="15" name="Text 13"/>
          <p:cNvSpPr/>
          <p:nvPr/>
        </p:nvSpPr>
        <p:spPr>
          <a:xfrm>
            <a:off x="8394192" y="201168"/>
            <a:ext cx="1207008" cy="164592"/>
          </a:xfrm>
          <a:prstGeom prst="rect">
            <a:avLst/>
          </a:prstGeom>
          <a:noFill/>
          <a:ln/>
        </p:spPr>
        <p:txBody>
          <a:bodyPr wrap="square" lIns="0" tIns="0" rIns="0" bIns="0" rtlCol="0" anchor="ctr">
            <a:normAutofit/>
          </a:bodyPr>
          <a:lstStyle/>
          <a:p>
            <a:pPr algn="l" indent="0" marL="0">
              <a:buNone/>
            </a:pPr>
            <a:r>
              <a:rPr lang="en-US" sz="760" dirty="0">
                <a:solidFill>
                  <a:srgbClr val="9EADB8"/>
                </a:solidFill>
                <a:latin typeface="Aptos" pitchFamily="34" charset="0"/>
                <a:ea typeface="Aptos" pitchFamily="34" charset="-122"/>
                <a:cs typeface="Aptos" pitchFamily="34" charset="-120"/>
              </a:rPr>
              <a:t>Résultats</a:t>
            </a:r>
            <a:endParaRPr lang="en-US" sz="760" dirty="0"/>
          </a:p>
        </p:txBody>
      </p:sp>
      <p:sp>
        <p:nvSpPr>
          <p:cNvPr id="16" name="Shape 14"/>
          <p:cNvSpPr/>
          <p:nvPr/>
        </p:nvSpPr>
        <p:spPr>
          <a:xfrm>
            <a:off x="9784080" y="356616"/>
            <a:ext cx="73152" cy="73152"/>
          </a:xfrm>
          <a:prstGeom prst="ellipse">
            <a:avLst/>
          </a:prstGeom>
          <a:solidFill>
            <a:srgbClr val="344653">
              <a:alpha val="80000"/>
            </a:srgbClr>
          </a:solidFill>
          <a:ln w="12700">
            <a:solidFill>
              <a:srgbClr val="344653">
                <a:alpha val="0"/>
              </a:srgbClr>
            </a:solidFill>
            <a:prstDash val="solid"/>
          </a:ln>
        </p:spPr>
      </p:sp>
      <p:sp>
        <p:nvSpPr>
          <p:cNvPr id="17" name="Text 15"/>
          <p:cNvSpPr/>
          <p:nvPr/>
        </p:nvSpPr>
        <p:spPr>
          <a:xfrm>
            <a:off x="9948672" y="201168"/>
            <a:ext cx="1207008" cy="164592"/>
          </a:xfrm>
          <a:prstGeom prst="rect">
            <a:avLst/>
          </a:prstGeom>
          <a:noFill/>
          <a:ln/>
        </p:spPr>
        <p:txBody>
          <a:bodyPr wrap="square" lIns="0" tIns="0" rIns="0" bIns="0" rtlCol="0" anchor="ctr">
            <a:normAutofit/>
          </a:bodyPr>
          <a:lstStyle/>
          <a:p>
            <a:pPr algn="l" indent="0" marL="0">
              <a:buNone/>
            </a:pPr>
            <a:r>
              <a:rPr lang="en-US" sz="760" dirty="0">
                <a:solidFill>
                  <a:srgbClr val="9EADB8"/>
                </a:solidFill>
                <a:latin typeface="Aptos" pitchFamily="34" charset="0"/>
                <a:ea typeface="Aptos" pitchFamily="34" charset="-122"/>
                <a:cs typeface="Aptos" pitchFamily="34" charset="-120"/>
              </a:rPr>
              <a:t>Conclusion</a:t>
            </a:r>
            <a:endParaRPr lang="en-US" sz="760" dirty="0"/>
          </a:p>
        </p:txBody>
      </p:sp>
      <p:sp>
        <p:nvSpPr>
          <p:cNvPr id="18" name="Shape 16"/>
          <p:cNvSpPr/>
          <p:nvPr/>
        </p:nvSpPr>
        <p:spPr>
          <a:xfrm>
            <a:off x="658368" y="6428232"/>
            <a:ext cx="10863072" cy="0"/>
          </a:xfrm>
          <a:prstGeom prst="line">
            <a:avLst/>
          </a:prstGeom>
          <a:noFill/>
          <a:ln w="8890">
            <a:solidFill>
              <a:srgbClr val="344653">
                <a:alpha val="80000"/>
              </a:srgbClr>
            </a:solidFill>
            <a:prstDash val="solid"/>
          </a:ln>
        </p:spPr>
      </p:sp>
      <p:sp>
        <p:nvSpPr>
          <p:cNvPr id="19" name="Text 17"/>
          <p:cNvSpPr/>
          <p:nvPr/>
        </p:nvSpPr>
        <p:spPr>
          <a:xfrm>
            <a:off x="658368" y="6510528"/>
            <a:ext cx="2926080" cy="146304"/>
          </a:xfrm>
          <a:prstGeom prst="rect">
            <a:avLst/>
          </a:prstGeom>
          <a:noFill/>
          <a:ln/>
        </p:spPr>
        <p:txBody>
          <a:bodyPr wrap="square" lIns="0" tIns="0" rIns="0" bIns="0" rtlCol="0" anchor="ctr">
            <a:normAutofit/>
          </a:bodyPr>
          <a:lstStyle/>
          <a:p>
            <a:pPr algn="l" indent="0" marL="0">
              <a:buNone/>
            </a:pPr>
            <a:r>
              <a:rPr lang="en-US" sz="720" b="1" spc="120" kern="0" dirty="0">
                <a:solidFill>
                  <a:srgbClr val="6C7F89"/>
                </a:solidFill>
                <a:latin typeface="Aptos Mono" pitchFamily="34" charset="0"/>
                <a:ea typeface="Aptos Mono" pitchFamily="34" charset="-122"/>
                <a:cs typeface="Aptos Mono" pitchFamily="34" charset="-120"/>
              </a:rPr>
              <a:t>AGENTIC MIGRATION PLATFORM</a:t>
            </a:r>
            <a:endParaRPr lang="en-US" sz="720" dirty="0"/>
          </a:p>
        </p:txBody>
      </p:sp>
      <p:sp>
        <p:nvSpPr>
          <p:cNvPr id="20" name="Text 18"/>
          <p:cNvSpPr/>
          <p:nvPr/>
        </p:nvSpPr>
        <p:spPr>
          <a:xfrm>
            <a:off x="10561320" y="6501384"/>
            <a:ext cx="950976" cy="155448"/>
          </a:xfrm>
          <a:prstGeom prst="rect">
            <a:avLst/>
          </a:prstGeom>
          <a:noFill/>
          <a:ln/>
        </p:spPr>
        <p:txBody>
          <a:bodyPr wrap="square" lIns="0" tIns="0" rIns="0" bIns="0" rtlCol="0" anchor="ctr">
            <a:normAutofit/>
          </a:bodyPr>
          <a:lstStyle/>
          <a:p>
            <a:pPr algn="r" indent="0" marL="0">
              <a:buNone/>
            </a:pPr>
            <a:r>
              <a:rPr lang="en-US" sz="770" b="1" spc="80" kern="0" dirty="0">
                <a:solidFill>
                  <a:srgbClr val="6C7F89"/>
                </a:solidFill>
                <a:latin typeface="Aptos Mono" pitchFamily="34" charset="0"/>
                <a:ea typeface="Aptos Mono" pitchFamily="34" charset="-122"/>
                <a:cs typeface="Aptos Mono" pitchFamily="34" charset="-120"/>
              </a:rPr>
              <a:t>09 / 18</a:t>
            </a:r>
            <a:endParaRPr lang="en-US" sz="770" dirty="0"/>
          </a:p>
        </p:txBody>
      </p:sp>
      <p:sp>
        <p:nvSpPr>
          <p:cNvPr id="21" name="Text 19"/>
          <p:cNvSpPr/>
          <p:nvPr/>
        </p:nvSpPr>
        <p:spPr>
          <a:xfrm>
            <a:off x="658368" y="758952"/>
            <a:ext cx="3200400" cy="164592"/>
          </a:xfrm>
          <a:prstGeom prst="rect">
            <a:avLst/>
          </a:prstGeom>
          <a:noFill/>
          <a:ln/>
        </p:spPr>
        <p:txBody>
          <a:bodyPr wrap="square" lIns="0" tIns="0" rIns="0" bIns="0" rtlCol="0" anchor="ctr">
            <a:normAutofit/>
          </a:bodyPr>
          <a:lstStyle/>
          <a:p>
            <a:pPr algn="l" indent="0" marL="0">
              <a:buNone/>
            </a:pPr>
            <a:r>
              <a:rPr lang="en-US" sz="900" b="1" spc="135" kern="0" dirty="0">
                <a:solidFill>
                  <a:srgbClr val="68D6E8"/>
                </a:solidFill>
                <a:latin typeface="Aptos Mono" pitchFamily="34" charset="0"/>
                <a:ea typeface="Aptos Mono" pitchFamily="34" charset="-122"/>
                <a:cs typeface="Aptos Mono" pitchFamily="34" charset="-120"/>
              </a:rPr>
              <a:t>RÉALISATION</a:t>
            </a:r>
            <a:endParaRPr lang="en-US" sz="900" dirty="0"/>
          </a:p>
        </p:txBody>
      </p:sp>
      <p:sp>
        <p:nvSpPr>
          <p:cNvPr id="22" name="Text 20"/>
          <p:cNvSpPr/>
          <p:nvPr/>
        </p:nvSpPr>
        <p:spPr>
          <a:xfrm>
            <a:off x="658368" y="969264"/>
            <a:ext cx="10607040" cy="493776"/>
          </a:xfrm>
          <a:prstGeom prst="rect">
            <a:avLst/>
          </a:prstGeom>
          <a:noFill/>
          <a:ln/>
        </p:spPr>
        <p:txBody>
          <a:bodyPr wrap="square" lIns="0" tIns="0" rIns="0" bIns="0" rtlCol="0" anchor="t">
            <a:normAutofit/>
          </a:bodyPr>
          <a:lstStyle/>
          <a:p>
            <a:pPr algn="l" indent="0" marL="0">
              <a:buNone/>
            </a:pPr>
            <a:r>
              <a:rPr lang="en-US" sz="2900" b="1" dirty="0">
                <a:solidFill>
                  <a:srgbClr val="F5F7F8"/>
                </a:solidFill>
                <a:latin typeface="Aptos Display" pitchFamily="34" charset="0"/>
                <a:ea typeface="Aptos Display" pitchFamily="34" charset="-122"/>
                <a:cs typeface="Aptos Display" pitchFamily="34" charset="-120"/>
              </a:rPr>
              <a:t>Java / Spring Boot : le parcours de référence</a:t>
            </a:r>
            <a:endParaRPr lang="en-US" sz="2900" dirty="0"/>
          </a:p>
        </p:txBody>
      </p:sp>
      <p:sp>
        <p:nvSpPr>
          <p:cNvPr id="23" name="Text 21"/>
          <p:cNvSpPr/>
          <p:nvPr/>
        </p:nvSpPr>
        <p:spPr>
          <a:xfrm>
            <a:off x="658368" y="1499616"/>
            <a:ext cx="9966960" cy="256032"/>
          </a:xfrm>
          <a:prstGeom prst="rect">
            <a:avLst/>
          </a:prstGeom>
          <a:noFill/>
          <a:ln/>
        </p:spPr>
        <p:txBody>
          <a:bodyPr wrap="square" lIns="0" tIns="0" rIns="0" bIns="0" rtlCol="0" anchor="t">
            <a:normAutofit/>
          </a:bodyPr>
          <a:lstStyle/>
          <a:p>
            <a:pPr algn="l" indent="0" marL="0">
              <a:buNone/>
            </a:pPr>
            <a:r>
              <a:rPr lang="en-US" sz="1200" dirty="0">
                <a:solidFill>
                  <a:srgbClr val="9EADB8"/>
                </a:solidFill>
                <a:latin typeface="Aptos" pitchFamily="34" charset="0"/>
                <a:ea typeface="Aptos" pitchFamily="34" charset="-122"/>
                <a:cs typeface="Aptos" pitchFamily="34" charset="-120"/>
              </a:rPr>
              <a:t>La trajectoire Java porte le parcours de modernisation le plus mature du prototype.</a:t>
            </a:r>
            <a:endParaRPr lang="en-US" sz="1200" dirty="0"/>
          </a:p>
        </p:txBody>
      </p:sp>
      <p:sp>
        <p:nvSpPr>
          <p:cNvPr id="24" name="Text 22"/>
          <p:cNvSpPr/>
          <p:nvPr/>
        </p:nvSpPr>
        <p:spPr>
          <a:xfrm>
            <a:off x="731520" y="2048256"/>
            <a:ext cx="1920240" cy="164592"/>
          </a:xfrm>
          <a:prstGeom prst="rect">
            <a:avLst/>
          </a:prstGeom>
          <a:noFill/>
          <a:ln/>
        </p:spPr>
        <p:txBody>
          <a:bodyPr wrap="square" lIns="0" tIns="0" rIns="0" bIns="0" rtlCol="0" anchor="ctr">
            <a:normAutofit/>
          </a:bodyPr>
          <a:lstStyle/>
          <a:p>
            <a:pPr algn="l" indent="0" marL="0">
              <a:buNone/>
            </a:pPr>
            <a:r>
              <a:rPr lang="en-US" sz="840" b="1" spc="120" kern="0" dirty="0">
                <a:solidFill>
                  <a:srgbClr val="4E9DFF"/>
                </a:solidFill>
                <a:latin typeface="Aptos Mono" pitchFamily="34" charset="0"/>
                <a:ea typeface="Aptos Mono" pitchFamily="34" charset="-122"/>
                <a:cs typeface="Aptos Mono" pitchFamily="34" charset="-120"/>
              </a:rPr>
              <a:t>REFERENCE PATH</a:t>
            </a:r>
            <a:endParaRPr lang="en-US" sz="840" dirty="0"/>
          </a:p>
        </p:txBody>
      </p:sp>
      <p:sp>
        <p:nvSpPr>
          <p:cNvPr id="25" name="Text 23"/>
          <p:cNvSpPr/>
          <p:nvPr/>
        </p:nvSpPr>
        <p:spPr>
          <a:xfrm>
            <a:off x="749808" y="2505456"/>
            <a:ext cx="2103120" cy="274320"/>
          </a:xfrm>
          <a:prstGeom prst="rect">
            <a:avLst/>
          </a:prstGeom>
          <a:noFill/>
          <a:ln/>
        </p:spPr>
        <p:txBody>
          <a:bodyPr wrap="square" lIns="0" tIns="0" rIns="0" bIns="0" rtlCol="0" anchor="ctr">
            <a:normAutofit/>
          </a:bodyPr>
          <a:lstStyle/>
          <a:p>
            <a:pPr algn="l" indent="0" marL="0">
              <a:buNone/>
            </a:pPr>
            <a:r>
              <a:rPr lang="en-US" sz="1800" b="1" dirty="0">
                <a:solidFill>
                  <a:srgbClr val="F5F7F8"/>
                </a:solidFill>
                <a:latin typeface="Aptos Display" pitchFamily="34" charset="0"/>
                <a:ea typeface="Aptos Display" pitchFamily="34" charset="-122"/>
                <a:cs typeface="Aptos Display" pitchFamily="34" charset="-120"/>
              </a:rPr>
              <a:t>Spring Boot</a:t>
            </a:r>
            <a:endParaRPr lang="en-US" sz="1800" dirty="0"/>
          </a:p>
        </p:txBody>
      </p:sp>
      <p:sp>
        <p:nvSpPr>
          <p:cNvPr id="26" name="Text 24"/>
          <p:cNvSpPr/>
          <p:nvPr/>
        </p:nvSpPr>
        <p:spPr>
          <a:xfrm>
            <a:off x="768096" y="2907792"/>
            <a:ext cx="2212848" cy="201168"/>
          </a:xfrm>
          <a:prstGeom prst="rect">
            <a:avLst/>
          </a:prstGeom>
          <a:noFill/>
          <a:ln/>
        </p:spPr>
        <p:txBody>
          <a:bodyPr wrap="square" lIns="0" tIns="0" rIns="0" bIns="0" rtlCol="0" anchor="ctr">
            <a:normAutofit/>
          </a:bodyPr>
          <a:lstStyle/>
          <a:p>
            <a:pPr algn="l" indent="0" marL="0">
              <a:buNone/>
            </a:pPr>
            <a:r>
              <a:rPr lang="en-US" sz="1060" b="1" dirty="0">
                <a:solidFill>
                  <a:srgbClr val="9EADB8"/>
                </a:solidFill>
                <a:latin typeface="Aptos Mono" pitchFamily="34" charset="0"/>
                <a:ea typeface="Aptos Mono" pitchFamily="34" charset="-122"/>
                <a:cs typeface="Aptos Mono" pitchFamily="34" charset="-120"/>
              </a:rPr>
              <a:t>Maven · OpenRewrite</a:t>
            </a:r>
            <a:endParaRPr lang="en-US" sz="1060" dirty="0"/>
          </a:p>
        </p:txBody>
      </p:sp>
      <p:sp>
        <p:nvSpPr>
          <p:cNvPr id="27" name="Shape 25"/>
          <p:cNvSpPr/>
          <p:nvPr/>
        </p:nvSpPr>
        <p:spPr>
          <a:xfrm>
            <a:off x="2907792" y="3383280"/>
            <a:ext cx="6894576" cy="0"/>
          </a:xfrm>
          <a:prstGeom prst="line">
            <a:avLst/>
          </a:prstGeom>
          <a:noFill/>
          <a:ln w="22860">
            <a:solidFill>
              <a:srgbClr val="4E9DFF"/>
            </a:solidFill>
            <a:prstDash val="solid"/>
          </a:ln>
        </p:spPr>
      </p:sp>
      <p:sp>
        <p:nvSpPr>
          <p:cNvPr id="28" name="Shape 26"/>
          <p:cNvSpPr/>
          <p:nvPr/>
        </p:nvSpPr>
        <p:spPr>
          <a:xfrm>
            <a:off x="3346704" y="3200400"/>
            <a:ext cx="329184" cy="329184"/>
          </a:xfrm>
          <a:prstGeom prst="ellipse">
            <a:avLst/>
          </a:prstGeom>
          <a:solidFill>
            <a:srgbClr val="0B1117"/>
          </a:solidFill>
          <a:ln w="19050">
            <a:solidFill>
              <a:srgbClr val="F4B84A"/>
            </a:solidFill>
            <a:prstDash val="solid"/>
          </a:ln>
        </p:spPr>
      </p:sp>
      <p:sp>
        <p:nvSpPr>
          <p:cNvPr id="29" name="Shape 27"/>
          <p:cNvSpPr/>
          <p:nvPr/>
        </p:nvSpPr>
        <p:spPr>
          <a:xfrm>
            <a:off x="3451860" y="3305556"/>
            <a:ext cx="118872" cy="118872"/>
          </a:xfrm>
          <a:prstGeom prst="ellipse">
            <a:avLst/>
          </a:prstGeom>
          <a:solidFill>
            <a:srgbClr val="F4B84A"/>
          </a:solidFill>
          <a:ln w="12700">
            <a:solidFill>
              <a:srgbClr val="F4B84A">
                <a:alpha val="0"/>
              </a:srgbClr>
            </a:solidFill>
            <a:prstDash val="solid"/>
          </a:ln>
        </p:spPr>
      </p:sp>
      <p:sp>
        <p:nvSpPr>
          <p:cNvPr id="30" name="Text 28"/>
          <p:cNvSpPr/>
          <p:nvPr/>
        </p:nvSpPr>
        <p:spPr>
          <a:xfrm>
            <a:off x="2962656" y="3675888"/>
            <a:ext cx="1097280" cy="201168"/>
          </a:xfrm>
          <a:prstGeom prst="rect">
            <a:avLst/>
          </a:prstGeom>
          <a:noFill/>
          <a:ln/>
        </p:spPr>
        <p:txBody>
          <a:bodyPr wrap="square" lIns="0" tIns="0" rIns="0" bIns="0" rtlCol="0" anchor="ctr">
            <a:normAutofit/>
          </a:bodyPr>
          <a:lstStyle/>
          <a:p>
            <a:pPr algn="ctr" indent="0" marL="0">
              <a:buNone/>
            </a:pPr>
            <a:r>
              <a:rPr lang="en-US" sz="1220" b="1" dirty="0">
                <a:solidFill>
                  <a:srgbClr val="F5F7F8"/>
                </a:solidFill>
                <a:latin typeface="Aptos Display" pitchFamily="34" charset="0"/>
                <a:ea typeface="Aptos Display" pitchFamily="34" charset="-122"/>
                <a:cs typeface="Aptos Display" pitchFamily="34" charset="-120"/>
              </a:rPr>
              <a:t>2.1</a:t>
            </a:r>
            <a:endParaRPr lang="en-US" sz="1220" dirty="0"/>
          </a:p>
        </p:txBody>
      </p:sp>
      <p:sp>
        <p:nvSpPr>
          <p:cNvPr id="31" name="Text 29"/>
          <p:cNvSpPr/>
          <p:nvPr/>
        </p:nvSpPr>
        <p:spPr>
          <a:xfrm>
            <a:off x="2816352" y="3968496"/>
            <a:ext cx="1389888" cy="182880"/>
          </a:xfrm>
          <a:prstGeom prst="rect">
            <a:avLst/>
          </a:prstGeom>
          <a:noFill/>
          <a:ln/>
        </p:spPr>
        <p:txBody>
          <a:bodyPr wrap="square" lIns="0" tIns="0" rIns="0" bIns="0" rtlCol="0" anchor="t">
            <a:normAutofit/>
          </a:bodyPr>
          <a:lstStyle/>
          <a:p>
            <a:pPr algn="ctr" indent="0" marL="0">
              <a:buNone/>
            </a:pPr>
            <a:r>
              <a:rPr lang="en-US" sz="820" dirty="0">
                <a:solidFill>
                  <a:srgbClr val="F4B84A"/>
                </a:solidFill>
                <a:latin typeface="Aptos" pitchFamily="34" charset="0"/>
                <a:ea typeface="Aptos" pitchFamily="34" charset="-122"/>
                <a:cs typeface="Aptos" pitchFamily="34" charset="-120"/>
              </a:rPr>
              <a:t>legacy</a:t>
            </a:r>
            <a:endParaRPr lang="en-US" sz="820" dirty="0"/>
          </a:p>
        </p:txBody>
      </p:sp>
      <p:sp>
        <p:nvSpPr>
          <p:cNvPr id="32" name="Shape 30"/>
          <p:cNvSpPr/>
          <p:nvPr/>
        </p:nvSpPr>
        <p:spPr>
          <a:xfrm>
            <a:off x="5157216" y="3200400"/>
            <a:ext cx="329184" cy="329184"/>
          </a:xfrm>
          <a:prstGeom prst="ellipse">
            <a:avLst/>
          </a:prstGeom>
          <a:solidFill>
            <a:srgbClr val="0B1117"/>
          </a:solidFill>
          <a:ln w="19050">
            <a:solidFill>
              <a:srgbClr val="4E9DFF"/>
            </a:solidFill>
            <a:prstDash val="solid"/>
          </a:ln>
        </p:spPr>
      </p:sp>
      <p:sp>
        <p:nvSpPr>
          <p:cNvPr id="33" name="Shape 31"/>
          <p:cNvSpPr/>
          <p:nvPr/>
        </p:nvSpPr>
        <p:spPr>
          <a:xfrm>
            <a:off x="5262372" y="3305556"/>
            <a:ext cx="118872" cy="118872"/>
          </a:xfrm>
          <a:prstGeom prst="ellipse">
            <a:avLst/>
          </a:prstGeom>
          <a:solidFill>
            <a:srgbClr val="4E9DFF"/>
          </a:solidFill>
          <a:ln w="12700">
            <a:solidFill>
              <a:srgbClr val="4E9DFF">
                <a:alpha val="0"/>
              </a:srgbClr>
            </a:solidFill>
            <a:prstDash val="solid"/>
          </a:ln>
        </p:spPr>
      </p:sp>
      <p:sp>
        <p:nvSpPr>
          <p:cNvPr id="34" name="Text 32"/>
          <p:cNvSpPr/>
          <p:nvPr/>
        </p:nvSpPr>
        <p:spPr>
          <a:xfrm>
            <a:off x="4773168" y="3675888"/>
            <a:ext cx="1097280" cy="201168"/>
          </a:xfrm>
          <a:prstGeom prst="rect">
            <a:avLst/>
          </a:prstGeom>
          <a:noFill/>
          <a:ln/>
        </p:spPr>
        <p:txBody>
          <a:bodyPr wrap="square" lIns="0" tIns="0" rIns="0" bIns="0" rtlCol="0" anchor="ctr">
            <a:normAutofit/>
          </a:bodyPr>
          <a:lstStyle/>
          <a:p>
            <a:pPr algn="ctr" indent="0" marL="0">
              <a:buNone/>
            </a:pPr>
            <a:r>
              <a:rPr lang="en-US" sz="1220" b="1" dirty="0">
                <a:solidFill>
                  <a:srgbClr val="F5F7F8"/>
                </a:solidFill>
                <a:latin typeface="Aptos Display" pitchFamily="34" charset="0"/>
                <a:ea typeface="Aptos Display" pitchFamily="34" charset="-122"/>
                <a:cs typeface="Aptos Display" pitchFamily="34" charset="-120"/>
              </a:rPr>
              <a:t>2.7</a:t>
            </a:r>
            <a:endParaRPr lang="en-US" sz="1220" dirty="0"/>
          </a:p>
        </p:txBody>
      </p:sp>
      <p:sp>
        <p:nvSpPr>
          <p:cNvPr id="35" name="Text 33"/>
          <p:cNvSpPr/>
          <p:nvPr/>
        </p:nvSpPr>
        <p:spPr>
          <a:xfrm>
            <a:off x="4626864" y="3968496"/>
            <a:ext cx="1389888" cy="182880"/>
          </a:xfrm>
          <a:prstGeom prst="rect">
            <a:avLst/>
          </a:prstGeom>
          <a:noFill/>
          <a:ln/>
        </p:spPr>
        <p:txBody>
          <a:bodyPr wrap="square" lIns="0" tIns="0" rIns="0" bIns="0" rtlCol="0" anchor="t">
            <a:normAutofit/>
          </a:bodyPr>
          <a:lstStyle/>
          <a:p>
            <a:pPr algn="ctr" indent="0" marL="0">
              <a:buNone/>
            </a:pPr>
            <a:r>
              <a:rPr lang="en-US" sz="820" dirty="0">
                <a:solidFill>
                  <a:srgbClr val="4E9DFF"/>
                </a:solidFill>
                <a:latin typeface="Aptos" pitchFamily="34" charset="0"/>
                <a:ea typeface="Aptos" pitchFamily="34" charset="-122"/>
                <a:cs typeface="Aptos" pitchFamily="34" charset="-120"/>
              </a:rPr>
              <a:t>stabiliser</a:t>
            </a:r>
            <a:endParaRPr lang="en-US" sz="820" dirty="0"/>
          </a:p>
        </p:txBody>
      </p:sp>
      <p:sp>
        <p:nvSpPr>
          <p:cNvPr id="36" name="Shape 34"/>
          <p:cNvSpPr/>
          <p:nvPr/>
        </p:nvSpPr>
        <p:spPr>
          <a:xfrm>
            <a:off x="6967728" y="3200400"/>
            <a:ext cx="329184" cy="329184"/>
          </a:xfrm>
          <a:prstGeom prst="ellipse">
            <a:avLst/>
          </a:prstGeom>
          <a:solidFill>
            <a:srgbClr val="0B1117"/>
          </a:solidFill>
          <a:ln w="19050">
            <a:solidFill>
              <a:srgbClr val="68D6E8"/>
            </a:solidFill>
            <a:prstDash val="solid"/>
          </a:ln>
        </p:spPr>
      </p:sp>
      <p:sp>
        <p:nvSpPr>
          <p:cNvPr id="37" name="Shape 35"/>
          <p:cNvSpPr/>
          <p:nvPr/>
        </p:nvSpPr>
        <p:spPr>
          <a:xfrm>
            <a:off x="7072884" y="3305556"/>
            <a:ext cx="118872" cy="118872"/>
          </a:xfrm>
          <a:prstGeom prst="ellipse">
            <a:avLst/>
          </a:prstGeom>
          <a:solidFill>
            <a:srgbClr val="68D6E8"/>
          </a:solidFill>
          <a:ln w="12700">
            <a:solidFill>
              <a:srgbClr val="68D6E8">
                <a:alpha val="0"/>
              </a:srgbClr>
            </a:solidFill>
            <a:prstDash val="solid"/>
          </a:ln>
        </p:spPr>
      </p:sp>
      <p:sp>
        <p:nvSpPr>
          <p:cNvPr id="38" name="Text 36"/>
          <p:cNvSpPr/>
          <p:nvPr/>
        </p:nvSpPr>
        <p:spPr>
          <a:xfrm>
            <a:off x="6583680" y="3675888"/>
            <a:ext cx="1097280" cy="201168"/>
          </a:xfrm>
          <a:prstGeom prst="rect">
            <a:avLst/>
          </a:prstGeom>
          <a:noFill/>
          <a:ln/>
        </p:spPr>
        <p:txBody>
          <a:bodyPr wrap="square" lIns="0" tIns="0" rIns="0" bIns="0" rtlCol="0" anchor="ctr">
            <a:normAutofit/>
          </a:bodyPr>
          <a:lstStyle/>
          <a:p>
            <a:pPr algn="ctr" indent="0" marL="0">
              <a:buNone/>
            </a:pPr>
            <a:r>
              <a:rPr lang="en-US" sz="1220" b="1" dirty="0">
                <a:solidFill>
                  <a:srgbClr val="F5F7F8"/>
                </a:solidFill>
                <a:latin typeface="Aptos Display" pitchFamily="34" charset="0"/>
                <a:ea typeface="Aptos Display" pitchFamily="34" charset="-122"/>
                <a:cs typeface="Aptos Display" pitchFamily="34" charset="-120"/>
              </a:rPr>
              <a:t>3.5</a:t>
            </a:r>
            <a:endParaRPr lang="en-US" sz="1220" dirty="0"/>
          </a:p>
        </p:txBody>
      </p:sp>
      <p:sp>
        <p:nvSpPr>
          <p:cNvPr id="39" name="Text 37"/>
          <p:cNvSpPr/>
          <p:nvPr/>
        </p:nvSpPr>
        <p:spPr>
          <a:xfrm>
            <a:off x="6437376" y="3968496"/>
            <a:ext cx="1389888" cy="182880"/>
          </a:xfrm>
          <a:prstGeom prst="rect">
            <a:avLst/>
          </a:prstGeom>
          <a:noFill/>
          <a:ln/>
        </p:spPr>
        <p:txBody>
          <a:bodyPr wrap="square" lIns="0" tIns="0" rIns="0" bIns="0" rtlCol="0" anchor="t">
            <a:normAutofit/>
          </a:bodyPr>
          <a:lstStyle/>
          <a:p>
            <a:pPr algn="ctr" indent="0" marL="0">
              <a:buNone/>
            </a:pPr>
            <a:r>
              <a:rPr lang="en-US" sz="820" dirty="0">
                <a:solidFill>
                  <a:srgbClr val="68D6E8"/>
                </a:solidFill>
                <a:latin typeface="Aptos" pitchFamily="34" charset="0"/>
                <a:ea typeface="Aptos" pitchFamily="34" charset="-122"/>
                <a:cs typeface="Aptos" pitchFamily="34" charset="-120"/>
              </a:rPr>
              <a:t>moderniser</a:t>
            </a:r>
            <a:endParaRPr lang="en-US" sz="820" dirty="0"/>
          </a:p>
        </p:txBody>
      </p:sp>
      <p:sp>
        <p:nvSpPr>
          <p:cNvPr id="40" name="Shape 38"/>
          <p:cNvSpPr/>
          <p:nvPr/>
        </p:nvSpPr>
        <p:spPr>
          <a:xfrm>
            <a:off x="8778240" y="3200400"/>
            <a:ext cx="329184" cy="329184"/>
          </a:xfrm>
          <a:prstGeom prst="ellipse">
            <a:avLst/>
          </a:prstGeom>
          <a:solidFill>
            <a:srgbClr val="0B1117"/>
          </a:solidFill>
          <a:ln w="19050">
            <a:solidFill>
              <a:srgbClr val="41D3AE"/>
            </a:solidFill>
            <a:prstDash val="solid"/>
          </a:ln>
        </p:spPr>
      </p:sp>
      <p:sp>
        <p:nvSpPr>
          <p:cNvPr id="41" name="Shape 39"/>
          <p:cNvSpPr/>
          <p:nvPr/>
        </p:nvSpPr>
        <p:spPr>
          <a:xfrm>
            <a:off x="8883396" y="3305556"/>
            <a:ext cx="118872" cy="118872"/>
          </a:xfrm>
          <a:prstGeom prst="ellipse">
            <a:avLst/>
          </a:prstGeom>
          <a:solidFill>
            <a:srgbClr val="41D3AE"/>
          </a:solidFill>
          <a:ln w="12700">
            <a:solidFill>
              <a:srgbClr val="41D3AE">
                <a:alpha val="0"/>
              </a:srgbClr>
            </a:solidFill>
            <a:prstDash val="solid"/>
          </a:ln>
        </p:spPr>
      </p:sp>
      <p:sp>
        <p:nvSpPr>
          <p:cNvPr id="42" name="Text 40"/>
          <p:cNvSpPr/>
          <p:nvPr/>
        </p:nvSpPr>
        <p:spPr>
          <a:xfrm>
            <a:off x="8394192" y="3675888"/>
            <a:ext cx="1097280" cy="201168"/>
          </a:xfrm>
          <a:prstGeom prst="rect">
            <a:avLst/>
          </a:prstGeom>
          <a:noFill/>
          <a:ln/>
        </p:spPr>
        <p:txBody>
          <a:bodyPr wrap="square" lIns="0" tIns="0" rIns="0" bIns="0" rtlCol="0" anchor="ctr">
            <a:normAutofit/>
          </a:bodyPr>
          <a:lstStyle/>
          <a:p>
            <a:pPr algn="ctr" indent="0" marL="0">
              <a:buNone/>
            </a:pPr>
            <a:r>
              <a:rPr lang="en-US" sz="1220" b="1" dirty="0">
                <a:solidFill>
                  <a:srgbClr val="F5F7F8"/>
                </a:solidFill>
                <a:latin typeface="Aptos Display" pitchFamily="34" charset="0"/>
                <a:ea typeface="Aptos Display" pitchFamily="34" charset="-122"/>
                <a:cs typeface="Aptos Display" pitchFamily="34" charset="-120"/>
              </a:rPr>
              <a:t>4.0</a:t>
            </a:r>
            <a:endParaRPr lang="en-US" sz="1220" dirty="0"/>
          </a:p>
        </p:txBody>
      </p:sp>
      <p:sp>
        <p:nvSpPr>
          <p:cNvPr id="43" name="Text 41"/>
          <p:cNvSpPr/>
          <p:nvPr/>
        </p:nvSpPr>
        <p:spPr>
          <a:xfrm>
            <a:off x="8247888" y="3968496"/>
            <a:ext cx="1389888" cy="182880"/>
          </a:xfrm>
          <a:prstGeom prst="rect">
            <a:avLst/>
          </a:prstGeom>
          <a:noFill/>
          <a:ln/>
        </p:spPr>
        <p:txBody>
          <a:bodyPr wrap="square" lIns="0" tIns="0" rIns="0" bIns="0" rtlCol="0" anchor="t">
            <a:normAutofit/>
          </a:bodyPr>
          <a:lstStyle/>
          <a:p>
            <a:pPr algn="ctr" indent="0" marL="0">
              <a:buNone/>
            </a:pPr>
            <a:r>
              <a:rPr lang="en-US" sz="820" dirty="0">
                <a:solidFill>
                  <a:srgbClr val="41D3AE"/>
                </a:solidFill>
                <a:latin typeface="Aptos" pitchFamily="34" charset="0"/>
                <a:ea typeface="Aptos" pitchFamily="34" charset="-122"/>
                <a:cs typeface="Aptos" pitchFamily="34" charset="-120"/>
              </a:rPr>
              <a:t>cible</a:t>
            </a:r>
            <a:endParaRPr lang="en-US" sz="820" dirty="0"/>
          </a:p>
        </p:txBody>
      </p:sp>
      <p:sp>
        <p:nvSpPr>
          <p:cNvPr id="44" name="Text 42"/>
          <p:cNvSpPr/>
          <p:nvPr/>
        </p:nvSpPr>
        <p:spPr>
          <a:xfrm>
            <a:off x="2962656" y="4498848"/>
            <a:ext cx="987552" cy="164592"/>
          </a:xfrm>
          <a:prstGeom prst="rect">
            <a:avLst/>
          </a:prstGeom>
          <a:noFill/>
          <a:ln/>
        </p:spPr>
        <p:txBody>
          <a:bodyPr wrap="square" lIns="0" tIns="0" rIns="0" bIns="0" rtlCol="0" anchor="ctr">
            <a:normAutofit/>
          </a:bodyPr>
          <a:lstStyle/>
          <a:p>
            <a:pPr algn="l" indent="0" marL="0">
              <a:buNone/>
            </a:pPr>
            <a:r>
              <a:rPr lang="en-US" sz="770" b="1" spc="90" kern="0" dirty="0">
                <a:solidFill>
                  <a:srgbClr val="9EADB8"/>
                </a:solidFill>
                <a:latin typeface="Aptos Mono" pitchFamily="34" charset="0"/>
                <a:ea typeface="Aptos Mono" pitchFamily="34" charset="-122"/>
                <a:cs typeface="Aptos Mono" pitchFamily="34" charset="-120"/>
              </a:rPr>
              <a:t>RUNTIME</a:t>
            </a:r>
            <a:endParaRPr lang="en-US" sz="770" dirty="0"/>
          </a:p>
        </p:txBody>
      </p:sp>
      <p:sp>
        <p:nvSpPr>
          <p:cNvPr id="45" name="Shape 43"/>
          <p:cNvSpPr/>
          <p:nvPr/>
        </p:nvSpPr>
        <p:spPr>
          <a:xfrm>
            <a:off x="4224528" y="4590288"/>
            <a:ext cx="4937760" cy="0"/>
          </a:xfrm>
          <a:prstGeom prst="line">
            <a:avLst/>
          </a:prstGeom>
          <a:noFill/>
          <a:ln w="12700">
            <a:solidFill>
              <a:srgbClr val="6C7F89"/>
            </a:solidFill>
            <a:prstDash val="solid"/>
          </a:ln>
        </p:spPr>
      </p:sp>
      <p:sp>
        <p:nvSpPr>
          <p:cNvPr id="46" name="Text 44"/>
          <p:cNvSpPr/>
          <p:nvPr/>
        </p:nvSpPr>
        <p:spPr>
          <a:xfrm>
            <a:off x="4023360" y="4791456"/>
            <a:ext cx="841248" cy="182880"/>
          </a:xfrm>
          <a:prstGeom prst="rect">
            <a:avLst/>
          </a:prstGeom>
          <a:noFill/>
          <a:ln/>
        </p:spPr>
        <p:txBody>
          <a:bodyPr wrap="square" lIns="0" tIns="0" rIns="0" bIns="0" rtlCol="0" anchor="ctr">
            <a:normAutofit/>
          </a:bodyPr>
          <a:lstStyle/>
          <a:p>
            <a:pPr algn="ctr" indent="0" marL="0">
              <a:buNone/>
            </a:pPr>
            <a:r>
              <a:rPr lang="en-US" sz="1020" b="1" dirty="0">
                <a:solidFill>
                  <a:srgbClr val="F5F7F8"/>
                </a:solidFill>
                <a:latin typeface="Aptos Mono" pitchFamily="34" charset="0"/>
                <a:ea typeface="Aptos Mono" pitchFamily="34" charset="-122"/>
                <a:cs typeface="Aptos Mono" pitchFamily="34" charset="-120"/>
              </a:rPr>
              <a:t>Java 11</a:t>
            </a:r>
            <a:endParaRPr lang="en-US" sz="1020" dirty="0"/>
          </a:p>
        </p:txBody>
      </p:sp>
      <p:sp>
        <p:nvSpPr>
          <p:cNvPr id="47" name="Text 45"/>
          <p:cNvSpPr/>
          <p:nvPr/>
        </p:nvSpPr>
        <p:spPr>
          <a:xfrm>
            <a:off x="5870448" y="4791456"/>
            <a:ext cx="841248" cy="182880"/>
          </a:xfrm>
          <a:prstGeom prst="rect">
            <a:avLst/>
          </a:prstGeom>
          <a:noFill/>
          <a:ln/>
        </p:spPr>
        <p:txBody>
          <a:bodyPr wrap="square" lIns="0" tIns="0" rIns="0" bIns="0" rtlCol="0" anchor="ctr">
            <a:normAutofit/>
          </a:bodyPr>
          <a:lstStyle/>
          <a:p>
            <a:pPr algn="ctr" indent="0" marL="0">
              <a:buNone/>
            </a:pPr>
            <a:r>
              <a:rPr lang="en-US" sz="1020" b="1" dirty="0">
                <a:solidFill>
                  <a:srgbClr val="F5F7F8"/>
                </a:solidFill>
                <a:latin typeface="Aptos Mono" pitchFamily="34" charset="0"/>
                <a:ea typeface="Aptos Mono" pitchFamily="34" charset="-122"/>
                <a:cs typeface="Aptos Mono" pitchFamily="34" charset="-120"/>
              </a:rPr>
              <a:t>Java 17</a:t>
            </a:r>
            <a:endParaRPr lang="en-US" sz="1020" dirty="0"/>
          </a:p>
        </p:txBody>
      </p:sp>
      <p:sp>
        <p:nvSpPr>
          <p:cNvPr id="48" name="Text 46"/>
          <p:cNvSpPr/>
          <p:nvPr/>
        </p:nvSpPr>
        <p:spPr>
          <a:xfrm>
            <a:off x="7735824" y="4791456"/>
            <a:ext cx="841248" cy="182880"/>
          </a:xfrm>
          <a:prstGeom prst="rect">
            <a:avLst/>
          </a:prstGeom>
          <a:noFill/>
          <a:ln/>
        </p:spPr>
        <p:txBody>
          <a:bodyPr wrap="square" lIns="0" tIns="0" rIns="0" bIns="0" rtlCol="0" anchor="ctr">
            <a:normAutofit/>
          </a:bodyPr>
          <a:lstStyle/>
          <a:p>
            <a:pPr algn="ctr" indent="0" marL="0">
              <a:buNone/>
            </a:pPr>
            <a:r>
              <a:rPr lang="en-US" sz="1020" b="1" dirty="0">
                <a:solidFill>
                  <a:srgbClr val="F5F7F8"/>
                </a:solidFill>
                <a:latin typeface="Aptos Mono" pitchFamily="34" charset="0"/>
                <a:ea typeface="Aptos Mono" pitchFamily="34" charset="-122"/>
                <a:cs typeface="Aptos Mono" pitchFamily="34" charset="-120"/>
              </a:rPr>
              <a:t>Java 21</a:t>
            </a:r>
            <a:endParaRPr lang="en-US" sz="1020" dirty="0"/>
          </a:p>
        </p:txBody>
      </p:sp>
      <p:sp>
        <p:nvSpPr>
          <p:cNvPr id="49" name="Shape 47"/>
          <p:cNvSpPr/>
          <p:nvPr/>
        </p:nvSpPr>
        <p:spPr>
          <a:xfrm>
            <a:off x="9582912" y="2487168"/>
            <a:ext cx="1700784" cy="2542032"/>
          </a:xfrm>
          <a:prstGeom prst="rect">
            <a:avLst/>
          </a:prstGeom>
          <a:solidFill>
            <a:srgbClr val="1B2A35"/>
          </a:solidFill>
          <a:ln w="12700">
            <a:solidFill>
              <a:srgbClr val="41D3AE"/>
            </a:solidFill>
            <a:prstDash val="solid"/>
          </a:ln>
        </p:spPr>
      </p:sp>
      <p:sp>
        <p:nvSpPr>
          <p:cNvPr id="50" name="Text 48"/>
          <p:cNvSpPr/>
          <p:nvPr/>
        </p:nvSpPr>
        <p:spPr>
          <a:xfrm>
            <a:off x="9838944" y="2779776"/>
            <a:ext cx="1097280" cy="146304"/>
          </a:xfrm>
          <a:prstGeom prst="rect">
            <a:avLst/>
          </a:prstGeom>
          <a:noFill/>
          <a:ln/>
        </p:spPr>
        <p:txBody>
          <a:bodyPr wrap="square" lIns="0" tIns="0" rIns="0" bIns="0" rtlCol="0" anchor="ctr">
            <a:normAutofit/>
          </a:bodyPr>
          <a:lstStyle/>
          <a:p>
            <a:pPr algn="l" indent="0" marL="0">
              <a:buNone/>
            </a:pPr>
            <a:r>
              <a:rPr lang="en-US" sz="780" b="1" spc="90" kern="0" dirty="0">
                <a:solidFill>
                  <a:srgbClr val="41D3AE"/>
                </a:solidFill>
                <a:latin typeface="Aptos Mono" pitchFamily="34" charset="0"/>
                <a:ea typeface="Aptos Mono" pitchFamily="34" charset="-122"/>
                <a:cs typeface="Aptos Mono" pitchFamily="34" charset="-120"/>
              </a:rPr>
              <a:t>STATUT</a:t>
            </a:r>
            <a:endParaRPr lang="en-US" sz="780" dirty="0"/>
          </a:p>
        </p:txBody>
      </p:sp>
      <p:sp>
        <p:nvSpPr>
          <p:cNvPr id="51" name="Text 49"/>
          <p:cNvSpPr/>
          <p:nvPr/>
        </p:nvSpPr>
        <p:spPr>
          <a:xfrm>
            <a:off x="9838944" y="3182112"/>
            <a:ext cx="1243584" cy="256032"/>
          </a:xfrm>
          <a:prstGeom prst="rect">
            <a:avLst/>
          </a:prstGeom>
          <a:noFill/>
          <a:ln/>
        </p:spPr>
        <p:txBody>
          <a:bodyPr wrap="square" lIns="0" tIns="0" rIns="0" bIns="0" rtlCol="0" anchor="ctr">
            <a:normAutofit/>
          </a:bodyPr>
          <a:lstStyle/>
          <a:p>
            <a:pPr algn="l" indent="0" marL="0">
              <a:buNone/>
            </a:pPr>
            <a:r>
              <a:rPr lang="en-US" sz="1900" b="1" dirty="0">
                <a:solidFill>
                  <a:srgbClr val="F5F7F8"/>
                </a:solidFill>
                <a:latin typeface="Aptos Display" pitchFamily="34" charset="0"/>
                <a:ea typeface="Aptos Display" pitchFamily="34" charset="-122"/>
                <a:cs typeface="Aptos Display" pitchFamily="34" charset="-120"/>
              </a:rPr>
              <a:t>Réalisé</a:t>
            </a:r>
            <a:endParaRPr lang="en-US" sz="1900" dirty="0"/>
          </a:p>
        </p:txBody>
      </p:sp>
      <p:sp>
        <p:nvSpPr>
          <p:cNvPr id="52" name="Text 50"/>
          <p:cNvSpPr/>
          <p:nvPr/>
        </p:nvSpPr>
        <p:spPr>
          <a:xfrm>
            <a:off x="9838944" y="3657600"/>
            <a:ext cx="1170432" cy="438912"/>
          </a:xfrm>
          <a:prstGeom prst="rect">
            <a:avLst/>
          </a:prstGeom>
          <a:noFill/>
          <a:ln/>
        </p:spPr>
        <p:txBody>
          <a:bodyPr wrap="square" lIns="0" tIns="0" rIns="0" bIns="0" rtlCol="0" anchor="t">
            <a:normAutofit/>
          </a:bodyPr>
          <a:lstStyle/>
          <a:p>
            <a:pPr algn="l" indent="0" marL="0">
              <a:buNone/>
            </a:pPr>
            <a:r>
              <a:rPr lang="en-US" sz="1120" b="1" dirty="0">
                <a:solidFill>
                  <a:srgbClr val="9EADB8"/>
                </a:solidFill>
                <a:latin typeface="Aptos Display" pitchFamily="34" charset="0"/>
                <a:ea typeface="Aptos Display" pitchFamily="34" charset="-122"/>
                <a:cs typeface="Aptos Display" pitchFamily="34" charset="-120"/>
              </a:rPr>
              <a:t>parcours de</a:t>
            </a:r>
            <a:endParaRPr lang="en-US" sz="1120" dirty="0"/>
          </a:p>
          <a:p>
            <a:pPr algn="l" indent="0" marL="0">
              <a:buNone/>
            </a:pPr>
            <a:r>
              <a:rPr lang="en-US" sz="1120" b="1" dirty="0">
                <a:solidFill>
                  <a:srgbClr val="9EADB8"/>
                </a:solidFill>
                <a:latin typeface="Aptos Display" pitchFamily="34" charset="0"/>
                <a:ea typeface="Aptos Display" pitchFamily="34" charset="-122"/>
                <a:cs typeface="Aptos Display" pitchFamily="34" charset="-120"/>
              </a:rPr>
              <a:t>référence</a:t>
            </a:r>
            <a:endParaRPr lang="en-US" sz="1120" dirty="0"/>
          </a:p>
        </p:txBody>
      </p:sp>
      <p:sp>
        <p:nvSpPr>
          <p:cNvPr id="53" name="Shape 51"/>
          <p:cNvSpPr/>
          <p:nvPr/>
        </p:nvSpPr>
        <p:spPr>
          <a:xfrm>
            <a:off x="9838944" y="4498848"/>
            <a:ext cx="1078992" cy="0"/>
          </a:xfrm>
          <a:prstGeom prst="line">
            <a:avLst/>
          </a:prstGeom>
          <a:noFill/>
          <a:ln w="20320">
            <a:solidFill>
              <a:srgbClr val="41D3AE"/>
            </a:solidFill>
            <a:prstDash val="solid"/>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117"/>
        </a:solidFill>
      </p:bgPr>
    </p:bg>
    <p:spTree>
      <p:nvGrpSpPr>
        <p:cNvPr id="1" name=""/>
        <p:cNvGrpSpPr/>
        <p:nvPr/>
      </p:nvGrpSpPr>
      <p:grpSpPr>
        <a:xfrm>
          <a:off x="0" y="0"/>
          <a:ext cx="0" cy="0"/>
          <a:chOff x="0" y="0"/>
          <a:chExt cx="0" cy="0"/>
        </a:xfrm>
      </p:grpSpPr>
      <p:sp>
        <p:nvSpPr>
          <p:cNvPr id="2" name="Shape 0"/>
          <p:cNvSpPr/>
          <p:nvPr/>
        </p:nvSpPr>
        <p:spPr>
          <a:xfrm>
            <a:off x="676656" y="411480"/>
            <a:ext cx="10735056" cy="0"/>
          </a:xfrm>
          <a:prstGeom prst="line">
            <a:avLst/>
          </a:prstGeom>
          <a:noFill/>
          <a:ln w="10160">
            <a:solidFill>
              <a:srgbClr val="344653">
                <a:alpha val="85000"/>
              </a:srgbClr>
            </a:solidFill>
            <a:prstDash val="solid"/>
          </a:ln>
        </p:spPr>
      </p:sp>
      <p:sp>
        <p:nvSpPr>
          <p:cNvPr id="3" name="Shape 1"/>
          <p:cNvSpPr/>
          <p:nvPr/>
        </p:nvSpPr>
        <p:spPr>
          <a:xfrm>
            <a:off x="658368" y="356616"/>
            <a:ext cx="73152" cy="73152"/>
          </a:xfrm>
          <a:prstGeom prst="ellipse">
            <a:avLst/>
          </a:prstGeom>
          <a:solidFill>
            <a:srgbClr val="41D3AE"/>
          </a:solidFill>
          <a:ln w="12700">
            <a:solidFill>
              <a:srgbClr val="41D3AE">
                <a:alpha val="0"/>
              </a:srgbClr>
            </a:solidFill>
            <a:prstDash val="solid"/>
          </a:ln>
        </p:spPr>
      </p:sp>
      <p:sp>
        <p:nvSpPr>
          <p:cNvPr id="4" name="Text 2"/>
          <p:cNvSpPr/>
          <p:nvPr/>
        </p:nvSpPr>
        <p:spPr>
          <a:xfrm>
            <a:off x="822960" y="201168"/>
            <a:ext cx="1207008" cy="164592"/>
          </a:xfrm>
          <a:prstGeom prst="rect">
            <a:avLst/>
          </a:prstGeom>
          <a:noFill/>
          <a:ln/>
        </p:spPr>
        <p:txBody>
          <a:bodyPr wrap="square" lIns="0" tIns="0" rIns="0" bIns="0" rtlCol="0" anchor="ctr">
            <a:normAutofit/>
          </a:bodyPr>
          <a:lstStyle/>
          <a:p>
            <a:pPr algn="l" indent="0" marL="0">
              <a:buNone/>
            </a:pPr>
            <a:r>
              <a:rPr lang="en-US" sz="760" b="1" dirty="0">
                <a:solidFill>
                  <a:srgbClr val="9EADB8"/>
                </a:solidFill>
                <a:latin typeface="Aptos" pitchFamily="34" charset="0"/>
                <a:ea typeface="Aptos" pitchFamily="34" charset="-122"/>
                <a:cs typeface="Aptos" pitchFamily="34" charset="-120"/>
              </a:rPr>
              <a:t>Contexte</a:t>
            </a:r>
            <a:endParaRPr lang="en-US" sz="760" dirty="0"/>
          </a:p>
        </p:txBody>
      </p:sp>
      <p:sp>
        <p:nvSpPr>
          <p:cNvPr id="5" name="Shape 3"/>
          <p:cNvSpPr/>
          <p:nvPr/>
        </p:nvSpPr>
        <p:spPr>
          <a:xfrm>
            <a:off x="2130552" y="356616"/>
            <a:ext cx="73152" cy="73152"/>
          </a:xfrm>
          <a:prstGeom prst="ellipse">
            <a:avLst/>
          </a:prstGeom>
          <a:solidFill>
            <a:srgbClr val="41D3AE"/>
          </a:solidFill>
          <a:ln w="12700">
            <a:solidFill>
              <a:srgbClr val="41D3AE">
                <a:alpha val="0"/>
              </a:srgbClr>
            </a:solidFill>
            <a:prstDash val="solid"/>
          </a:ln>
        </p:spPr>
      </p:sp>
      <p:sp>
        <p:nvSpPr>
          <p:cNvPr id="6" name="Text 4"/>
          <p:cNvSpPr/>
          <p:nvPr/>
        </p:nvSpPr>
        <p:spPr>
          <a:xfrm>
            <a:off x="2295144" y="201168"/>
            <a:ext cx="1207008" cy="164592"/>
          </a:xfrm>
          <a:prstGeom prst="rect">
            <a:avLst/>
          </a:prstGeom>
          <a:noFill/>
          <a:ln/>
        </p:spPr>
        <p:txBody>
          <a:bodyPr wrap="square" lIns="0" tIns="0" rIns="0" bIns="0" rtlCol="0" anchor="ctr">
            <a:normAutofit/>
          </a:bodyPr>
          <a:lstStyle/>
          <a:p>
            <a:pPr algn="l" indent="0" marL="0">
              <a:buNone/>
            </a:pPr>
            <a:r>
              <a:rPr lang="en-US" sz="760" b="1" dirty="0">
                <a:solidFill>
                  <a:srgbClr val="9EADB8"/>
                </a:solidFill>
                <a:latin typeface="Aptos" pitchFamily="34" charset="0"/>
                <a:ea typeface="Aptos" pitchFamily="34" charset="-122"/>
                <a:cs typeface="Aptos" pitchFamily="34" charset="-120"/>
              </a:rPr>
              <a:t>Solution</a:t>
            </a:r>
            <a:endParaRPr lang="en-US" sz="760" dirty="0"/>
          </a:p>
        </p:txBody>
      </p:sp>
      <p:sp>
        <p:nvSpPr>
          <p:cNvPr id="7" name="Shape 5"/>
          <p:cNvSpPr/>
          <p:nvPr/>
        </p:nvSpPr>
        <p:spPr>
          <a:xfrm>
            <a:off x="3493008" y="356616"/>
            <a:ext cx="73152" cy="73152"/>
          </a:xfrm>
          <a:prstGeom prst="ellipse">
            <a:avLst/>
          </a:prstGeom>
          <a:solidFill>
            <a:srgbClr val="41D3AE"/>
          </a:solidFill>
          <a:ln w="12700">
            <a:solidFill>
              <a:srgbClr val="41D3AE">
                <a:alpha val="0"/>
              </a:srgbClr>
            </a:solidFill>
            <a:prstDash val="solid"/>
          </a:ln>
        </p:spPr>
      </p:sp>
      <p:sp>
        <p:nvSpPr>
          <p:cNvPr id="8" name="Text 6"/>
          <p:cNvSpPr/>
          <p:nvPr/>
        </p:nvSpPr>
        <p:spPr>
          <a:xfrm>
            <a:off x="3657600" y="201168"/>
            <a:ext cx="1207008" cy="164592"/>
          </a:xfrm>
          <a:prstGeom prst="rect">
            <a:avLst/>
          </a:prstGeom>
          <a:noFill/>
          <a:ln/>
        </p:spPr>
        <p:txBody>
          <a:bodyPr wrap="square" lIns="0" tIns="0" rIns="0" bIns="0" rtlCol="0" anchor="ctr">
            <a:normAutofit/>
          </a:bodyPr>
          <a:lstStyle/>
          <a:p>
            <a:pPr algn="l" indent="0" marL="0">
              <a:buNone/>
            </a:pPr>
            <a:r>
              <a:rPr lang="en-US" sz="760" b="1" dirty="0">
                <a:solidFill>
                  <a:srgbClr val="9EADB8"/>
                </a:solidFill>
                <a:latin typeface="Aptos" pitchFamily="34" charset="0"/>
                <a:ea typeface="Aptos" pitchFamily="34" charset="-122"/>
                <a:cs typeface="Aptos" pitchFamily="34" charset="-120"/>
              </a:rPr>
              <a:t>Architecture</a:t>
            </a:r>
            <a:endParaRPr lang="en-US" sz="760" dirty="0"/>
          </a:p>
        </p:txBody>
      </p:sp>
      <p:sp>
        <p:nvSpPr>
          <p:cNvPr id="9" name="Shape 7"/>
          <p:cNvSpPr/>
          <p:nvPr/>
        </p:nvSpPr>
        <p:spPr>
          <a:xfrm>
            <a:off x="5001768" y="356616"/>
            <a:ext cx="109728" cy="109728"/>
          </a:xfrm>
          <a:prstGeom prst="ellipse">
            <a:avLst/>
          </a:prstGeom>
          <a:solidFill>
            <a:srgbClr val="68D6E8"/>
          </a:solidFill>
          <a:ln w="12700">
            <a:solidFill>
              <a:srgbClr val="68D6E8">
                <a:alpha val="0"/>
              </a:srgbClr>
            </a:solidFill>
            <a:prstDash val="solid"/>
          </a:ln>
        </p:spPr>
      </p:sp>
      <p:sp>
        <p:nvSpPr>
          <p:cNvPr id="10" name="Text 8"/>
          <p:cNvSpPr/>
          <p:nvPr/>
        </p:nvSpPr>
        <p:spPr>
          <a:xfrm>
            <a:off x="5166360" y="201168"/>
            <a:ext cx="1097280" cy="164592"/>
          </a:xfrm>
          <a:prstGeom prst="rect">
            <a:avLst/>
          </a:prstGeom>
          <a:noFill/>
          <a:ln/>
        </p:spPr>
        <p:txBody>
          <a:bodyPr wrap="square" lIns="0" tIns="0" rIns="0" bIns="0" rtlCol="0" anchor="ctr">
            <a:normAutofit/>
          </a:bodyPr>
          <a:lstStyle/>
          <a:p>
            <a:pPr algn="l" indent="0" marL="0">
              <a:buNone/>
            </a:pPr>
            <a:r>
              <a:rPr lang="en-US" sz="810" b="1" dirty="0">
                <a:solidFill>
                  <a:srgbClr val="68D6E8"/>
                </a:solidFill>
                <a:latin typeface="Aptos" pitchFamily="34" charset="0"/>
                <a:ea typeface="Aptos" pitchFamily="34" charset="-122"/>
                <a:cs typeface="Aptos" pitchFamily="34" charset="-120"/>
              </a:rPr>
              <a:t>Réalisation</a:t>
            </a:r>
            <a:endParaRPr lang="en-US" sz="810" dirty="0"/>
          </a:p>
        </p:txBody>
      </p:sp>
      <p:sp>
        <p:nvSpPr>
          <p:cNvPr id="11" name="Shape 9"/>
          <p:cNvSpPr/>
          <p:nvPr/>
        </p:nvSpPr>
        <p:spPr>
          <a:xfrm>
            <a:off x="5148072" y="521208"/>
            <a:ext cx="896112" cy="0"/>
          </a:xfrm>
          <a:prstGeom prst="line">
            <a:avLst/>
          </a:prstGeom>
          <a:noFill/>
          <a:ln w="22860">
            <a:solidFill>
              <a:srgbClr val="68D6E8"/>
            </a:solidFill>
            <a:prstDash val="solid"/>
          </a:ln>
        </p:spPr>
      </p:sp>
      <p:sp>
        <p:nvSpPr>
          <p:cNvPr id="12" name="Shape 10"/>
          <p:cNvSpPr/>
          <p:nvPr/>
        </p:nvSpPr>
        <p:spPr>
          <a:xfrm>
            <a:off x="6583680" y="356616"/>
            <a:ext cx="73152" cy="73152"/>
          </a:xfrm>
          <a:prstGeom prst="ellipse">
            <a:avLst/>
          </a:prstGeom>
          <a:solidFill>
            <a:srgbClr val="344653">
              <a:alpha val="80000"/>
            </a:srgbClr>
          </a:solidFill>
          <a:ln w="12700">
            <a:solidFill>
              <a:srgbClr val="344653">
                <a:alpha val="0"/>
              </a:srgbClr>
            </a:solidFill>
            <a:prstDash val="solid"/>
          </a:ln>
        </p:spPr>
      </p:sp>
      <p:sp>
        <p:nvSpPr>
          <p:cNvPr id="13" name="Text 11"/>
          <p:cNvSpPr/>
          <p:nvPr/>
        </p:nvSpPr>
        <p:spPr>
          <a:xfrm>
            <a:off x="6748272" y="201168"/>
            <a:ext cx="1207008" cy="164592"/>
          </a:xfrm>
          <a:prstGeom prst="rect">
            <a:avLst/>
          </a:prstGeom>
          <a:noFill/>
          <a:ln/>
        </p:spPr>
        <p:txBody>
          <a:bodyPr wrap="square" lIns="0" tIns="0" rIns="0" bIns="0" rtlCol="0" anchor="ctr">
            <a:normAutofit/>
          </a:bodyPr>
          <a:lstStyle/>
          <a:p>
            <a:pPr algn="l" indent="0" marL="0">
              <a:buNone/>
            </a:pPr>
            <a:r>
              <a:rPr lang="en-US" sz="760" dirty="0">
                <a:solidFill>
                  <a:srgbClr val="9EADB8"/>
                </a:solidFill>
                <a:latin typeface="Aptos" pitchFamily="34" charset="0"/>
                <a:ea typeface="Aptos" pitchFamily="34" charset="-122"/>
                <a:cs typeface="Aptos" pitchFamily="34" charset="-120"/>
              </a:rPr>
              <a:t>Démo</a:t>
            </a:r>
            <a:endParaRPr lang="en-US" sz="760" dirty="0"/>
          </a:p>
        </p:txBody>
      </p:sp>
      <p:sp>
        <p:nvSpPr>
          <p:cNvPr id="14" name="Shape 12"/>
          <p:cNvSpPr/>
          <p:nvPr/>
        </p:nvSpPr>
        <p:spPr>
          <a:xfrm>
            <a:off x="8229600" y="356616"/>
            <a:ext cx="73152" cy="73152"/>
          </a:xfrm>
          <a:prstGeom prst="ellipse">
            <a:avLst/>
          </a:prstGeom>
          <a:solidFill>
            <a:srgbClr val="344653">
              <a:alpha val="80000"/>
            </a:srgbClr>
          </a:solidFill>
          <a:ln w="12700">
            <a:solidFill>
              <a:srgbClr val="344653">
                <a:alpha val="0"/>
              </a:srgbClr>
            </a:solidFill>
            <a:prstDash val="solid"/>
          </a:ln>
        </p:spPr>
      </p:sp>
      <p:sp>
        <p:nvSpPr>
          <p:cNvPr id="15" name="Text 13"/>
          <p:cNvSpPr/>
          <p:nvPr/>
        </p:nvSpPr>
        <p:spPr>
          <a:xfrm>
            <a:off x="8394192" y="201168"/>
            <a:ext cx="1207008" cy="164592"/>
          </a:xfrm>
          <a:prstGeom prst="rect">
            <a:avLst/>
          </a:prstGeom>
          <a:noFill/>
          <a:ln/>
        </p:spPr>
        <p:txBody>
          <a:bodyPr wrap="square" lIns="0" tIns="0" rIns="0" bIns="0" rtlCol="0" anchor="ctr">
            <a:normAutofit/>
          </a:bodyPr>
          <a:lstStyle/>
          <a:p>
            <a:pPr algn="l" indent="0" marL="0">
              <a:buNone/>
            </a:pPr>
            <a:r>
              <a:rPr lang="en-US" sz="760" dirty="0">
                <a:solidFill>
                  <a:srgbClr val="9EADB8"/>
                </a:solidFill>
                <a:latin typeface="Aptos" pitchFamily="34" charset="0"/>
                <a:ea typeface="Aptos" pitchFamily="34" charset="-122"/>
                <a:cs typeface="Aptos" pitchFamily="34" charset="-120"/>
              </a:rPr>
              <a:t>Résultats</a:t>
            </a:r>
            <a:endParaRPr lang="en-US" sz="760" dirty="0"/>
          </a:p>
        </p:txBody>
      </p:sp>
      <p:sp>
        <p:nvSpPr>
          <p:cNvPr id="16" name="Shape 14"/>
          <p:cNvSpPr/>
          <p:nvPr/>
        </p:nvSpPr>
        <p:spPr>
          <a:xfrm>
            <a:off x="9784080" y="356616"/>
            <a:ext cx="73152" cy="73152"/>
          </a:xfrm>
          <a:prstGeom prst="ellipse">
            <a:avLst/>
          </a:prstGeom>
          <a:solidFill>
            <a:srgbClr val="344653">
              <a:alpha val="80000"/>
            </a:srgbClr>
          </a:solidFill>
          <a:ln w="12700">
            <a:solidFill>
              <a:srgbClr val="344653">
                <a:alpha val="0"/>
              </a:srgbClr>
            </a:solidFill>
            <a:prstDash val="solid"/>
          </a:ln>
        </p:spPr>
      </p:sp>
      <p:sp>
        <p:nvSpPr>
          <p:cNvPr id="17" name="Text 15"/>
          <p:cNvSpPr/>
          <p:nvPr/>
        </p:nvSpPr>
        <p:spPr>
          <a:xfrm>
            <a:off x="9948672" y="201168"/>
            <a:ext cx="1207008" cy="164592"/>
          </a:xfrm>
          <a:prstGeom prst="rect">
            <a:avLst/>
          </a:prstGeom>
          <a:noFill/>
          <a:ln/>
        </p:spPr>
        <p:txBody>
          <a:bodyPr wrap="square" lIns="0" tIns="0" rIns="0" bIns="0" rtlCol="0" anchor="ctr">
            <a:normAutofit/>
          </a:bodyPr>
          <a:lstStyle/>
          <a:p>
            <a:pPr algn="l" indent="0" marL="0">
              <a:buNone/>
            </a:pPr>
            <a:r>
              <a:rPr lang="en-US" sz="760" dirty="0">
                <a:solidFill>
                  <a:srgbClr val="9EADB8"/>
                </a:solidFill>
                <a:latin typeface="Aptos" pitchFamily="34" charset="0"/>
                <a:ea typeface="Aptos" pitchFamily="34" charset="-122"/>
                <a:cs typeface="Aptos" pitchFamily="34" charset="-120"/>
              </a:rPr>
              <a:t>Conclusion</a:t>
            </a:r>
            <a:endParaRPr lang="en-US" sz="760" dirty="0"/>
          </a:p>
        </p:txBody>
      </p:sp>
      <p:sp>
        <p:nvSpPr>
          <p:cNvPr id="18" name="Shape 16"/>
          <p:cNvSpPr/>
          <p:nvPr/>
        </p:nvSpPr>
        <p:spPr>
          <a:xfrm>
            <a:off x="658368" y="6428232"/>
            <a:ext cx="10863072" cy="0"/>
          </a:xfrm>
          <a:prstGeom prst="line">
            <a:avLst/>
          </a:prstGeom>
          <a:noFill/>
          <a:ln w="8890">
            <a:solidFill>
              <a:srgbClr val="344653">
                <a:alpha val="80000"/>
              </a:srgbClr>
            </a:solidFill>
            <a:prstDash val="solid"/>
          </a:ln>
        </p:spPr>
      </p:sp>
      <p:sp>
        <p:nvSpPr>
          <p:cNvPr id="19" name="Text 17"/>
          <p:cNvSpPr/>
          <p:nvPr/>
        </p:nvSpPr>
        <p:spPr>
          <a:xfrm>
            <a:off x="658368" y="6510528"/>
            <a:ext cx="2926080" cy="146304"/>
          </a:xfrm>
          <a:prstGeom prst="rect">
            <a:avLst/>
          </a:prstGeom>
          <a:noFill/>
          <a:ln/>
        </p:spPr>
        <p:txBody>
          <a:bodyPr wrap="square" lIns="0" tIns="0" rIns="0" bIns="0" rtlCol="0" anchor="ctr">
            <a:normAutofit/>
          </a:bodyPr>
          <a:lstStyle/>
          <a:p>
            <a:pPr algn="l" indent="0" marL="0">
              <a:buNone/>
            </a:pPr>
            <a:r>
              <a:rPr lang="en-US" sz="720" b="1" spc="120" kern="0" dirty="0">
                <a:solidFill>
                  <a:srgbClr val="6C7F89"/>
                </a:solidFill>
                <a:latin typeface="Aptos Mono" pitchFamily="34" charset="0"/>
                <a:ea typeface="Aptos Mono" pitchFamily="34" charset="-122"/>
                <a:cs typeface="Aptos Mono" pitchFamily="34" charset="-120"/>
              </a:rPr>
              <a:t>AGENTIC MIGRATION PLATFORM</a:t>
            </a:r>
            <a:endParaRPr lang="en-US" sz="720" dirty="0"/>
          </a:p>
        </p:txBody>
      </p:sp>
      <p:sp>
        <p:nvSpPr>
          <p:cNvPr id="20" name="Text 18"/>
          <p:cNvSpPr/>
          <p:nvPr/>
        </p:nvSpPr>
        <p:spPr>
          <a:xfrm>
            <a:off x="10561320" y="6501384"/>
            <a:ext cx="950976" cy="155448"/>
          </a:xfrm>
          <a:prstGeom prst="rect">
            <a:avLst/>
          </a:prstGeom>
          <a:noFill/>
          <a:ln/>
        </p:spPr>
        <p:txBody>
          <a:bodyPr wrap="square" lIns="0" tIns="0" rIns="0" bIns="0" rtlCol="0" anchor="ctr">
            <a:normAutofit/>
          </a:bodyPr>
          <a:lstStyle/>
          <a:p>
            <a:pPr algn="r" indent="0" marL="0">
              <a:buNone/>
            </a:pPr>
            <a:r>
              <a:rPr lang="en-US" sz="770" b="1" spc="80" kern="0" dirty="0">
                <a:solidFill>
                  <a:srgbClr val="6C7F89"/>
                </a:solidFill>
                <a:latin typeface="Aptos Mono" pitchFamily="34" charset="0"/>
                <a:ea typeface="Aptos Mono" pitchFamily="34" charset="-122"/>
                <a:cs typeface="Aptos Mono" pitchFamily="34" charset="-120"/>
              </a:rPr>
              <a:t>10 / 18</a:t>
            </a:r>
            <a:endParaRPr lang="en-US" sz="770" dirty="0"/>
          </a:p>
        </p:txBody>
      </p:sp>
      <p:sp>
        <p:nvSpPr>
          <p:cNvPr id="21" name="Text 19"/>
          <p:cNvSpPr/>
          <p:nvPr/>
        </p:nvSpPr>
        <p:spPr>
          <a:xfrm>
            <a:off x="658368" y="758952"/>
            <a:ext cx="3200400" cy="164592"/>
          </a:xfrm>
          <a:prstGeom prst="rect">
            <a:avLst/>
          </a:prstGeom>
          <a:noFill/>
          <a:ln/>
        </p:spPr>
        <p:txBody>
          <a:bodyPr wrap="square" lIns="0" tIns="0" rIns="0" bIns="0" rtlCol="0" anchor="ctr">
            <a:normAutofit/>
          </a:bodyPr>
          <a:lstStyle/>
          <a:p>
            <a:pPr algn="l" indent="0" marL="0">
              <a:buNone/>
            </a:pPr>
            <a:r>
              <a:rPr lang="en-US" sz="900" b="1" spc="135" kern="0" dirty="0">
                <a:solidFill>
                  <a:srgbClr val="68D6E8"/>
                </a:solidFill>
                <a:latin typeface="Aptos Mono" pitchFamily="34" charset="0"/>
                <a:ea typeface="Aptos Mono" pitchFamily="34" charset="-122"/>
                <a:cs typeface="Aptos Mono" pitchFamily="34" charset="-120"/>
              </a:rPr>
              <a:t>RÉALISATION</a:t>
            </a:r>
            <a:endParaRPr lang="en-US" sz="900" dirty="0"/>
          </a:p>
        </p:txBody>
      </p:sp>
      <p:sp>
        <p:nvSpPr>
          <p:cNvPr id="22" name="Text 20"/>
          <p:cNvSpPr/>
          <p:nvPr/>
        </p:nvSpPr>
        <p:spPr>
          <a:xfrm>
            <a:off x="658368" y="969264"/>
            <a:ext cx="10607040" cy="493776"/>
          </a:xfrm>
          <a:prstGeom prst="rect">
            <a:avLst/>
          </a:prstGeom>
          <a:noFill/>
          <a:ln/>
        </p:spPr>
        <p:txBody>
          <a:bodyPr wrap="square" lIns="0" tIns="0" rIns="0" bIns="0" rtlCol="0" anchor="t">
            <a:normAutofit/>
          </a:bodyPr>
          <a:lstStyle/>
          <a:p>
            <a:pPr algn="l" indent="0" marL="0">
              <a:buNone/>
            </a:pPr>
            <a:r>
              <a:rPr lang="en-US" sz="2900" b="1" dirty="0">
                <a:solidFill>
                  <a:srgbClr val="F5F7F8"/>
                </a:solidFill>
                <a:latin typeface="Aptos Display" pitchFamily="34" charset="0"/>
                <a:ea typeface="Aptos Display" pitchFamily="34" charset="-122"/>
                <a:cs typeface="Aptos Display" pitchFamily="34" charset="-120"/>
              </a:rPr>
              <a:t>Angular : une couverture progressive</a:t>
            </a:r>
            <a:endParaRPr lang="en-US" sz="2900" dirty="0"/>
          </a:p>
        </p:txBody>
      </p:sp>
      <p:sp>
        <p:nvSpPr>
          <p:cNvPr id="23" name="Text 21"/>
          <p:cNvSpPr/>
          <p:nvPr/>
        </p:nvSpPr>
        <p:spPr>
          <a:xfrm>
            <a:off x="658368" y="1499616"/>
            <a:ext cx="9966960" cy="256032"/>
          </a:xfrm>
          <a:prstGeom prst="rect">
            <a:avLst/>
          </a:prstGeom>
          <a:noFill/>
          <a:ln/>
        </p:spPr>
        <p:txBody>
          <a:bodyPr wrap="square" lIns="0" tIns="0" rIns="0" bIns="0" rtlCol="0" anchor="t">
            <a:normAutofit/>
          </a:bodyPr>
          <a:lstStyle/>
          <a:p>
            <a:pPr algn="l" indent="0" marL="0">
              <a:buNone/>
            </a:pPr>
            <a:r>
              <a:rPr lang="en-US" sz="1200" dirty="0">
                <a:solidFill>
                  <a:srgbClr val="9EADB8"/>
                </a:solidFill>
                <a:latin typeface="Aptos" pitchFamily="34" charset="0"/>
                <a:ea typeface="Aptos" pitchFamily="34" charset="-122"/>
                <a:cs typeface="Aptos" pitchFamily="34" charset="-120"/>
              </a:rPr>
              <a:t>Le même modèle de gouvernance est transférable, avec une couverture encore partielle.</a:t>
            </a:r>
            <a:endParaRPr lang="en-US" sz="1200" dirty="0"/>
          </a:p>
        </p:txBody>
      </p:sp>
      <p:sp>
        <p:nvSpPr>
          <p:cNvPr id="24" name="Text 22"/>
          <p:cNvSpPr/>
          <p:nvPr/>
        </p:nvSpPr>
        <p:spPr>
          <a:xfrm>
            <a:off x="731520" y="2048256"/>
            <a:ext cx="1783080" cy="164592"/>
          </a:xfrm>
          <a:prstGeom prst="rect">
            <a:avLst/>
          </a:prstGeom>
          <a:noFill/>
          <a:ln/>
        </p:spPr>
        <p:txBody>
          <a:bodyPr wrap="square" lIns="0" tIns="0" rIns="0" bIns="0" rtlCol="0" anchor="ctr">
            <a:normAutofit/>
          </a:bodyPr>
          <a:lstStyle/>
          <a:p>
            <a:pPr algn="l" indent="0" marL="0">
              <a:buNone/>
            </a:pPr>
            <a:r>
              <a:rPr lang="en-US" sz="840" b="1" spc="120" kern="0" dirty="0">
                <a:solidFill>
                  <a:srgbClr val="68D6E8"/>
                </a:solidFill>
                <a:latin typeface="Aptos Mono" pitchFamily="34" charset="0"/>
                <a:ea typeface="Aptos Mono" pitchFamily="34" charset="-122"/>
                <a:cs typeface="Aptos Mono" pitchFamily="34" charset="-120"/>
              </a:rPr>
              <a:t>EVIDENCE LINE</a:t>
            </a:r>
            <a:endParaRPr lang="en-US" sz="840" dirty="0"/>
          </a:p>
        </p:txBody>
      </p:sp>
      <p:sp>
        <p:nvSpPr>
          <p:cNvPr id="25" name="Text 23"/>
          <p:cNvSpPr/>
          <p:nvPr/>
        </p:nvSpPr>
        <p:spPr>
          <a:xfrm>
            <a:off x="749808" y="2670048"/>
            <a:ext cx="1865376" cy="420624"/>
          </a:xfrm>
          <a:prstGeom prst="rect">
            <a:avLst/>
          </a:prstGeom>
          <a:noFill/>
          <a:ln/>
        </p:spPr>
        <p:txBody>
          <a:bodyPr wrap="square" lIns="0" tIns="0" rIns="0" bIns="0" rtlCol="0" anchor="ctr">
            <a:normAutofit/>
          </a:bodyPr>
          <a:lstStyle/>
          <a:p>
            <a:pPr algn="l" indent="0" marL="0">
              <a:buNone/>
            </a:pPr>
            <a:r>
              <a:rPr lang="en-US" sz="2800" b="1" dirty="0">
                <a:solidFill>
                  <a:srgbClr val="F4B84A"/>
                </a:solidFill>
                <a:latin typeface="Aptos Display" pitchFamily="34" charset="0"/>
                <a:ea typeface="Aptos Display" pitchFamily="34" charset="-122"/>
                <a:cs typeface="Aptos Display" pitchFamily="34" charset="-120"/>
              </a:rPr>
              <a:t>PARTIEL</a:t>
            </a:r>
            <a:endParaRPr lang="en-US" sz="2800" dirty="0"/>
          </a:p>
        </p:txBody>
      </p:sp>
      <p:sp>
        <p:nvSpPr>
          <p:cNvPr id="26" name="Text 24"/>
          <p:cNvSpPr/>
          <p:nvPr/>
        </p:nvSpPr>
        <p:spPr>
          <a:xfrm>
            <a:off x="768096" y="3218688"/>
            <a:ext cx="1993392" cy="201168"/>
          </a:xfrm>
          <a:prstGeom prst="rect">
            <a:avLst/>
          </a:prstGeom>
          <a:noFill/>
          <a:ln/>
        </p:spPr>
        <p:txBody>
          <a:bodyPr wrap="square" lIns="0" tIns="0" rIns="0" bIns="0" rtlCol="0" anchor="ctr">
            <a:normAutofit/>
          </a:bodyPr>
          <a:lstStyle/>
          <a:p>
            <a:pPr algn="l" indent="0" marL="0">
              <a:buNone/>
            </a:pPr>
            <a:r>
              <a:rPr lang="en-US" sz="1060" b="1" dirty="0">
                <a:solidFill>
                  <a:srgbClr val="9EADB8"/>
                </a:solidFill>
                <a:latin typeface="Aptos Mono" pitchFamily="34" charset="0"/>
                <a:ea typeface="Aptos Mono" pitchFamily="34" charset="-122"/>
                <a:cs typeface="Aptos Mono" pitchFamily="34" charset="-120"/>
              </a:rPr>
              <a:t>preuve par transition</a:t>
            </a:r>
            <a:endParaRPr lang="en-US" sz="1060" dirty="0"/>
          </a:p>
        </p:txBody>
      </p:sp>
      <p:sp>
        <p:nvSpPr>
          <p:cNvPr id="27" name="Shape 25"/>
          <p:cNvSpPr/>
          <p:nvPr/>
        </p:nvSpPr>
        <p:spPr>
          <a:xfrm>
            <a:off x="3072384" y="3547872"/>
            <a:ext cx="6876288" cy="0"/>
          </a:xfrm>
          <a:prstGeom prst="line">
            <a:avLst/>
          </a:prstGeom>
          <a:noFill/>
          <a:ln w="22860">
            <a:solidFill>
              <a:srgbClr val="41D3AE"/>
            </a:solidFill>
            <a:prstDash val="solid"/>
          </a:ln>
        </p:spPr>
      </p:sp>
      <p:sp>
        <p:nvSpPr>
          <p:cNvPr id="28" name="Shape 26"/>
          <p:cNvSpPr/>
          <p:nvPr/>
        </p:nvSpPr>
        <p:spPr>
          <a:xfrm>
            <a:off x="3429000" y="3364992"/>
            <a:ext cx="329184" cy="329184"/>
          </a:xfrm>
          <a:prstGeom prst="ellipse">
            <a:avLst/>
          </a:prstGeom>
          <a:solidFill>
            <a:srgbClr val="0B1117"/>
          </a:solidFill>
          <a:ln w="19050">
            <a:solidFill>
              <a:srgbClr val="41D3AE"/>
            </a:solidFill>
            <a:prstDash val="solid"/>
          </a:ln>
        </p:spPr>
      </p:sp>
      <p:sp>
        <p:nvSpPr>
          <p:cNvPr id="29" name="Shape 27"/>
          <p:cNvSpPr/>
          <p:nvPr/>
        </p:nvSpPr>
        <p:spPr>
          <a:xfrm>
            <a:off x="3534156" y="3470148"/>
            <a:ext cx="118872" cy="118872"/>
          </a:xfrm>
          <a:prstGeom prst="ellipse">
            <a:avLst/>
          </a:prstGeom>
          <a:solidFill>
            <a:srgbClr val="41D3AE"/>
          </a:solidFill>
          <a:ln w="12700">
            <a:solidFill>
              <a:srgbClr val="41D3AE">
                <a:alpha val="0"/>
              </a:srgbClr>
            </a:solidFill>
            <a:prstDash val="solid"/>
          </a:ln>
        </p:spPr>
      </p:sp>
      <p:sp>
        <p:nvSpPr>
          <p:cNvPr id="30" name="Text 28"/>
          <p:cNvSpPr/>
          <p:nvPr/>
        </p:nvSpPr>
        <p:spPr>
          <a:xfrm>
            <a:off x="3090672" y="3840480"/>
            <a:ext cx="1005840" cy="201168"/>
          </a:xfrm>
          <a:prstGeom prst="rect">
            <a:avLst/>
          </a:prstGeom>
          <a:noFill/>
          <a:ln/>
        </p:spPr>
        <p:txBody>
          <a:bodyPr wrap="square" lIns="0" tIns="0" rIns="0" bIns="0" rtlCol="0" anchor="ctr">
            <a:normAutofit/>
          </a:bodyPr>
          <a:lstStyle/>
          <a:p>
            <a:pPr algn="ctr" indent="0" marL="0">
              <a:buNone/>
            </a:pPr>
            <a:r>
              <a:rPr lang="en-US" sz="1220" b="1" dirty="0">
                <a:solidFill>
                  <a:srgbClr val="F5F7F8"/>
                </a:solidFill>
                <a:latin typeface="Aptos Display" pitchFamily="34" charset="0"/>
                <a:ea typeface="Aptos Display" pitchFamily="34" charset="-122"/>
                <a:cs typeface="Aptos Display" pitchFamily="34" charset="-120"/>
              </a:rPr>
              <a:t>18</a:t>
            </a:r>
            <a:endParaRPr lang="en-US" sz="1220" dirty="0"/>
          </a:p>
        </p:txBody>
      </p:sp>
      <p:sp>
        <p:nvSpPr>
          <p:cNvPr id="31" name="Text 29"/>
          <p:cNvSpPr/>
          <p:nvPr/>
        </p:nvSpPr>
        <p:spPr>
          <a:xfrm>
            <a:off x="2944368" y="4133088"/>
            <a:ext cx="1298448" cy="182880"/>
          </a:xfrm>
          <a:prstGeom prst="rect">
            <a:avLst/>
          </a:prstGeom>
          <a:noFill/>
          <a:ln/>
        </p:spPr>
        <p:txBody>
          <a:bodyPr wrap="square" lIns="0" tIns="0" rIns="0" bIns="0" rtlCol="0" anchor="t">
            <a:normAutofit/>
          </a:bodyPr>
          <a:lstStyle/>
          <a:p>
            <a:pPr algn="ctr" indent="0" marL="0">
              <a:buNone/>
            </a:pPr>
            <a:r>
              <a:rPr lang="en-US" sz="820" dirty="0">
                <a:solidFill>
                  <a:srgbClr val="41D3AE"/>
                </a:solidFill>
                <a:latin typeface="Aptos" pitchFamily="34" charset="0"/>
                <a:ea typeface="Aptos" pitchFamily="34" charset="-122"/>
                <a:cs typeface="Aptos" pitchFamily="34" charset="-120"/>
              </a:rPr>
              <a:t>source</a:t>
            </a:r>
            <a:endParaRPr lang="en-US" sz="820" dirty="0"/>
          </a:p>
        </p:txBody>
      </p:sp>
      <p:sp>
        <p:nvSpPr>
          <p:cNvPr id="32" name="Shape 30"/>
          <p:cNvSpPr/>
          <p:nvPr/>
        </p:nvSpPr>
        <p:spPr>
          <a:xfrm>
            <a:off x="5221224" y="3364992"/>
            <a:ext cx="329184" cy="329184"/>
          </a:xfrm>
          <a:prstGeom prst="ellipse">
            <a:avLst/>
          </a:prstGeom>
          <a:solidFill>
            <a:srgbClr val="0B1117"/>
          </a:solidFill>
          <a:ln w="19050">
            <a:solidFill>
              <a:srgbClr val="41D3AE"/>
            </a:solidFill>
            <a:prstDash val="solid"/>
          </a:ln>
        </p:spPr>
      </p:sp>
      <p:sp>
        <p:nvSpPr>
          <p:cNvPr id="33" name="Shape 31"/>
          <p:cNvSpPr/>
          <p:nvPr/>
        </p:nvSpPr>
        <p:spPr>
          <a:xfrm>
            <a:off x="5326380" y="3470148"/>
            <a:ext cx="118872" cy="118872"/>
          </a:xfrm>
          <a:prstGeom prst="ellipse">
            <a:avLst/>
          </a:prstGeom>
          <a:solidFill>
            <a:srgbClr val="41D3AE"/>
          </a:solidFill>
          <a:ln w="12700">
            <a:solidFill>
              <a:srgbClr val="41D3AE">
                <a:alpha val="0"/>
              </a:srgbClr>
            </a:solidFill>
            <a:prstDash val="solid"/>
          </a:ln>
        </p:spPr>
      </p:sp>
      <p:sp>
        <p:nvSpPr>
          <p:cNvPr id="34" name="Text 32"/>
          <p:cNvSpPr/>
          <p:nvPr/>
        </p:nvSpPr>
        <p:spPr>
          <a:xfrm>
            <a:off x="4882896" y="3840480"/>
            <a:ext cx="1005840" cy="201168"/>
          </a:xfrm>
          <a:prstGeom prst="rect">
            <a:avLst/>
          </a:prstGeom>
          <a:noFill/>
          <a:ln/>
        </p:spPr>
        <p:txBody>
          <a:bodyPr wrap="square" lIns="0" tIns="0" rIns="0" bIns="0" rtlCol="0" anchor="ctr">
            <a:normAutofit/>
          </a:bodyPr>
          <a:lstStyle/>
          <a:p>
            <a:pPr algn="ctr" indent="0" marL="0">
              <a:buNone/>
            </a:pPr>
            <a:r>
              <a:rPr lang="en-US" sz="1220" b="1" dirty="0">
                <a:solidFill>
                  <a:srgbClr val="F5F7F8"/>
                </a:solidFill>
                <a:latin typeface="Aptos Display" pitchFamily="34" charset="0"/>
                <a:ea typeface="Aptos Display" pitchFamily="34" charset="-122"/>
                <a:cs typeface="Aptos Display" pitchFamily="34" charset="-120"/>
              </a:rPr>
              <a:t>19</a:t>
            </a:r>
            <a:endParaRPr lang="en-US" sz="1220" dirty="0"/>
          </a:p>
        </p:txBody>
      </p:sp>
      <p:sp>
        <p:nvSpPr>
          <p:cNvPr id="35" name="Text 33"/>
          <p:cNvSpPr/>
          <p:nvPr/>
        </p:nvSpPr>
        <p:spPr>
          <a:xfrm>
            <a:off x="4736592" y="4133088"/>
            <a:ext cx="1298448" cy="182880"/>
          </a:xfrm>
          <a:prstGeom prst="rect">
            <a:avLst/>
          </a:prstGeom>
          <a:noFill/>
          <a:ln/>
        </p:spPr>
        <p:txBody>
          <a:bodyPr wrap="square" lIns="0" tIns="0" rIns="0" bIns="0" rtlCol="0" anchor="t">
            <a:normAutofit/>
          </a:bodyPr>
          <a:lstStyle/>
          <a:p>
            <a:pPr algn="ctr" indent="0" marL="0">
              <a:buNone/>
            </a:pPr>
            <a:r>
              <a:rPr lang="en-US" sz="820" dirty="0">
                <a:solidFill>
                  <a:srgbClr val="41D3AE"/>
                </a:solidFill>
                <a:latin typeface="Aptos" pitchFamily="34" charset="0"/>
                <a:ea typeface="Aptos" pitchFamily="34" charset="-122"/>
                <a:cs typeface="Aptos" pitchFamily="34" charset="-120"/>
              </a:rPr>
              <a:t>scellée</a:t>
            </a:r>
            <a:endParaRPr lang="en-US" sz="820" dirty="0"/>
          </a:p>
        </p:txBody>
      </p:sp>
      <p:sp>
        <p:nvSpPr>
          <p:cNvPr id="36" name="Shape 34"/>
          <p:cNvSpPr/>
          <p:nvPr/>
        </p:nvSpPr>
        <p:spPr>
          <a:xfrm>
            <a:off x="7013448" y="3364992"/>
            <a:ext cx="329184" cy="329184"/>
          </a:xfrm>
          <a:prstGeom prst="ellipse">
            <a:avLst/>
          </a:prstGeom>
          <a:solidFill>
            <a:srgbClr val="0B1117"/>
          </a:solidFill>
          <a:ln w="19050">
            <a:solidFill>
              <a:srgbClr val="41D3AE"/>
            </a:solidFill>
            <a:prstDash val="solid"/>
          </a:ln>
        </p:spPr>
      </p:sp>
      <p:sp>
        <p:nvSpPr>
          <p:cNvPr id="37" name="Shape 35"/>
          <p:cNvSpPr/>
          <p:nvPr/>
        </p:nvSpPr>
        <p:spPr>
          <a:xfrm>
            <a:off x="7118604" y="3470148"/>
            <a:ext cx="118872" cy="118872"/>
          </a:xfrm>
          <a:prstGeom prst="ellipse">
            <a:avLst/>
          </a:prstGeom>
          <a:solidFill>
            <a:srgbClr val="41D3AE"/>
          </a:solidFill>
          <a:ln w="12700">
            <a:solidFill>
              <a:srgbClr val="41D3AE">
                <a:alpha val="0"/>
              </a:srgbClr>
            </a:solidFill>
            <a:prstDash val="solid"/>
          </a:ln>
        </p:spPr>
      </p:sp>
      <p:sp>
        <p:nvSpPr>
          <p:cNvPr id="38" name="Text 36"/>
          <p:cNvSpPr/>
          <p:nvPr/>
        </p:nvSpPr>
        <p:spPr>
          <a:xfrm>
            <a:off x="6675120" y="3840480"/>
            <a:ext cx="1005840" cy="201168"/>
          </a:xfrm>
          <a:prstGeom prst="rect">
            <a:avLst/>
          </a:prstGeom>
          <a:noFill/>
          <a:ln/>
        </p:spPr>
        <p:txBody>
          <a:bodyPr wrap="square" lIns="0" tIns="0" rIns="0" bIns="0" rtlCol="0" anchor="ctr">
            <a:normAutofit/>
          </a:bodyPr>
          <a:lstStyle/>
          <a:p>
            <a:pPr algn="ctr" indent="0" marL="0">
              <a:buNone/>
            </a:pPr>
            <a:r>
              <a:rPr lang="en-US" sz="1220" b="1" dirty="0">
                <a:solidFill>
                  <a:srgbClr val="F5F7F8"/>
                </a:solidFill>
                <a:latin typeface="Aptos Display" pitchFamily="34" charset="0"/>
                <a:ea typeface="Aptos Display" pitchFamily="34" charset="-122"/>
                <a:cs typeface="Aptos Display" pitchFamily="34" charset="-120"/>
              </a:rPr>
              <a:t>20</a:t>
            </a:r>
            <a:endParaRPr lang="en-US" sz="1220" dirty="0"/>
          </a:p>
        </p:txBody>
      </p:sp>
      <p:sp>
        <p:nvSpPr>
          <p:cNvPr id="39" name="Text 37"/>
          <p:cNvSpPr/>
          <p:nvPr/>
        </p:nvSpPr>
        <p:spPr>
          <a:xfrm>
            <a:off x="6528816" y="4133088"/>
            <a:ext cx="1298448" cy="182880"/>
          </a:xfrm>
          <a:prstGeom prst="rect">
            <a:avLst/>
          </a:prstGeom>
          <a:noFill/>
          <a:ln/>
        </p:spPr>
        <p:txBody>
          <a:bodyPr wrap="square" lIns="0" tIns="0" rIns="0" bIns="0" rtlCol="0" anchor="t">
            <a:normAutofit/>
          </a:bodyPr>
          <a:lstStyle/>
          <a:p>
            <a:pPr algn="ctr" indent="0" marL="0">
              <a:buNone/>
            </a:pPr>
            <a:r>
              <a:rPr lang="en-US" sz="820" dirty="0">
                <a:solidFill>
                  <a:srgbClr val="41D3AE"/>
                </a:solidFill>
                <a:latin typeface="Aptos" pitchFamily="34" charset="0"/>
                <a:ea typeface="Aptos" pitchFamily="34" charset="-122"/>
                <a:cs typeface="Aptos" pitchFamily="34" charset="-120"/>
              </a:rPr>
              <a:t>scellée</a:t>
            </a:r>
            <a:endParaRPr lang="en-US" sz="820" dirty="0"/>
          </a:p>
        </p:txBody>
      </p:sp>
      <p:sp>
        <p:nvSpPr>
          <p:cNvPr id="40" name="Shape 38"/>
          <p:cNvSpPr/>
          <p:nvPr/>
        </p:nvSpPr>
        <p:spPr>
          <a:xfrm>
            <a:off x="8805672" y="3364992"/>
            <a:ext cx="329184" cy="329184"/>
          </a:xfrm>
          <a:prstGeom prst="ellipse">
            <a:avLst/>
          </a:prstGeom>
          <a:solidFill>
            <a:srgbClr val="0B1117"/>
          </a:solidFill>
          <a:ln w="19050">
            <a:solidFill>
              <a:srgbClr val="F4B84A"/>
            </a:solidFill>
            <a:prstDash val="solid"/>
          </a:ln>
        </p:spPr>
      </p:sp>
      <p:sp>
        <p:nvSpPr>
          <p:cNvPr id="41" name="Shape 39"/>
          <p:cNvSpPr/>
          <p:nvPr/>
        </p:nvSpPr>
        <p:spPr>
          <a:xfrm>
            <a:off x="8910828" y="3470148"/>
            <a:ext cx="118872" cy="118872"/>
          </a:xfrm>
          <a:prstGeom prst="ellipse">
            <a:avLst/>
          </a:prstGeom>
          <a:solidFill>
            <a:srgbClr val="F4B84A"/>
          </a:solidFill>
          <a:ln w="12700">
            <a:solidFill>
              <a:srgbClr val="F4B84A">
                <a:alpha val="0"/>
              </a:srgbClr>
            </a:solidFill>
            <a:prstDash val="solid"/>
          </a:ln>
        </p:spPr>
      </p:sp>
      <p:sp>
        <p:nvSpPr>
          <p:cNvPr id="42" name="Text 40"/>
          <p:cNvSpPr/>
          <p:nvPr/>
        </p:nvSpPr>
        <p:spPr>
          <a:xfrm>
            <a:off x="8467344" y="3840480"/>
            <a:ext cx="1005840" cy="201168"/>
          </a:xfrm>
          <a:prstGeom prst="rect">
            <a:avLst/>
          </a:prstGeom>
          <a:noFill/>
          <a:ln/>
        </p:spPr>
        <p:txBody>
          <a:bodyPr wrap="square" lIns="0" tIns="0" rIns="0" bIns="0" rtlCol="0" anchor="ctr">
            <a:normAutofit/>
          </a:bodyPr>
          <a:lstStyle/>
          <a:p>
            <a:pPr algn="ctr" indent="0" marL="0">
              <a:buNone/>
            </a:pPr>
            <a:r>
              <a:rPr lang="en-US" sz="1220" b="1" dirty="0">
                <a:solidFill>
                  <a:srgbClr val="F5F7F8"/>
                </a:solidFill>
                <a:latin typeface="Aptos Display" pitchFamily="34" charset="0"/>
                <a:ea typeface="Aptos Display" pitchFamily="34" charset="-122"/>
                <a:cs typeface="Aptos Display" pitchFamily="34" charset="-120"/>
              </a:rPr>
              <a:t>21</a:t>
            </a:r>
            <a:endParaRPr lang="en-US" sz="1220" dirty="0"/>
          </a:p>
        </p:txBody>
      </p:sp>
      <p:sp>
        <p:nvSpPr>
          <p:cNvPr id="43" name="Text 41"/>
          <p:cNvSpPr/>
          <p:nvPr/>
        </p:nvSpPr>
        <p:spPr>
          <a:xfrm>
            <a:off x="8321040" y="4133088"/>
            <a:ext cx="1298448" cy="182880"/>
          </a:xfrm>
          <a:prstGeom prst="rect">
            <a:avLst/>
          </a:prstGeom>
          <a:noFill/>
          <a:ln/>
        </p:spPr>
        <p:txBody>
          <a:bodyPr wrap="square" lIns="0" tIns="0" rIns="0" bIns="0" rtlCol="0" anchor="t">
            <a:normAutofit/>
          </a:bodyPr>
          <a:lstStyle/>
          <a:p>
            <a:pPr algn="ctr" indent="0" marL="0">
              <a:buNone/>
            </a:pPr>
            <a:r>
              <a:rPr lang="en-US" sz="820" dirty="0">
                <a:solidFill>
                  <a:srgbClr val="F4B84A"/>
                </a:solidFill>
                <a:latin typeface="Aptos" pitchFamily="34" charset="0"/>
                <a:ea typeface="Aptos" pitchFamily="34" charset="-122"/>
                <a:cs typeface="Aptos" pitchFamily="34" charset="-120"/>
              </a:rPr>
              <a:t>préparée</a:t>
            </a:r>
            <a:endParaRPr lang="en-US" sz="820" dirty="0"/>
          </a:p>
        </p:txBody>
      </p:sp>
      <p:sp>
        <p:nvSpPr>
          <p:cNvPr id="44" name="Shape 42"/>
          <p:cNvSpPr/>
          <p:nvPr/>
        </p:nvSpPr>
        <p:spPr>
          <a:xfrm>
            <a:off x="4242816" y="3547872"/>
            <a:ext cx="530352" cy="0"/>
          </a:xfrm>
          <a:prstGeom prst="line">
            <a:avLst/>
          </a:prstGeom>
          <a:noFill/>
          <a:ln w="22860">
            <a:solidFill>
              <a:srgbClr val="41D3AE"/>
            </a:solidFill>
            <a:prstDash val="solid"/>
            <a:tailEnd type="triangle"/>
          </a:ln>
        </p:spPr>
      </p:sp>
      <p:sp>
        <p:nvSpPr>
          <p:cNvPr id="45" name="Shape 43"/>
          <p:cNvSpPr/>
          <p:nvPr/>
        </p:nvSpPr>
        <p:spPr>
          <a:xfrm>
            <a:off x="6035040" y="3547872"/>
            <a:ext cx="530352" cy="0"/>
          </a:xfrm>
          <a:prstGeom prst="line">
            <a:avLst/>
          </a:prstGeom>
          <a:noFill/>
          <a:ln w="22860">
            <a:solidFill>
              <a:srgbClr val="41D3AE"/>
            </a:solidFill>
            <a:prstDash val="solid"/>
            <a:tailEnd type="triangle"/>
          </a:ln>
        </p:spPr>
      </p:sp>
      <p:sp>
        <p:nvSpPr>
          <p:cNvPr id="46" name="Shape 44"/>
          <p:cNvSpPr/>
          <p:nvPr/>
        </p:nvSpPr>
        <p:spPr>
          <a:xfrm>
            <a:off x="7827264" y="3547872"/>
            <a:ext cx="530352" cy="0"/>
          </a:xfrm>
          <a:prstGeom prst="line">
            <a:avLst/>
          </a:prstGeom>
          <a:noFill/>
          <a:ln w="17780">
            <a:solidFill>
              <a:srgbClr val="F4B84A"/>
            </a:solidFill>
            <a:prstDash val="solid"/>
            <a:tailEnd type="triangle"/>
          </a:ln>
        </p:spPr>
      </p:sp>
      <p:sp>
        <p:nvSpPr>
          <p:cNvPr id="47" name="Text 45"/>
          <p:cNvSpPr/>
          <p:nvPr/>
        </p:nvSpPr>
        <p:spPr>
          <a:xfrm>
            <a:off x="3328416" y="4736592"/>
            <a:ext cx="1572768" cy="164592"/>
          </a:xfrm>
          <a:prstGeom prst="rect">
            <a:avLst/>
          </a:prstGeom>
          <a:noFill/>
          <a:ln/>
        </p:spPr>
        <p:txBody>
          <a:bodyPr wrap="square" lIns="0" tIns="0" rIns="0" bIns="0" rtlCol="0" anchor="ctr">
            <a:normAutofit/>
          </a:bodyPr>
          <a:lstStyle/>
          <a:p>
            <a:pPr algn="ctr" indent="0" marL="0">
              <a:buNone/>
            </a:pPr>
            <a:r>
              <a:rPr lang="en-US" sz="740" b="1" spc="55" kern="0" dirty="0">
                <a:solidFill>
                  <a:srgbClr val="41D3AE"/>
                </a:solidFill>
                <a:latin typeface="Aptos Mono" pitchFamily="34" charset="0"/>
                <a:ea typeface="Aptos Mono" pitchFamily="34" charset="-122"/>
                <a:cs typeface="Aptos Mono" pitchFamily="34" charset="-120"/>
              </a:rPr>
              <a:t>18 → 19  SCELLÉE</a:t>
            </a:r>
            <a:endParaRPr lang="en-US" sz="740" dirty="0"/>
          </a:p>
        </p:txBody>
      </p:sp>
      <p:sp>
        <p:nvSpPr>
          <p:cNvPr id="48" name="Text 46"/>
          <p:cNvSpPr/>
          <p:nvPr/>
        </p:nvSpPr>
        <p:spPr>
          <a:xfrm>
            <a:off x="5120640" y="4736592"/>
            <a:ext cx="1572768" cy="164592"/>
          </a:xfrm>
          <a:prstGeom prst="rect">
            <a:avLst/>
          </a:prstGeom>
          <a:noFill/>
          <a:ln/>
        </p:spPr>
        <p:txBody>
          <a:bodyPr wrap="square" lIns="0" tIns="0" rIns="0" bIns="0" rtlCol="0" anchor="ctr">
            <a:normAutofit/>
          </a:bodyPr>
          <a:lstStyle/>
          <a:p>
            <a:pPr algn="ctr" indent="0" marL="0">
              <a:buNone/>
            </a:pPr>
            <a:r>
              <a:rPr lang="en-US" sz="740" b="1" spc="55" kern="0" dirty="0">
                <a:solidFill>
                  <a:srgbClr val="41D3AE"/>
                </a:solidFill>
                <a:latin typeface="Aptos Mono" pitchFamily="34" charset="0"/>
                <a:ea typeface="Aptos Mono" pitchFamily="34" charset="-122"/>
                <a:cs typeface="Aptos Mono" pitchFamily="34" charset="-120"/>
              </a:rPr>
              <a:t>19 → 20  SCELLÉE</a:t>
            </a:r>
            <a:endParaRPr lang="en-US" sz="740" dirty="0"/>
          </a:p>
        </p:txBody>
      </p:sp>
      <p:sp>
        <p:nvSpPr>
          <p:cNvPr id="49" name="Text 47"/>
          <p:cNvSpPr/>
          <p:nvPr/>
        </p:nvSpPr>
        <p:spPr>
          <a:xfrm>
            <a:off x="7187184" y="4736592"/>
            <a:ext cx="2011680" cy="164592"/>
          </a:xfrm>
          <a:prstGeom prst="rect">
            <a:avLst/>
          </a:prstGeom>
          <a:noFill/>
          <a:ln/>
        </p:spPr>
        <p:txBody>
          <a:bodyPr wrap="square" lIns="0" tIns="0" rIns="0" bIns="0" rtlCol="0" anchor="ctr">
            <a:normAutofit/>
          </a:bodyPr>
          <a:lstStyle/>
          <a:p>
            <a:pPr algn="ctr" indent="0" marL="0">
              <a:buNone/>
            </a:pPr>
            <a:r>
              <a:rPr lang="en-US" sz="740" b="1" spc="45" kern="0" dirty="0">
                <a:solidFill>
                  <a:srgbClr val="F4B84A"/>
                </a:solidFill>
                <a:latin typeface="Aptos Mono" pitchFamily="34" charset="0"/>
                <a:ea typeface="Aptos Mono" pitchFamily="34" charset="-122"/>
                <a:cs typeface="Aptos Mono" pitchFamily="34" charset="-120"/>
              </a:rPr>
              <a:t>20 → 21  NON DÉMARRÉE</a:t>
            </a:r>
            <a:endParaRPr lang="en-US" sz="740" dirty="0"/>
          </a:p>
        </p:txBody>
      </p:sp>
      <p:sp>
        <p:nvSpPr>
          <p:cNvPr id="50" name="Shape 48"/>
          <p:cNvSpPr/>
          <p:nvPr/>
        </p:nvSpPr>
        <p:spPr>
          <a:xfrm>
            <a:off x="768096" y="5504688"/>
            <a:ext cx="10460736" cy="0"/>
          </a:xfrm>
          <a:prstGeom prst="line">
            <a:avLst/>
          </a:prstGeom>
          <a:noFill/>
          <a:ln w="10160">
            <a:solidFill>
              <a:srgbClr val="344653"/>
            </a:solidFill>
            <a:prstDash val="solid"/>
          </a:ln>
        </p:spPr>
      </p:sp>
      <p:sp>
        <p:nvSpPr>
          <p:cNvPr id="51" name="Text 49"/>
          <p:cNvSpPr/>
          <p:nvPr/>
        </p:nvSpPr>
        <p:spPr>
          <a:xfrm>
            <a:off x="768096" y="5742432"/>
            <a:ext cx="1024128" cy="164592"/>
          </a:xfrm>
          <a:prstGeom prst="rect">
            <a:avLst/>
          </a:prstGeom>
          <a:noFill/>
          <a:ln/>
        </p:spPr>
        <p:txBody>
          <a:bodyPr wrap="square" lIns="0" tIns="0" rIns="0" bIns="0" rtlCol="0" anchor="ctr">
            <a:normAutofit/>
          </a:bodyPr>
          <a:lstStyle/>
          <a:p>
            <a:pPr algn="l" indent="0" marL="0">
              <a:buNone/>
            </a:pPr>
            <a:r>
              <a:rPr lang="en-US" sz="780" b="1" spc="75" kern="0" dirty="0">
                <a:solidFill>
                  <a:srgbClr val="FF6F72"/>
                </a:solidFill>
                <a:latin typeface="Aptos Mono" pitchFamily="34" charset="0"/>
                <a:ea typeface="Aptos Mono" pitchFamily="34" charset="-122"/>
                <a:cs typeface="Aptos Mono" pitchFamily="34" charset="-120"/>
              </a:rPr>
              <a:t>GARDE-FOU</a:t>
            </a:r>
            <a:endParaRPr lang="en-US" sz="780" dirty="0"/>
          </a:p>
        </p:txBody>
      </p:sp>
      <p:sp>
        <p:nvSpPr>
          <p:cNvPr id="52" name="Text 50"/>
          <p:cNvSpPr/>
          <p:nvPr/>
        </p:nvSpPr>
        <p:spPr>
          <a:xfrm>
            <a:off x="2029968" y="5705856"/>
            <a:ext cx="3401568" cy="201168"/>
          </a:xfrm>
          <a:prstGeom prst="rect">
            <a:avLst/>
          </a:prstGeom>
          <a:noFill/>
          <a:ln/>
        </p:spPr>
        <p:txBody>
          <a:bodyPr wrap="square" lIns="0" tIns="0" rIns="0" bIns="0" rtlCol="0" anchor="ctr">
            <a:normAutofit/>
          </a:bodyPr>
          <a:lstStyle/>
          <a:p>
            <a:pPr algn="l" indent="0" marL="0">
              <a:buNone/>
            </a:pPr>
            <a:r>
              <a:rPr lang="en-US" sz="1100" b="1" dirty="0">
                <a:solidFill>
                  <a:srgbClr val="F5F7F8"/>
                </a:solidFill>
                <a:latin typeface="Aptos Display" pitchFamily="34" charset="0"/>
                <a:ea typeface="Aptos Display" pitchFamily="34" charset="-122"/>
                <a:cs typeface="Aptos Display" pitchFamily="34" charset="-120"/>
              </a:rPr>
              <a:t>11 → 21 : migration non démontrée</a:t>
            </a:r>
            <a:endParaRPr lang="en-US" sz="1100" dirty="0"/>
          </a:p>
        </p:txBody>
      </p:sp>
      <p:sp>
        <p:nvSpPr>
          <p:cNvPr id="53" name="Text 51"/>
          <p:cNvSpPr/>
          <p:nvPr/>
        </p:nvSpPr>
        <p:spPr>
          <a:xfrm>
            <a:off x="6583680" y="5724144"/>
            <a:ext cx="3840480" cy="182880"/>
          </a:xfrm>
          <a:prstGeom prst="rect">
            <a:avLst/>
          </a:prstGeom>
          <a:noFill/>
          <a:ln/>
        </p:spPr>
        <p:txBody>
          <a:bodyPr wrap="square" lIns="0" tIns="0" rIns="0" bIns="0" rtlCol="0" anchor="ctr">
            <a:normAutofit/>
          </a:bodyPr>
          <a:lstStyle/>
          <a:p>
            <a:pPr algn="r" indent="0" marL="0">
              <a:buNone/>
            </a:pPr>
            <a:r>
              <a:rPr lang="en-US" sz="960" i="1" dirty="0">
                <a:solidFill>
                  <a:srgbClr val="9EADB8"/>
                </a:solidFill>
                <a:latin typeface="Aptos" pitchFamily="34" charset="0"/>
                <a:ea typeface="Aptos" pitchFamily="34" charset="-122"/>
                <a:cs typeface="Aptos" pitchFamily="34" charset="-120"/>
              </a:rPr>
              <a:t>Une extension visée, pas une preuve obtenue.</a:t>
            </a:r>
            <a:endParaRPr lang="en-US" sz="96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117"/>
        </a:solidFill>
      </p:bgPr>
    </p:bg>
    <p:spTree>
      <p:nvGrpSpPr>
        <p:cNvPr id="1" name=""/>
        <p:cNvGrpSpPr/>
        <p:nvPr/>
      </p:nvGrpSpPr>
      <p:grpSpPr>
        <a:xfrm>
          <a:off x="0" y="0"/>
          <a:ext cx="0" cy="0"/>
          <a:chOff x="0" y="0"/>
          <a:chExt cx="0" cy="0"/>
        </a:xfrm>
      </p:grpSpPr>
      <p:sp>
        <p:nvSpPr>
          <p:cNvPr id="2" name="Shape 0"/>
          <p:cNvSpPr/>
          <p:nvPr/>
        </p:nvSpPr>
        <p:spPr>
          <a:xfrm>
            <a:off x="676656" y="411480"/>
            <a:ext cx="10735056" cy="0"/>
          </a:xfrm>
          <a:prstGeom prst="line">
            <a:avLst/>
          </a:prstGeom>
          <a:noFill/>
          <a:ln w="10160">
            <a:solidFill>
              <a:srgbClr val="344653">
                <a:alpha val="85000"/>
              </a:srgbClr>
            </a:solidFill>
            <a:prstDash val="solid"/>
          </a:ln>
        </p:spPr>
      </p:sp>
      <p:sp>
        <p:nvSpPr>
          <p:cNvPr id="3" name="Shape 1"/>
          <p:cNvSpPr/>
          <p:nvPr/>
        </p:nvSpPr>
        <p:spPr>
          <a:xfrm>
            <a:off x="658368" y="356616"/>
            <a:ext cx="73152" cy="73152"/>
          </a:xfrm>
          <a:prstGeom prst="ellipse">
            <a:avLst/>
          </a:prstGeom>
          <a:solidFill>
            <a:srgbClr val="41D3AE"/>
          </a:solidFill>
          <a:ln w="12700">
            <a:solidFill>
              <a:srgbClr val="41D3AE">
                <a:alpha val="0"/>
              </a:srgbClr>
            </a:solidFill>
            <a:prstDash val="solid"/>
          </a:ln>
        </p:spPr>
      </p:sp>
      <p:sp>
        <p:nvSpPr>
          <p:cNvPr id="4" name="Text 2"/>
          <p:cNvSpPr/>
          <p:nvPr/>
        </p:nvSpPr>
        <p:spPr>
          <a:xfrm>
            <a:off x="822960" y="201168"/>
            <a:ext cx="1207008" cy="164592"/>
          </a:xfrm>
          <a:prstGeom prst="rect">
            <a:avLst/>
          </a:prstGeom>
          <a:noFill/>
          <a:ln/>
        </p:spPr>
        <p:txBody>
          <a:bodyPr wrap="square" lIns="0" tIns="0" rIns="0" bIns="0" rtlCol="0" anchor="ctr">
            <a:normAutofit/>
          </a:bodyPr>
          <a:lstStyle/>
          <a:p>
            <a:pPr algn="l" indent="0" marL="0">
              <a:buNone/>
            </a:pPr>
            <a:r>
              <a:rPr lang="en-US" sz="760" b="1" dirty="0">
                <a:solidFill>
                  <a:srgbClr val="9EADB8"/>
                </a:solidFill>
                <a:latin typeface="Aptos" pitchFamily="34" charset="0"/>
                <a:ea typeface="Aptos" pitchFamily="34" charset="-122"/>
                <a:cs typeface="Aptos" pitchFamily="34" charset="-120"/>
              </a:rPr>
              <a:t>Contexte</a:t>
            </a:r>
            <a:endParaRPr lang="en-US" sz="760" dirty="0"/>
          </a:p>
        </p:txBody>
      </p:sp>
      <p:sp>
        <p:nvSpPr>
          <p:cNvPr id="5" name="Shape 3"/>
          <p:cNvSpPr/>
          <p:nvPr/>
        </p:nvSpPr>
        <p:spPr>
          <a:xfrm>
            <a:off x="2130552" y="356616"/>
            <a:ext cx="73152" cy="73152"/>
          </a:xfrm>
          <a:prstGeom prst="ellipse">
            <a:avLst/>
          </a:prstGeom>
          <a:solidFill>
            <a:srgbClr val="41D3AE"/>
          </a:solidFill>
          <a:ln w="12700">
            <a:solidFill>
              <a:srgbClr val="41D3AE">
                <a:alpha val="0"/>
              </a:srgbClr>
            </a:solidFill>
            <a:prstDash val="solid"/>
          </a:ln>
        </p:spPr>
      </p:sp>
      <p:sp>
        <p:nvSpPr>
          <p:cNvPr id="6" name="Text 4"/>
          <p:cNvSpPr/>
          <p:nvPr/>
        </p:nvSpPr>
        <p:spPr>
          <a:xfrm>
            <a:off x="2295144" y="201168"/>
            <a:ext cx="1207008" cy="164592"/>
          </a:xfrm>
          <a:prstGeom prst="rect">
            <a:avLst/>
          </a:prstGeom>
          <a:noFill/>
          <a:ln/>
        </p:spPr>
        <p:txBody>
          <a:bodyPr wrap="square" lIns="0" tIns="0" rIns="0" bIns="0" rtlCol="0" anchor="ctr">
            <a:normAutofit/>
          </a:bodyPr>
          <a:lstStyle/>
          <a:p>
            <a:pPr algn="l" indent="0" marL="0">
              <a:buNone/>
            </a:pPr>
            <a:r>
              <a:rPr lang="en-US" sz="760" b="1" dirty="0">
                <a:solidFill>
                  <a:srgbClr val="9EADB8"/>
                </a:solidFill>
                <a:latin typeface="Aptos" pitchFamily="34" charset="0"/>
                <a:ea typeface="Aptos" pitchFamily="34" charset="-122"/>
                <a:cs typeface="Aptos" pitchFamily="34" charset="-120"/>
              </a:rPr>
              <a:t>Solution</a:t>
            </a:r>
            <a:endParaRPr lang="en-US" sz="760" dirty="0"/>
          </a:p>
        </p:txBody>
      </p:sp>
      <p:sp>
        <p:nvSpPr>
          <p:cNvPr id="7" name="Shape 5"/>
          <p:cNvSpPr/>
          <p:nvPr/>
        </p:nvSpPr>
        <p:spPr>
          <a:xfrm>
            <a:off x="3493008" y="356616"/>
            <a:ext cx="73152" cy="73152"/>
          </a:xfrm>
          <a:prstGeom prst="ellipse">
            <a:avLst/>
          </a:prstGeom>
          <a:solidFill>
            <a:srgbClr val="41D3AE"/>
          </a:solidFill>
          <a:ln w="12700">
            <a:solidFill>
              <a:srgbClr val="41D3AE">
                <a:alpha val="0"/>
              </a:srgbClr>
            </a:solidFill>
            <a:prstDash val="solid"/>
          </a:ln>
        </p:spPr>
      </p:sp>
      <p:sp>
        <p:nvSpPr>
          <p:cNvPr id="8" name="Text 6"/>
          <p:cNvSpPr/>
          <p:nvPr/>
        </p:nvSpPr>
        <p:spPr>
          <a:xfrm>
            <a:off x="3657600" y="201168"/>
            <a:ext cx="1207008" cy="164592"/>
          </a:xfrm>
          <a:prstGeom prst="rect">
            <a:avLst/>
          </a:prstGeom>
          <a:noFill/>
          <a:ln/>
        </p:spPr>
        <p:txBody>
          <a:bodyPr wrap="square" lIns="0" tIns="0" rIns="0" bIns="0" rtlCol="0" anchor="ctr">
            <a:normAutofit/>
          </a:bodyPr>
          <a:lstStyle/>
          <a:p>
            <a:pPr algn="l" indent="0" marL="0">
              <a:buNone/>
            </a:pPr>
            <a:r>
              <a:rPr lang="en-US" sz="760" b="1" dirty="0">
                <a:solidFill>
                  <a:srgbClr val="9EADB8"/>
                </a:solidFill>
                <a:latin typeface="Aptos" pitchFamily="34" charset="0"/>
                <a:ea typeface="Aptos" pitchFamily="34" charset="-122"/>
                <a:cs typeface="Aptos" pitchFamily="34" charset="-120"/>
              </a:rPr>
              <a:t>Architecture</a:t>
            </a:r>
            <a:endParaRPr lang="en-US" sz="760" dirty="0"/>
          </a:p>
        </p:txBody>
      </p:sp>
      <p:sp>
        <p:nvSpPr>
          <p:cNvPr id="9" name="Shape 7"/>
          <p:cNvSpPr/>
          <p:nvPr/>
        </p:nvSpPr>
        <p:spPr>
          <a:xfrm>
            <a:off x="5001768" y="356616"/>
            <a:ext cx="109728" cy="109728"/>
          </a:xfrm>
          <a:prstGeom prst="ellipse">
            <a:avLst/>
          </a:prstGeom>
          <a:solidFill>
            <a:srgbClr val="68D6E8"/>
          </a:solidFill>
          <a:ln w="12700">
            <a:solidFill>
              <a:srgbClr val="68D6E8">
                <a:alpha val="0"/>
              </a:srgbClr>
            </a:solidFill>
            <a:prstDash val="solid"/>
          </a:ln>
        </p:spPr>
      </p:sp>
      <p:sp>
        <p:nvSpPr>
          <p:cNvPr id="10" name="Text 8"/>
          <p:cNvSpPr/>
          <p:nvPr/>
        </p:nvSpPr>
        <p:spPr>
          <a:xfrm>
            <a:off x="5166360" y="201168"/>
            <a:ext cx="1097280" cy="164592"/>
          </a:xfrm>
          <a:prstGeom prst="rect">
            <a:avLst/>
          </a:prstGeom>
          <a:noFill/>
          <a:ln/>
        </p:spPr>
        <p:txBody>
          <a:bodyPr wrap="square" lIns="0" tIns="0" rIns="0" bIns="0" rtlCol="0" anchor="ctr">
            <a:normAutofit/>
          </a:bodyPr>
          <a:lstStyle/>
          <a:p>
            <a:pPr algn="l" indent="0" marL="0">
              <a:buNone/>
            </a:pPr>
            <a:r>
              <a:rPr lang="en-US" sz="810" b="1" dirty="0">
                <a:solidFill>
                  <a:srgbClr val="68D6E8"/>
                </a:solidFill>
                <a:latin typeface="Aptos" pitchFamily="34" charset="0"/>
                <a:ea typeface="Aptos" pitchFamily="34" charset="-122"/>
                <a:cs typeface="Aptos" pitchFamily="34" charset="-120"/>
              </a:rPr>
              <a:t>Réalisation</a:t>
            </a:r>
            <a:endParaRPr lang="en-US" sz="810" dirty="0"/>
          </a:p>
        </p:txBody>
      </p:sp>
      <p:sp>
        <p:nvSpPr>
          <p:cNvPr id="11" name="Shape 9"/>
          <p:cNvSpPr/>
          <p:nvPr/>
        </p:nvSpPr>
        <p:spPr>
          <a:xfrm>
            <a:off x="5148072" y="521208"/>
            <a:ext cx="896112" cy="0"/>
          </a:xfrm>
          <a:prstGeom prst="line">
            <a:avLst/>
          </a:prstGeom>
          <a:noFill/>
          <a:ln w="22860">
            <a:solidFill>
              <a:srgbClr val="68D6E8"/>
            </a:solidFill>
            <a:prstDash val="solid"/>
          </a:ln>
        </p:spPr>
      </p:sp>
      <p:sp>
        <p:nvSpPr>
          <p:cNvPr id="12" name="Shape 10"/>
          <p:cNvSpPr/>
          <p:nvPr/>
        </p:nvSpPr>
        <p:spPr>
          <a:xfrm>
            <a:off x="6583680" y="356616"/>
            <a:ext cx="73152" cy="73152"/>
          </a:xfrm>
          <a:prstGeom prst="ellipse">
            <a:avLst/>
          </a:prstGeom>
          <a:solidFill>
            <a:srgbClr val="344653">
              <a:alpha val="80000"/>
            </a:srgbClr>
          </a:solidFill>
          <a:ln w="12700">
            <a:solidFill>
              <a:srgbClr val="344653">
                <a:alpha val="0"/>
              </a:srgbClr>
            </a:solidFill>
            <a:prstDash val="solid"/>
          </a:ln>
        </p:spPr>
      </p:sp>
      <p:sp>
        <p:nvSpPr>
          <p:cNvPr id="13" name="Text 11"/>
          <p:cNvSpPr/>
          <p:nvPr/>
        </p:nvSpPr>
        <p:spPr>
          <a:xfrm>
            <a:off x="6748272" y="201168"/>
            <a:ext cx="1207008" cy="164592"/>
          </a:xfrm>
          <a:prstGeom prst="rect">
            <a:avLst/>
          </a:prstGeom>
          <a:noFill/>
          <a:ln/>
        </p:spPr>
        <p:txBody>
          <a:bodyPr wrap="square" lIns="0" tIns="0" rIns="0" bIns="0" rtlCol="0" anchor="ctr">
            <a:normAutofit/>
          </a:bodyPr>
          <a:lstStyle/>
          <a:p>
            <a:pPr algn="l" indent="0" marL="0">
              <a:buNone/>
            </a:pPr>
            <a:r>
              <a:rPr lang="en-US" sz="760" dirty="0">
                <a:solidFill>
                  <a:srgbClr val="9EADB8"/>
                </a:solidFill>
                <a:latin typeface="Aptos" pitchFamily="34" charset="0"/>
                <a:ea typeface="Aptos" pitchFamily="34" charset="-122"/>
                <a:cs typeface="Aptos" pitchFamily="34" charset="-120"/>
              </a:rPr>
              <a:t>Démo</a:t>
            </a:r>
            <a:endParaRPr lang="en-US" sz="760" dirty="0"/>
          </a:p>
        </p:txBody>
      </p:sp>
      <p:sp>
        <p:nvSpPr>
          <p:cNvPr id="14" name="Shape 12"/>
          <p:cNvSpPr/>
          <p:nvPr/>
        </p:nvSpPr>
        <p:spPr>
          <a:xfrm>
            <a:off x="8229600" y="356616"/>
            <a:ext cx="73152" cy="73152"/>
          </a:xfrm>
          <a:prstGeom prst="ellipse">
            <a:avLst/>
          </a:prstGeom>
          <a:solidFill>
            <a:srgbClr val="344653">
              <a:alpha val="80000"/>
            </a:srgbClr>
          </a:solidFill>
          <a:ln w="12700">
            <a:solidFill>
              <a:srgbClr val="344653">
                <a:alpha val="0"/>
              </a:srgbClr>
            </a:solidFill>
            <a:prstDash val="solid"/>
          </a:ln>
        </p:spPr>
      </p:sp>
      <p:sp>
        <p:nvSpPr>
          <p:cNvPr id="15" name="Text 13"/>
          <p:cNvSpPr/>
          <p:nvPr/>
        </p:nvSpPr>
        <p:spPr>
          <a:xfrm>
            <a:off x="8394192" y="201168"/>
            <a:ext cx="1207008" cy="164592"/>
          </a:xfrm>
          <a:prstGeom prst="rect">
            <a:avLst/>
          </a:prstGeom>
          <a:noFill/>
          <a:ln/>
        </p:spPr>
        <p:txBody>
          <a:bodyPr wrap="square" lIns="0" tIns="0" rIns="0" bIns="0" rtlCol="0" anchor="ctr">
            <a:normAutofit/>
          </a:bodyPr>
          <a:lstStyle/>
          <a:p>
            <a:pPr algn="l" indent="0" marL="0">
              <a:buNone/>
            </a:pPr>
            <a:r>
              <a:rPr lang="en-US" sz="760" dirty="0">
                <a:solidFill>
                  <a:srgbClr val="9EADB8"/>
                </a:solidFill>
                <a:latin typeface="Aptos" pitchFamily="34" charset="0"/>
                <a:ea typeface="Aptos" pitchFamily="34" charset="-122"/>
                <a:cs typeface="Aptos" pitchFamily="34" charset="-120"/>
              </a:rPr>
              <a:t>Résultats</a:t>
            </a:r>
            <a:endParaRPr lang="en-US" sz="760" dirty="0"/>
          </a:p>
        </p:txBody>
      </p:sp>
      <p:sp>
        <p:nvSpPr>
          <p:cNvPr id="16" name="Shape 14"/>
          <p:cNvSpPr/>
          <p:nvPr/>
        </p:nvSpPr>
        <p:spPr>
          <a:xfrm>
            <a:off x="9784080" y="356616"/>
            <a:ext cx="73152" cy="73152"/>
          </a:xfrm>
          <a:prstGeom prst="ellipse">
            <a:avLst/>
          </a:prstGeom>
          <a:solidFill>
            <a:srgbClr val="344653">
              <a:alpha val="80000"/>
            </a:srgbClr>
          </a:solidFill>
          <a:ln w="12700">
            <a:solidFill>
              <a:srgbClr val="344653">
                <a:alpha val="0"/>
              </a:srgbClr>
            </a:solidFill>
            <a:prstDash val="solid"/>
          </a:ln>
        </p:spPr>
      </p:sp>
      <p:sp>
        <p:nvSpPr>
          <p:cNvPr id="17" name="Text 15"/>
          <p:cNvSpPr/>
          <p:nvPr/>
        </p:nvSpPr>
        <p:spPr>
          <a:xfrm>
            <a:off x="9948672" y="201168"/>
            <a:ext cx="1207008" cy="164592"/>
          </a:xfrm>
          <a:prstGeom prst="rect">
            <a:avLst/>
          </a:prstGeom>
          <a:noFill/>
          <a:ln/>
        </p:spPr>
        <p:txBody>
          <a:bodyPr wrap="square" lIns="0" tIns="0" rIns="0" bIns="0" rtlCol="0" anchor="ctr">
            <a:normAutofit/>
          </a:bodyPr>
          <a:lstStyle/>
          <a:p>
            <a:pPr algn="l" indent="0" marL="0">
              <a:buNone/>
            </a:pPr>
            <a:r>
              <a:rPr lang="en-US" sz="760" dirty="0">
                <a:solidFill>
                  <a:srgbClr val="9EADB8"/>
                </a:solidFill>
                <a:latin typeface="Aptos" pitchFamily="34" charset="0"/>
                <a:ea typeface="Aptos" pitchFamily="34" charset="-122"/>
                <a:cs typeface="Aptos" pitchFamily="34" charset="-120"/>
              </a:rPr>
              <a:t>Conclusion</a:t>
            </a:r>
            <a:endParaRPr lang="en-US" sz="760" dirty="0"/>
          </a:p>
        </p:txBody>
      </p:sp>
      <p:sp>
        <p:nvSpPr>
          <p:cNvPr id="18" name="Shape 16"/>
          <p:cNvSpPr/>
          <p:nvPr/>
        </p:nvSpPr>
        <p:spPr>
          <a:xfrm>
            <a:off x="658368" y="6428232"/>
            <a:ext cx="10863072" cy="0"/>
          </a:xfrm>
          <a:prstGeom prst="line">
            <a:avLst/>
          </a:prstGeom>
          <a:noFill/>
          <a:ln w="8890">
            <a:solidFill>
              <a:srgbClr val="344653">
                <a:alpha val="80000"/>
              </a:srgbClr>
            </a:solidFill>
            <a:prstDash val="solid"/>
          </a:ln>
        </p:spPr>
      </p:sp>
      <p:sp>
        <p:nvSpPr>
          <p:cNvPr id="19" name="Text 17"/>
          <p:cNvSpPr/>
          <p:nvPr/>
        </p:nvSpPr>
        <p:spPr>
          <a:xfrm>
            <a:off x="658368" y="6510528"/>
            <a:ext cx="2926080" cy="146304"/>
          </a:xfrm>
          <a:prstGeom prst="rect">
            <a:avLst/>
          </a:prstGeom>
          <a:noFill/>
          <a:ln/>
        </p:spPr>
        <p:txBody>
          <a:bodyPr wrap="square" lIns="0" tIns="0" rIns="0" bIns="0" rtlCol="0" anchor="ctr">
            <a:normAutofit/>
          </a:bodyPr>
          <a:lstStyle/>
          <a:p>
            <a:pPr algn="l" indent="0" marL="0">
              <a:buNone/>
            </a:pPr>
            <a:r>
              <a:rPr lang="en-US" sz="720" b="1" spc="120" kern="0" dirty="0">
                <a:solidFill>
                  <a:srgbClr val="6C7F89"/>
                </a:solidFill>
                <a:latin typeface="Aptos Mono" pitchFamily="34" charset="0"/>
                <a:ea typeface="Aptos Mono" pitchFamily="34" charset="-122"/>
                <a:cs typeface="Aptos Mono" pitchFamily="34" charset="-120"/>
              </a:rPr>
              <a:t>AGENTIC MIGRATION PLATFORM</a:t>
            </a:r>
            <a:endParaRPr lang="en-US" sz="720" dirty="0"/>
          </a:p>
        </p:txBody>
      </p:sp>
      <p:sp>
        <p:nvSpPr>
          <p:cNvPr id="20" name="Text 18"/>
          <p:cNvSpPr/>
          <p:nvPr/>
        </p:nvSpPr>
        <p:spPr>
          <a:xfrm>
            <a:off x="10561320" y="6501384"/>
            <a:ext cx="950976" cy="155448"/>
          </a:xfrm>
          <a:prstGeom prst="rect">
            <a:avLst/>
          </a:prstGeom>
          <a:noFill/>
          <a:ln/>
        </p:spPr>
        <p:txBody>
          <a:bodyPr wrap="square" lIns="0" tIns="0" rIns="0" bIns="0" rtlCol="0" anchor="ctr">
            <a:normAutofit/>
          </a:bodyPr>
          <a:lstStyle/>
          <a:p>
            <a:pPr algn="r" indent="0" marL="0">
              <a:buNone/>
            </a:pPr>
            <a:r>
              <a:rPr lang="en-US" sz="770" b="1" spc="80" kern="0" dirty="0">
                <a:solidFill>
                  <a:srgbClr val="6C7F89"/>
                </a:solidFill>
                <a:latin typeface="Aptos Mono" pitchFamily="34" charset="0"/>
                <a:ea typeface="Aptos Mono" pitchFamily="34" charset="-122"/>
                <a:cs typeface="Aptos Mono" pitchFamily="34" charset="-120"/>
              </a:rPr>
              <a:t>11 / 18</a:t>
            </a:r>
            <a:endParaRPr lang="en-US" sz="770" dirty="0"/>
          </a:p>
        </p:txBody>
      </p:sp>
      <p:sp>
        <p:nvSpPr>
          <p:cNvPr id="21" name="Text 19"/>
          <p:cNvSpPr/>
          <p:nvPr/>
        </p:nvSpPr>
        <p:spPr>
          <a:xfrm>
            <a:off x="658368" y="758952"/>
            <a:ext cx="3200400" cy="164592"/>
          </a:xfrm>
          <a:prstGeom prst="rect">
            <a:avLst/>
          </a:prstGeom>
          <a:noFill/>
          <a:ln/>
        </p:spPr>
        <p:txBody>
          <a:bodyPr wrap="square" lIns="0" tIns="0" rIns="0" bIns="0" rtlCol="0" anchor="ctr">
            <a:normAutofit/>
          </a:bodyPr>
          <a:lstStyle/>
          <a:p>
            <a:pPr algn="l" indent="0" marL="0">
              <a:buNone/>
            </a:pPr>
            <a:r>
              <a:rPr lang="en-US" sz="900" b="1" spc="135" kern="0" dirty="0">
                <a:solidFill>
                  <a:srgbClr val="68D6E8"/>
                </a:solidFill>
                <a:latin typeface="Aptos Mono" pitchFamily="34" charset="0"/>
                <a:ea typeface="Aptos Mono" pitchFamily="34" charset="-122"/>
                <a:cs typeface="Aptos Mono" pitchFamily="34" charset="-120"/>
              </a:rPr>
              <a:t>RÉALISATION</a:t>
            </a:r>
            <a:endParaRPr lang="en-US" sz="900" dirty="0"/>
          </a:p>
        </p:txBody>
      </p:sp>
      <p:sp>
        <p:nvSpPr>
          <p:cNvPr id="22" name="Text 20"/>
          <p:cNvSpPr/>
          <p:nvPr/>
        </p:nvSpPr>
        <p:spPr>
          <a:xfrm>
            <a:off x="658368" y="969264"/>
            <a:ext cx="10607040" cy="493776"/>
          </a:xfrm>
          <a:prstGeom prst="rect">
            <a:avLst/>
          </a:prstGeom>
          <a:noFill/>
          <a:ln/>
        </p:spPr>
        <p:txBody>
          <a:bodyPr wrap="square" lIns="0" tIns="0" rIns="0" bIns="0" rtlCol="0" anchor="t">
            <a:normAutofit/>
          </a:bodyPr>
          <a:lstStyle/>
          <a:p>
            <a:pPr algn="l" indent="0" marL="0">
              <a:buNone/>
            </a:pPr>
            <a:r>
              <a:rPr lang="en-US" sz="2900" b="1" dirty="0">
                <a:solidFill>
                  <a:srgbClr val="F5F7F8"/>
                </a:solidFill>
                <a:latin typeface="Aptos Display" pitchFamily="34" charset="0"/>
                <a:ea typeface="Aptos Display" pitchFamily="34" charset="-122"/>
                <a:cs typeface="Aptos Display" pitchFamily="34" charset="-120"/>
              </a:rPr>
              <a:t>Les agents produisent, l'humain autorise</a:t>
            </a:r>
            <a:endParaRPr lang="en-US" sz="2900" dirty="0"/>
          </a:p>
        </p:txBody>
      </p:sp>
      <p:sp>
        <p:nvSpPr>
          <p:cNvPr id="23" name="Text 21"/>
          <p:cNvSpPr/>
          <p:nvPr/>
        </p:nvSpPr>
        <p:spPr>
          <a:xfrm>
            <a:off x="658368" y="1499616"/>
            <a:ext cx="9966960" cy="256032"/>
          </a:xfrm>
          <a:prstGeom prst="rect">
            <a:avLst/>
          </a:prstGeom>
          <a:noFill/>
          <a:ln/>
        </p:spPr>
        <p:txBody>
          <a:bodyPr wrap="square" lIns="0" tIns="0" rIns="0" bIns="0" rtlCol="0" anchor="t">
            <a:normAutofit/>
          </a:bodyPr>
          <a:lstStyle/>
          <a:p>
            <a:pPr algn="l" indent="0" marL="0">
              <a:buNone/>
            </a:pPr>
            <a:r>
              <a:rPr lang="en-US" sz="1200" dirty="0">
                <a:solidFill>
                  <a:srgbClr val="9EADB8"/>
                </a:solidFill>
                <a:latin typeface="Aptos" pitchFamily="34" charset="0"/>
                <a:ea typeface="Aptos" pitchFamily="34" charset="-122"/>
                <a:cs typeface="Aptos" pitchFamily="34" charset="-120"/>
              </a:rPr>
              <a:t>Les agents sont spécialisés et bornés ; les gates gardent l'autorité finale.</a:t>
            </a:r>
            <a:endParaRPr lang="en-US" sz="1200" dirty="0"/>
          </a:p>
        </p:txBody>
      </p:sp>
      <p:sp>
        <p:nvSpPr>
          <p:cNvPr id="24" name="Text 22"/>
          <p:cNvSpPr/>
          <p:nvPr/>
        </p:nvSpPr>
        <p:spPr>
          <a:xfrm>
            <a:off x="731520" y="2048256"/>
            <a:ext cx="2331720" cy="164592"/>
          </a:xfrm>
          <a:prstGeom prst="rect">
            <a:avLst/>
          </a:prstGeom>
          <a:noFill/>
          <a:ln/>
        </p:spPr>
        <p:txBody>
          <a:bodyPr wrap="square" lIns="0" tIns="0" rIns="0" bIns="0" rtlCol="0" anchor="ctr">
            <a:normAutofit/>
          </a:bodyPr>
          <a:lstStyle/>
          <a:p>
            <a:pPr algn="l" indent="0" marL="0">
              <a:buNone/>
            </a:pPr>
            <a:r>
              <a:rPr lang="en-US" sz="840" b="1" spc="120" kern="0" dirty="0">
                <a:solidFill>
                  <a:srgbClr val="68D6E8"/>
                </a:solidFill>
                <a:latin typeface="Aptos Mono" pitchFamily="34" charset="0"/>
                <a:ea typeface="Aptos Mono" pitchFamily="34" charset="-122"/>
                <a:cs typeface="Aptos Mono" pitchFamily="34" charset="-120"/>
              </a:rPr>
              <a:t>AGENT CONSTELLATION</a:t>
            </a:r>
            <a:endParaRPr lang="en-US" sz="840" dirty="0"/>
          </a:p>
        </p:txBody>
      </p:sp>
      <p:sp>
        <p:nvSpPr>
          <p:cNvPr id="25" name="Shape 23"/>
          <p:cNvSpPr/>
          <p:nvPr/>
        </p:nvSpPr>
        <p:spPr>
          <a:xfrm>
            <a:off x="5504688" y="3401568"/>
            <a:ext cx="932688" cy="932688"/>
          </a:xfrm>
          <a:prstGeom prst="ellipse">
            <a:avLst/>
          </a:prstGeom>
          <a:solidFill>
            <a:srgbClr val="1B2A35"/>
          </a:solidFill>
          <a:ln w="20320">
            <a:solidFill>
              <a:srgbClr val="4E9DFF"/>
            </a:solidFill>
            <a:prstDash val="solid"/>
          </a:ln>
        </p:spPr>
      </p:sp>
      <p:sp>
        <p:nvSpPr>
          <p:cNvPr id="26" name="Text 24"/>
          <p:cNvSpPr/>
          <p:nvPr/>
        </p:nvSpPr>
        <p:spPr>
          <a:xfrm>
            <a:off x="5596128" y="3666744"/>
            <a:ext cx="749808" cy="146304"/>
          </a:xfrm>
          <a:prstGeom prst="rect">
            <a:avLst/>
          </a:prstGeom>
          <a:noFill/>
          <a:ln/>
        </p:spPr>
        <p:txBody>
          <a:bodyPr wrap="square" lIns="0" tIns="0" rIns="0" bIns="0" rtlCol="0" anchor="ctr">
            <a:normAutofit/>
          </a:bodyPr>
          <a:lstStyle/>
          <a:p>
            <a:pPr algn="ctr" indent="0" marL="0">
              <a:buNone/>
            </a:pPr>
            <a:r>
              <a:rPr lang="en-US" sz="720" b="1" spc="35" kern="0" dirty="0">
                <a:solidFill>
                  <a:srgbClr val="4E9DFF"/>
                </a:solidFill>
                <a:latin typeface="Aptos Mono" pitchFamily="34" charset="0"/>
                <a:ea typeface="Aptos Mono" pitchFamily="34" charset="-122"/>
                <a:cs typeface="Aptos Mono" pitchFamily="34" charset="-120"/>
              </a:rPr>
              <a:t>ORCHESTRATEUR</a:t>
            </a:r>
            <a:endParaRPr lang="en-US" sz="720" dirty="0"/>
          </a:p>
        </p:txBody>
      </p:sp>
      <p:sp>
        <p:nvSpPr>
          <p:cNvPr id="27" name="Text 25"/>
          <p:cNvSpPr/>
          <p:nvPr/>
        </p:nvSpPr>
        <p:spPr>
          <a:xfrm>
            <a:off x="5596128" y="3913632"/>
            <a:ext cx="749808" cy="164592"/>
          </a:xfrm>
          <a:prstGeom prst="rect">
            <a:avLst/>
          </a:prstGeom>
          <a:noFill/>
          <a:ln/>
        </p:spPr>
        <p:txBody>
          <a:bodyPr wrap="square" lIns="0" tIns="0" rIns="0" bIns="0" rtlCol="0" anchor="ctr">
            <a:normAutofit/>
          </a:bodyPr>
          <a:lstStyle/>
          <a:p>
            <a:pPr algn="ctr" indent="0" marL="0">
              <a:buNone/>
            </a:pPr>
            <a:r>
              <a:rPr lang="en-US" sz="950" b="1" dirty="0">
                <a:solidFill>
                  <a:srgbClr val="F5F7F8"/>
                </a:solidFill>
                <a:latin typeface="Aptos Display" pitchFamily="34" charset="0"/>
                <a:ea typeface="Aptos Display" pitchFamily="34" charset="-122"/>
                <a:cs typeface="Aptos Display" pitchFamily="34" charset="-120"/>
              </a:rPr>
              <a:t>état</a:t>
            </a:r>
            <a:endParaRPr lang="en-US" sz="950" dirty="0"/>
          </a:p>
        </p:txBody>
      </p:sp>
      <p:sp>
        <p:nvSpPr>
          <p:cNvPr id="28" name="Shape 26"/>
          <p:cNvSpPr/>
          <p:nvPr/>
        </p:nvSpPr>
        <p:spPr>
          <a:xfrm>
            <a:off x="2622613" y="3073788"/>
            <a:ext cx="2832381" cy="671738"/>
          </a:xfrm>
          <a:prstGeom prst="line">
            <a:avLst/>
          </a:prstGeom>
          <a:noFill/>
          <a:ln w="12700">
            <a:solidFill>
              <a:srgbClr val="6C7F89"/>
            </a:solidFill>
            <a:prstDash val="solid"/>
          </a:ln>
        </p:spPr>
      </p:sp>
      <p:sp>
        <p:nvSpPr>
          <p:cNvPr id="29" name="Shape 27"/>
          <p:cNvSpPr/>
          <p:nvPr/>
        </p:nvSpPr>
        <p:spPr>
          <a:xfrm>
            <a:off x="1847088" y="2596896"/>
            <a:ext cx="768096" cy="768096"/>
          </a:xfrm>
          <a:prstGeom prst="ellipse">
            <a:avLst/>
          </a:prstGeom>
          <a:solidFill>
            <a:srgbClr val="0B1117"/>
          </a:solidFill>
          <a:ln w="17780">
            <a:solidFill>
              <a:srgbClr val="4E9DFF"/>
            </a:solidFill>
            <a:prstDash val="solid"/>
          </a:ln>
        </p:spPr>
      </p:sp>
      <p:sp>
        <p:nvSpPr>
          <p:cNvPr id="30" name="Shape 28"/>
          <p:cNvSpPr/>
          <p:nvPr/>
        </p:nvSpPr>
        <p:spPr>
          <a:xfrm>
            <a:off x="2121408" y="2871216"/>
            <a:ext cx="219456" cy="219456"/>
          </a:xfrm>
          <a:prstGeom prst="ellipse">
            <a:avLst/>
          </a:prstGeom>
          <a:solidFill>
            <a:srgbClr val="4E9DFF"/>
          </a:solidFill>
          <a:ln w="12700">
            <a:solidFill>
              <a:srgbClr val="4E9DFF">
                <a:alpha val="0"/>
              </a:srgbClr>
            </a:solidFill>
            <a:prstDash val="solid"/>
          </a:ln>
        </p:spPr>
      </p:sp>
      <p:sp>
        <p:nvSpPr>
          <p:cNvPr id="31" name="Text 29"/>
          <p:cNvSpPr/>
          <p:nvPr/>
        </p:nvSpPr>
        <p:spPr>
          <a:xfrm>
            <a:off x="1536192" y="3493008"/>
            <a:ext cx="1389888" cy="182880"/>
          </a:xfrm>
          <a:prstGeom prst="rect">
            <a:avLst/>
          </a:prstGeom>
          <a:noFill/>
          <a:ln/>
        </p:spPr>
        <p:txBody>
          <a:bodyPr wrap="square" lIns="0" tIns="0" rIns="0" bIns="0" rtlCol="0" anchor="ctr">
            <a:normAutofit/>
          </a:bodyPr>
          <a:lstStyle/>
          <a:p>
            <a:pPr algn="ctr" indent="0" marL="0">
              <a:buNone/>
            </a:pPr>
            <a:r>
              <a:rPr lang="en-US" sz="1060" b="1" dirty="0">
                <a:solidFill>
                  <a:srgbClr val="F5F7F8"/>
                </a:solidFill>
                <a:latin typeface="Aptos Display" pitchFamily="34" charset="0"/>
                <a:ea typeface="Aptos Display" pitchFamily="34" charset="-122"/>
                <a:cs typeface="Aptos Display" pitchFamily="34" charset="-120"/>
              </a:rPr>
              <a:t>Analyste</a:t>
            </a:r>
            <a:endParaRPr lang="en-US" sz="1060" dirty="0"/>
          </a:p>
        </p:txBody>
      </p:sp>
      <p:sp>
        <p:nvSpPr>
          <p:cNvPr id="32" name="Text 30"/>
          <p:cNvSpPr/>
          <p:nvPr/>
        </p:nvSpPr>
        <p:spPr>
          <a:xfrm>
            <a:off x="1609344" y="3749040"/>
            <a:ext cx="1243584" cy="146304"/>
          </a:xfrm>
          <a:prstGeom prst="rect">
            <a:avLst/>
          </a:prstGeom>
          <a:noFill/>
          <a:ln/>
        </p:spPr>
        <p:txBody>
          <a:bodyPr wrap="square" lIns="0" tIns="0" rIns="0" bIns="0" rtlCol="0" anchor="ctr">
            <a:normAutofit/>
          </a:bodyPr>
          <a:lstStyle/>
          <a:p>
            <a:pPr algn="ctr" indent="0" marL="0">
              <a:buNone/>
            </a:pPr>
            <a:r>
              <a:rPr lang="en-US" sz="730" b="1" spc="45" kern="0" dirty="0">
                <a:solidFill>
                  <a:srgbClr val="4E9DFF"/>
                </a:solidFill>
                <a:latin typeface="Aptos Mono" pitchFamily="34" charset="0"/>
                <a:ea typeface="Aptos Mono" pitchFamily="34" charset="-122"/>
                <a:cs typeface="Aptos Mono" pitchFamily="34" charset="-120"/>
              </a:rPr>
              <a:t>DIAGNOSTIQUER</a:t>
            </a:r>
            <a:endParaRPr lang="en-US" sz="730" dirty="0"/>
          </a:p>
        </p:txBody>
      </p:sp>
      <p:sp>
        <p:nvSpPr>
          <p:cNvPr id="33" name="Shape 31"/>
          <p:cNvSpPr/>
          <p:nvPr/>
        </p:nvSpPr>
        <p:spPr>
          <a:xfrm>
            <a:off x="4578044" y="2610458"/>
            <a:ext cx="999310" cy="902080"/>
          </a:xfrm>
          <a:prstGeom prst="line">
            <a:avLst/>
          </a:prstGeom>
          <a:noFill/>
          <a:ln w="12700">
            <a:solidFill>
              <a:srgbClr val="6C7F89"/>
            </a:solidFill>
            <a:prstDash val="solid"/>
          </a:ln>
        </p:spPr>
      </p:sp>
      <p:sp>
        <p:nvSpPr>
          <p:cNvPr id="34" name="Shape 32"/>
          <p:cNvSpPr/>
          <p:nvPr/>
        </p:nvSpPr>
        <p:spPr>
          <a:xfrm>
            <a:off x="3895344" y="1956816"/>
            <a:ext cx="768096" cy="768096"/>
          </a:xfrm>
          <a:prstGeom prst="ellipse">
            <a:avLst/>
          </a:prstGeom>
          <a:solidFill>
            <a:srgbClr val="0B1117"/>
          </a:solidFill>
          <a:ln w="17780">
            <a:solidFill>
              <a:srgbClr val="68D6E8"/>
            </a:solidFill>
            <a:prstDash val="solid"/>
          </a:ln>
        </p:spPr>
      </p:sp>
      <p:sp>
        <p:nvSpPr>
          <p:cNvPr id="35" name="Shape 33"/>
          <p:cNvSpPr/>
          <p:nvPr/>
        </p:nvSpPr>
        <p:spPr>
          <a:xfrm>
            <a:off x="4169664" y="2231136"/>
            <a:ext cx="219456" cy="219456"/>
          </a:xfrm>
          <a:prstGeom prst="ellipse">
            <a:avLst/>
          </a:prstGeom>
          <a:solidFill>
            <a:srgbClr val="68D6E8"/>
          </a:solidFill>
          <a:ln w="12700">
            <a:solidFill>
              <a:srgbClr val="68D6E8">
                <a:alpha val="0"/>
              </a:srgbClr>
            </a:solidFill>
            <a:prstDash val="solid"/>
          </a:ln>
        </p:spPr>
      </p:sp>
      <p:sp>
        <p:nvSpPr>
          <p:cNvPr id="36" name="Text 34"/>
          <p:cNvSpPr/>
          <p:nvPr/>
        </p:nvSpPr>
        <p:spPr>
          <a:xfrm>
            <a:off x="3584448" y="2852928"/>
            <a:ext cx="1389888" cy="182880"/>
          </a:xfrm>
          <a:prstGeom prst="rect">
            <a:avLst/>
          </a:prstGeom>
          <a:noFill/>
          <a:ln/>
        </p:spPr>
        <p:txBody>
          <a:bodyPr wrap="square" lIns="0" tIns="0" rIns="0" bIns="0" rtlCol="0" anchor="ctr">
            <a:normAutofit/>
          </a:bodyPr>
          <a:lstStyle/>
          <a:p>
            <a:pPr algn="ctr" indent="0" marL="0">
              <a:buNone/>
            </a:pPr>
            <a:r>
              <a:rPr lang="en-US" sz="1060" b="1" dirty="0">
                <a:solidFill>
                  <a:srgbClr val="F5F7F8"/>
                </a:solidFill>
                <a:latin typeface="Aptos Display" pitchFamily="34" charset="0"/>
                <a:ea typeface="Aptos Display" pitchFamily="34" charset="-122"/>
                <a:cs typeface="Aptos Display" pitchFamily="34" charset="-120"/>
              </a:rPr>
              <a:t>Reviewer</a:t>
            </a:r>
            <a:endParaRPr lang="en-US" sz="1060" dirty="0"/>
          </a:p>
        </p:txBody>
      </p:sp>
      <p:sp>
        <p:nvSpPr>
          <p:cNvPr id="37" name="Text 35"/>
          <p:cNvSpPr/>
          <p:nvPr/>
        </p:nvSpPr>
        <p:spPr>
          <a:xfrm>
            <a:off x="3657600" y="3108960"/>
            <a:ext cx="1243584" cy="146304"/>
          </a:xfrm>
          <a:prstGeom prst="rect">
            <a:avLst/>
          </a:prstGeom>
          <a:noFill/>
          <a:ln/>
        </p:spPr>
        <p:txBody>
          <a:bodyPr wrap="square" lIns="0" tIns="0" rIns="0" bIns="0" rtlCol="0" anchor="ctr">
            <a:normAutofit/>
          </a:bodyPr>
          <a:lstStyle/>
          <a:p>
            <a:pPr algn="ctr" indent="0" marL="0">
              <a:buNone/>
            </a:pPr>
            <a:r>
              <a:rPr lang="en-US" sz="730" b="1" spc="45" kern="0" dirty="0">
                <a:solidFill>
                  <a:srgbClr val="68D6E8"/>
                </a:solidFill>
                <a:latin typeface="Aptos Mono" pitchFamily="34" charset="0"/>
                <a:ea typeface="Aptos Mono" pitchFamily="34" charset="-122"/>
                <a:cs typeface="Aptos Mono" pitchFamily="34" charset="-120"/>
              </a:rPr>
              <a:t>RELIRE</a:t>
            </a:r>
            <a:endParaRPr lang="en-US" sz="730" dirty="0"/>
          </a:p>
        </p:txBody>
      </p:sp>
      <p:sp>
        <p:nvSpPr>
          <p:cNvPr id="38" name="Shape 36"/>
          <p:cNvSpPr/>
          <p:nvPr/>
        </p:nvSpPr>
        <p:spPr>
          <a:xfrm>
            <a:off x="7263474" y="2620295"/>
            <a:ext cx="-910868" cy="879277"/>
          </a:xfrm>
          <a:prstGeom prst="line">
            <a:avLst/>
          </a:prstGeom>
          <a:noFill/>
          <a:ln w="12700">
            <a:solidFill>
              <a:srgbClr val="6C7F89"/>
            </a:solidFill>
            <a:prstDash val="solid"/>
          </a:ln>
        </p:spPr>
      </p:sp>
      <p:sp>
        <p:nvSpPr>
          <p:cNvPr id="39" name="Shape 37"/>
          <p:cNvSpPr/>
          <p:nvPr/>
        </p:nvSpPr>
        <p:spPr>
          <a:xfrm>
            <a:off x="7168896" y="1956816"/>
            <a:ext cx="768096" cy="768096"/>
          </a:xfrm>
          <a:prstGeom prst="ellipse">
            <a:avLst/>
          </a:prstGeom>
          <a:solidFill>
            <a:srgbClr val="0B1117"/>
          </a:solidFill>
          <a:ln w="17780">
            <a:solidFill>
              <a:srgbClr val="68D6E8"/>
            </a:solidFill>
            <a:prstDash val="solid"/>
          </a:ln>
        </p:spPr>
      </p:sp>
      <p:sp>
        <p:nvSpPr>
          <p:cNvPr id="40" name="Shape 38"/>
          <p:cNvSpPr/>
          <p:nvPr/>
        </p:nvSpPr>
        <p:spPr>
          <a:xfrm>
            <a:off x="7443216" y="2231136"/>
            <a:ext cx="219456" cy="219456"/>
          </a:xfrm>
          <a:prstGeom prst="ellipse">
            <a:avLst/>
          </a:prstGeom>
          <a:solidFill>
            <a:srgbClr val="68D6E8"/>
          </a:solidFill>
          <a:ln w="12700">
            <a:solidFill>
              <a:srgbClr val="68D6E8">
                <a:alpha val="0"/>
              </a:srgbClr>
            </a:solidFill>
            <a:prstDash val="solid"/>
          </a:ln>
        </p:spPr>
      </p:sp>
      <p:sp>
        <p:nvSpPr>
          <p:cNvPr id="41" name="Text 39"/>
          <p:cNvSpPr/>
          <p:nvPr/>
        </p:nvSpPr>
        <p:spPr>
          <a:xfrm>
            <a:off x="6858000" y="2852928"/>
            <a:ext cx="1389888" cy="182880"/>
          </a:xfrm>
          <a:prstGeom prst="rect">
            <a:avLst/>
          </a:prstGeom>
          <a:noFill/>
          <a:ln/>
        </p:spPr>
        <p:txBody>
          <a:bodyPr wrap="square" lIns="0" tIns="0" rIns="0" bIns="0" rtlCol="0" anchor="ctr">
            <a:normAutofit/>
          </a:bodyPr>
          <a:lstStyle/>
          <a:p>
            <a:pPr algn="ctr" indent="0" marL="0">
              <a:buNone/>
            </a:pPr>
            <a:r>
              <a:rPr lang="en-US" sz="1060" b="1" dirty="0">
                <a:solidFill>
                  <a:srgbClr val="F5F7F8"/>
                </a:solidFill>
                <a:latin typeface="Aptos Display" pitchFamily="34" charset="0"/>
                <a:ea typeface="Aptos Display" pitchFamily="34" charset="-122"/>
                <a:cs typeface="Aptos Display" pitchFamily="34" charset="-120"/>
              </a:rPr>
              <a:t>Planificateur</a:t>
            </a:r>
            <a:endParaRPr lang="en-US" sz="1060" dirty="0"/>
          </a:p>
        </p:txBody>
      </p:sp>
      <p:sp>
        <p:nvSpPr>
          <p:cNvPr id="42" name="Text 40"/>
          <p:cNvSpPr/>
          <p:nvPr/>
        </p:nvSpPr>
        <p:spPr>
          <a:xfrm>
            <a:off x="6931152" y="3108960"/>
            <a:ext cx="1243584" cy="146304"/>
          </a:xfrm>
          <a:prstGeom prst="rect">
            <a:avLst/>
          </a:prstGeom>
          <a:noFill/>
          <a:ln/>
        </p:spPr>
        <p:txBody>
          <a:bodyPr wrap="square" lIns="0" tIns="0" rIns="0" bIns="0" rtlCol="0" anchor="ctr">
            <a:normAutofit/>
          </a:bodyPr>
          <a:lstStyle/>
          <a:p>
            <a:pPr algn="ctr" indent="0" marL="0">
              <a:buNone/>
            </a:pPr>
            <a:r>
              <a:rPr lang="en-US" sz="730" b="1" spc="45" kern="0" dirty="0">
                <a:solidFill>
                  <a:srgbClr val="68D6E8"/>
                </a:solidFill>
                <a:latin typeface="Aptos Mono" pitchFamily="34" charset="0"/>
                <a:ea typeface="Aptos Mono" pitchFamily="34" charset="-122"/>
                <a:cs typeface="Aptos Mono" pitchFamily="34" charset="-120"/>
              </a:rPr>
              <a:t>ORDONNER</a:t>
            </a:r>
            <a:endParaRPr lang="en-US" sz="730" dirty="0"/>
          </a:p>
        </p:txBody>
      </p:sp>
      <p:sp>
        <p:nvSpPr>
          <p:cNvPr id="43" name="Shape 41"/>
          <p:cNvSpPr/>
          <p:nvPr/>
        </p:nvSpPr>
        <p:spPr>
          <a:xfrm>
            <a:off x="9192185" y="3076895"/>
            <a:ext cx="-2706103" cy="664537"/>
          </a:xfrm>
          <a:prstGeom prst="line">
            <a:avLst/>
          </a:prstGeom>
          <a:noFill/>
          <a:ln w="12700">
            <a:solidFill>
              <a:srgbClr val="6C7F89"/>
            </a:solidFill>
            <a:prstDash val="solid"/>
          </a:ln>
        </p:spPr>
      </p:sp>
      <p:sp>
        <p:nvSpPr>
          <p:cNvPr id="44" name="Shape 42"/>
          <p:cNvSpPr/>
          <p:nvPr/>
        </p:nvSpPr>
        <p:spPr>
          <a:xfrm>
            <a:off x="9198864" y="2596896"/>
            <a:ext cx="768096" cy="768096"/>
          </a:xfrm>
          <a:prstGeom prst="ellipse">
            <a:avLst/>
          </a:prstGeom>
          <a:solidFill>
            <a:srgbClr val="0B1117"/>
          </a:solidFill>
          <a:ln w="17780">
            <a:solidFill>
              <a:srgbClr val="F4B84A"/>
            </a:solidFill>
            <a:prstDash val="solid"/>
          </a:ln>
        </p:spPr>
      </p:sp>
      <p:sp>
        <p:nvSpPr>
          <p:cNvPr id="45" name="Shape 43"/>
          <p:cNvSpPr/>
          <p:nvPr/>
        </p:nvSpPr>
        <p:spPr>
          <a:xfrm>
            <a:off x="9473184" y="2871216"/>
            <a:ext cx="219456" cy="219456"/>
          </a:xfrm>
          <a:prstGeom prst="ellipse">
            <a:avLst/>
          </a:prstGeom>
          <a:solidFill>
            <a:srgbClr val="F4B84A"/>
          </a:solidFill>
          <a:ln w="12700">
            <a:solidFill>
              <a:srgbClr val="F4B84A">
                <a:alpha val="0"/>
              </a:srgbClr>
            </a:solidFill>
            <a:prstDash val="solid"/>
          </a:ln>
        </p:spPr>
      </p:sp>
      <p:sp>
        <p:nvSpPr>
          <p:cNvPr id="46" name="Text 44"/>
          <p:cNvSpPr/>
          <p:nvPr/>
        </p:nvSpPr>
        <p:spPr>
          <a:xfrm>
            <a:off x="8887968" y="3493008"/>
            <a:ext cx="1389888" cy="182880"/>
          </a:xfrm>
          <a:prstGeom prst="rect">
            <a:avLst/>
          </a:prstGeom>
          <a:noFill/>
          <a:ln/>
        </p:spPr>
        <p:txBody>
          <a:bodyPr wrap="square" lIns="0" tIns="0" rIns="0" bIns="0" rtlCol="0" anchor="ctr">
            <a:normAutofit/>
          </a:bodyPr>
          <a:lstStyle/>
          <a:p>
            <a:pPr algn="ctr" indent="0" marL="0">
              <a:buNone/>
            </a:pPr>
            <a:r>
              <a:rPr lang="en-US" sz="1060" b="1" dirty="0">
                <a:solidFill>
                  <a:srgbClr val="F5F7F8"/>
                </a:solidFill>
                <a:latin typeface="Aptos Display" pitchFamily="34" charset="0"/>
                <a:ea typeface="Aptos Display" pitchFamily="34" charset="-122"/>
                <a:cs typeface="Aptos Display" pitchFamily="34" charset="-120"/>
              </a:rPr>
              <a:t>Transformateur</a:t>
            </a:r>
            <a:endParaRPr lang="en-US" sz="1060" dirty="0"/>
          </a:p>
        </p:txBody>
      </p:sp>
      <p:sp>
        <p:nvSpPr>
          <p:cNvPr id="47" name="Text 45"/>
          <p:cNvSpPr/>
          <p:nvPr/>
        </p:nvSpPr>
        <p:spPr>
          <a:xfrm>
            <a:off x="8961120" y="3749040"/>
            <a:ext cx="1243584" cy="146304"/>
          </a:xfrm>
          <a:prstGeom prst="rect">
            <a:avLst/>
          </a:prstGeom>
          <a:noFill/>
          <a:ln/>
        </p:spPr>
        <p:txBody>
          <a:bodyPr wrap="square" lIns="0" tIns="0" rIns="0" bIns="0" rtlCol="0" anchor="ctr">
            <a:normAutofit/>
          </a:bodyPr>
          <a:lstStyle/>
          <a:p>
            <a:pPr algn="ctr" indent="0" marL="0">
              <a:buNone/>
            </a:pPr>
            <a:r>
              <a:rPr lang="en-US" sz="730" b="1" spc="45" kern="0" dirty="0">
                <a:solidFill>
                  <a:srgbClr val="F4B84A"/>
                </a:solidFill>
                <a:latin typeface="Aptos Mono" pitchFamily="34" charset="0"/>
                <a:ea typeface="Aptos Mono" pitchFamily="34" charset="-122"/>
                <a:cs typeface="Aptos Mono" pitchFamily="34" charset="-120"/>
              </a:rPr>
              <a:t>PROPOSER</a:t>
            </a:r>
            <a:endParaRPr lang="en-US" sz="730" dirty="0"/>
          </a:p>
        </p:txBody>
      </p:sp>
      <p:sp>
        <p:nvSpPr>
          <p:cNvPr id="48" name="Shape 46"/>
          <p:cNvSpPr/>
          <p:nvPr/>
        </p:nvSpPr>
        <p:spPr>
          <a:xfrm>
            <a:off x="3999454" y="4849835"/>
            <a:ext cx="1496845" cy="-745487"/>
          </a:xfrm>
          <a:prstGeom prst="line">
            <a:avLst/>
          </a:prstGeom>
          <a:noFill/>
          <a:ln w="12700">
            <a:solidFill>
              <a:srgbClr val="6C7F89"/>
            </a:solidFill>
            <a:prstDash val="solid"/>
          </a:ln>
        </p:spPr>
      </p:sp>
      <p:sp>
        <p:nvSpPr>
          <p:cNvPr id="49" name="Shape 47"/>
          <p:cNvSpPr/>
          <p:nvPr/>
        </p:nvSpPr>
        <p:spPr>
          <a:xfrm>
            <a:off x="3255264" y="4645152"/>
            <a:ext cx="768096" cy="768096"/>
          </a:xfrm>
          <a:prstGeom prst="ellipse">
            <a:avLst/>
          </a:prstGeom>
          <a:solidFill>
            <a:srgbClr val="0B1117"/>
          </a:solidFill>
          <a:ln w="17780">
            <a:solidFill>
              <a:srgbClr val="FF6F72"/>
            </a:solidFill>
            <a:prstDash val="solid"/>
          </a:ln>
        </p:spPr>
      </p:sp>
      <p:sp>
        <p:nvSpPr>
          <p:cNvPr id="50" name="Shape 48"/>
          <p:cNvSpPr/>
          <p:nvPr/>
        </p:nvSpPr>
        <p:spPr>
          <a:xfrm>
            <a:off x="3529584" y="4919472"/>
            <a:ext cx="219456" cy="219456"/>
          </a:xfrm>
          <a:prstGeom prst="ellipse">
            <a:avLst/>
          </a:prstGeom>
          <a:solidFill>
            <a:srgbClr val="FF6F72"/>
          </a:solidFill>
          <a:ln w="12700">
            <a:solidFill>
              <a:srgbClr val="FF6F72">
                <a:alpha val="0"/>
              </a:srgbClr>
            </a:solidFill>
            <a:prstDash val="solid"/>
          </a:ln>
        </p:spPr>
      </p:sp>
      <p:sp>
        <p:nvSpPr>
          <p:cNvPr id="51" name="Text 49"/>
          <p:cNvSpPr/>
          <p:nvPr/>
        </p:nvSpPr>
        <p:spPr>
          <a:xfrm>
            <a:off x="2944368" y="5541264"/>
            <a:ext cx="1389888" cy="182880"/>
          </a:xfrm>
          <a:prstGeom prst="rect">
            <a:avLst/>
          </a:prstGeom>
          <a:noFill/>
          <a:ln/>
        </p:spPr>
        <p:txBody>
          <a:bodyPr wrap="square" lIns="0" tIns="0" rIns="0" bIns="0" rtlCol="0" anchor="ctr">
            <a:normAutofit/>
          </a:bodyPr>
          <a:lstStyle/>
          <a:p>
            <a:pPr algn="ctr" indent="0" marL="0">
              <a:buNone/>
            </a:pPr>
            <a:r>
              <a:rPr lang="en-US" sz="1060" b="1" dirty="0">
                <a:solidFill>
                  <a:srgbClr val="F5F7F8"/>
                </a:solidFill>
                <a:latin typeface="Aptos Display" pitchFamily="34" charset="0"/>
                <a:ea typeface="Aptos Display" pitchFamily="34" charset="-122"/>
                <a:cs typeface="Aptos Display" pitchFamily="34" charset="-120"/>
              </a:rPr>
              <a:t>Réparateur</a:t>
            </a:r>
            <a:endParaRPr lang="en-US" sz="1060" dirty="0"/>
          </a:p>
        </p:txBody>
      </p:sp>
      <p:sp>
        <p:nvSpPr>
          <p:cNvPr id="52" name="Text 50"/>
          <p:cNvSpPr/>
          <p:nvPr/>
        </p:nvSpPr>
        <p:spPr>
          <a:xfrm>
            <a:off x="3017520" y="5797296"/>
            <a:ext cx="1243584" cy="146304"/>
          </a:xfrm>
          <a:prstGeom prst="rect">
            <a:avLst/>
          </a:prstGeom>
          <a:noFill/>
          <a:ln/>
        </p:spPr>
        <p:txBody>
          <a:bodyPr wrap="square" lIns="0" tIns="0" rIns="0" bIns="0" rtlCol="0" anchor="ctr">
            <a:normAutofit/>
          </a:bodyPr>
          <a:lstStyle/>
          <a:p>
            <a:pPr algn="ctr" indent="0" marL="0">
              <a:buNone/>
            </a:pPr>
            <a:r>
              <a:rPr lang="en-US" sz="730" b="1" spc="45" kern="0" dirty="0">
                <a:solidFill>
                  <a:srgbClr val="FF6F72"/>
                </a:solidFill>
                <a:latin typeface="Aptos Mono" pitchFamily="34" charset="0"/>
                <a:ea typeface="Aptos Mono" pitchFamily="34" charset="-122"/>
                <a:cs typeface="Aptos Mono" pitchFamily="34" charset="-120"/>
              </a:rPr>
              <a:t>CORRIGER</a:t>
            </a:r>
            <a:endParaRPr lang="en-US" sz="730" dirty="0"/>
          </a:p>
        </p:txBody>
      </p:sp>
      <p:sp>
        <p:nvSpPr>
          <p:cNvPr id="53" name="Shape 51"/>
          <p:cNvSpPr/>
          <p:nvPr/>
        </p:nvSpPr>
        <p:spPr>
          <a:xfrm>
            <a:off x="7748317" y="4836647"/>
            <a:ext cx="-1311615" cy="-714915"/>
          </a:xfrm>
          <a:prstGeom prst="line">
            <a:avLst/>
          </a:prstGeom>
          <a:noFill/>
          <a:ln w="12700">
            <a:solidFill>
              <a:srgbClr val="6C7F89"/>
            </a:solidFill>
            <a:prstDash val="solid"/>
          </a:ln>
        </p:spPr>
      </p:sp>
      <p:sp>
        <p:nvSpPr>
          <p:cNvPr id="54" name="Shape 52"/>
          <p:cNvSpPr/>
          <p:nvPr/>
        </p:nvSpPr>
        <p:spPr>
          <a:xfrm>
            <a:off x="7717536" y="4645152"/>
            <a:ext cx="768096" cy="768096"/>
          </a:xfrm>
          <a:prstGeom prst="ellipse">
            <a:avLst/>
          </a:prstGeom>
          <a:solidFill>
            <a:srgbClr val="0B1117"/>
          </a:solidFill>
          <a:ln w="17780">
            <a:solidFill>
              <a:srgbClr val="41D3AE"/>
            </a:solidFill>
            <a:prstDash val="solid"/>
          </a:ln>
        </p:spPr>
      </p:sp>
      <p:sp>
        <p:nvSpPr>
          <p:cNvPr id="55" name="Shape 53"/>
          <p:cNvSpPr/>
          <p:nvPr/>
        </p:nvSpPr>
        <p:spPr>
          <a:xfrm>
            <a:off x="7991856" y="4919472"/>
            <a:ext cx="219456" cy="219456"/>
          </a:xfrm>
          <a:prstGeom prst="ellipse">
            <a:avLst/>
          </a:prstGeom>
          <a:solidFill>
            <a:srgbClr val="41D3AE"/>
          </a:solidFill>
          <a:ln w="12700">
            <a:solidFill>
              <a:srgbClr val="41D3AE">
                <a:alpha val="0"/>
              </a:srgbClr>
            </a:solidFill>
            <a:prstDash val="solid"/>
          </a:ln>
        </p:spPr>
      </p:sp>
      <p:sp>
        <p:nvSpPr>
          <p:cNvPr id="56" name="Text 54"/>
          <p:cNvSpPr/>
          <p:nvPr/>
        </p:nvSpPr>
        <p:spPr>
          <a:xfrm>
            <a:off x="7406640" y="5541264"/>
            <a:ext cx="1389888" cy="182880"/>
          </a:xfrm>
          <a:prstGeom prst="rect">
            <a:avLst/>
          </a:prstGeom>
          <a:noFill/>
          <a:ln/>
        </p:spPr>
        <p:txBody>
          <a:bodyPr wrap="square" lIns="0" tIns="0" rIns="0" bIns="0" rtlCol="0" anchor="ctr">
            <a:normAutofit/>
          </a:bodyPr>
          <a:lstStyle/>
          <a:p>
            <a:pPr algn="ctr" indent="0" marL="0">
              <a:buNone/>
            </a:pPr>
            <a:r>
              <a:rPr lang="en-US" sz="1060" b="1" dirty="0">
                <a:solidFill>
                  <a:srgbClr val="F5F7F8"/>
                </a:solidFill>
                <a:latin typeface="Aptos Display" pitchFamily="34" charset="0"/>
                <a:ea typeface="Aptos Display" pitchFamily="34" charset="-122"/>
                <a:cs typeface="Aptos Display" pitchFamily="34" charset="-120"/>
              </a:rPr>
              <a:t>Assistant</a:t>
            </a:r>
            <a:endParaRPr lang="en-US" sz="1060" dirty="0"/>
          </a:p>
        </p:txBody>
      </p:sp>
      <p:sp>
        <p:nvSpPr>
          <p:cNvPr id="57" name="Text 55"/>
          <p:cNvSpPr/>
          <p:nvPr/>
        </p:nvSpPr>
        <p:spPr>
          <a:xfrm>
            <a:off x="7479792" y="5797296"/>
            <a:ext cx="1243584" cy="146304"/>
          </a:xfrm>
          <a:prstGeom prst="rect">
            <a:avLst/>
          </a:prstGeom>
          <a:noFill/>
          <a:ln/>
        </p:spPr>
        <p:txBody>
          <a:bodyPr wrap="square" lIns="0" tIns="0" rIns="0" bIns="0" rtlCol="0" anchor="ctr">
            <a:normAutofit/>
          </a:bodyPr>
          <a:lstStyle/>
          <a:p>
            <a:pPr algn="ctr" indent="0" marL="0">
              <a:buNone/>
            </a:pPr>
            <a:r>
              <a:rPr lang="en-US" sz="730" b="1" spc="45" kern="0" dirty="0">
                <a:solidFill>
                  <a:srgbClr val="41D3AE"/>
                </a:solidFill>
                <a:latin typeface="Aptos Mono" pitchFamily="34" charset="0"/>
                <a:ea typeface="Aptos Mono" pitchFamily="34" charset="-122"/>
                <a:cs typeface="Aptos Mono" pitchFamily="34" charset="-120"/>
              </a:rPr>
              <a:t>ÉCLAIRER</a:t>
            </a:r>
            <a:endParaRPr lang="en-US" sz="730" dirty="0"/>
          </a:p>
        </p:txBody>
      </p:sp>
      <p:sp>
        <p:nvSpPr>
          <p:cNvPr id="58" name="Shape 56"/>
          <p:cNvSpPr/>
          <p:nvPr/>
        </p:nvSpPr>
        <p:spPr>
          <a:xfrm>
            <a:off x="10387584" y="2523744"/>
            <a:ext cx="841248" cy="2267712"/>
          </a:xfrm>
          <a:prstGeom prst="rect">
            <a:avLst/>
          </a:prstGeom>
          <a:solidFill>
            <a:srgbClr val="1B2A35"/>
          </a:solidFill>
          <a:ln w="12700">
            <a:solidFill>
              <a:srgbClr val="F4B84A"/>
            </a:solidFill>
            <a:prstDash val="solid"/>
          </a:ln>
        </p:spPr>
      </p:sp>
      <p:sp>
        <p:nvSpPr>
          <p:cNvPr id="59" name="Text 57"/>
          <p:cNvSpPr/>
          <p:nvPr/>
        </p:nvSpPr>
        <p:spPr>
          <a:xfrm>
            <a:off x="10515600" y="2779776"/>
            <a:ext cx="585216" cy="146304"/>
          </a:xfrm>
          <a:prstGeom prst="rect">
            <a:avLst/>
          </a:prstGeom>
          <a:noFill/>
          <a:ln/>
        </p:spPr>
        <p:txBody>
          <a:bodyPr wrap="square" lIns="0" tIns="0" rIns="0" bIns="0" rtlCol="0" anchor="ctr">
            <a:normAutofit/>
          </a:bodyPr>
          <a:lstStyle/>
          <a:p>
            <a:pPr algn="ctr" indent="0" marL="0">
              <a:buNone/>
            </a:pPr>
            <a:r>
              <a:rPr lang="en-US" sz="730" b="1" spc="55" kern="0" dirty="0">
                <a:solidFill>
                  <a:srgbClr val="F4B84A"/>
                </a:solidFill>
                <a:latin typeface="Aptos Mono" pitchFamily="34" charset="0"/>
                <a:ea typeface="Aptos Mono" pitchFamily="34" charset="-122"/>
                <a:cs typeface="Aptos Mono" pitchFamily="34" charset="-120"/>
              </a:rPr>
              <a:t>HUMAIN</a:t>
            </a:r>
            <a:endParaRPr lang="en-US" sz="730" dirty="0"/>
          </a:p>
        </p:txBody>
      </p:sp>
      <p:sp>
        <p:nvSpPr>
          <p:cNvPr id="60" name="Text 58"/>
          <p:cNvSpPr/>
          <p:nvPr/>
        </p:nvSpPr>
        <p:spPr>
          <a:xfrm>
            <a:off x="10515600" y="3218688"/>
            <a:ext cx="585216" cy="201168"/>
          </a:xfrm>
          <a:prstGeom prst="rect">
            <a:avLst/>
          </a:prstGeom>
          <a:noFill/>
          <a:ln/>
        </p:spPr>
        <p:txBody>
          <a:bodyPr wrap="square" lIns="0" tIns="0" rIns="0" bIns="0" rtlCol="0" anchor="ctr">
            <a:normAutofit/>
          </a:bodyPr>
          <a:lstStyle/>
          <a:p>
            <a:pPr algn="ctr" indent="0" marL="0">
              <a:buNone/>
            </a:pPr>
            <a:r>
              <a:rPr lang="en-US" sz="1500" b="1" dirty="0">
                <a:solidFill>
                  <a:srgbClr val="F5F7F8"/>
                </a:solidFill>
                <a:latin typeface="Aptos Display" pitchFamily="34" charset="0"/>
                <a:ea typeface="Aptos Display" pitchFamily="34" charset="-122"/>
                <a:cs typeface="Aptos Display" pitchFamily="34" charset="-120"/>
              </a:rPr>
              <a:t>gate</a:t>
            </a:r>
            <a:endParaRPr lang="en-US" sz="1500" dirty="0"/>
          </a:p>
        </p:txBody>
      </p:sp>
      <p:sp>
        <p:nvSpPr>
          <p:cNvPr id="61" name="Text 59"/>
          <p:cNvSpPr/>
          <p:nvPr/>
        </p:nvSpPr>
        <p:spPr>
          <a:xfrm>
            <a:off x="10515600" y="3657600"/>
            <a:ext cx="585216" cy="530352"/>
          </a:xfrm>
          <a:prstGeom prst="rect">
            <a:avLst/>
          </a:prstGeom>
          <a:noFill/>
          <a:ln/>
        </p:spPr>
        <p:txBody>
          <a:bodyPr wrap="square" lIns="0" tIns="0" rIns="0" bIns="0" rtlCol="0" anchor="t">
            <a:normAutofit/>
          </a:bodyPr>
          <a:lstStyle/>
          <a:p>
            <a:pPr algn="ctr" indent="0" marL="0">
              <a:buNone/>
            </a:pPr>
            <a:r>
              <a:rPr lang="en-US" sz="860" dirty="0">
                <a:solidFill>
                  <a:srgbClr val="9EADB8"/>
                </a:solidFill>
                <a:latin typeface="Aptos" pitchFamily="34" charset="0"/>
                <a:ea typeface="Aptos" pitchFamily="34" charset="-122"/>
                <a:cs typeface="Aptos" pitchFamily="34" charset="-120"/>
              </a:rPr>
              <a:t>autorise</a:t>
            </a:r>
            <a:endParaRPr lang="en-US" sz="860" dirty="0"/>
          </a:p>
          <a:p>
            <a:pPr algn="ctr" indent="0" marL="0">
              <a:buNone/>
            </a:pPr>
            <a:r>
              <a:rPr lang="en-US" sz="860" dirty="0">
                <a:solidFill>
                  <a:srgbClr val="9EADB8"/>
                </a:solidFill>
                <a:latin typeface="Aptos" pitchFamily="34" charset="0"/>
                <a:ea typeface="Aptos" pitchFamily="34" charset="-122"/>
                <a:cs typeface="Aptos" pitchFamily="34" charset="-120"/>
              </a:rPr>
              <a:t>les décisions</a:t>
            </a:r>
            <a:endParaRPr lang="en-US" sz="860" dirty="0"/>
          </a:p>
          <a:p>
            <a:pPr algn="ctr" indent="0" marL="0">
              <a:buNone/>
            </a:pPr>
            <a:r>
              <a:rPr lang="en-US" sz="860" dirty="0">
                <a:solidFill>
                  <a:srgbClr val="9EADB8"/>
                </a:solidFill>
                <a:latin typeface="Aptos" pitchFamily="34" charset="0"/>
                <a:ea typeface="Aptos" pitchFamily="34" charset="-122"/>
                <a:cs typeface="Aptos" pitchFamily="34" charset="-120"/>
              </a:rPr>
              <a:t>sensibles</a:t>
            </a:r>
            <a:endParaRPr lang="en-US" sz="860" dirty="0"/>
          </a:p>
        </p:txBody>
      </p:sp>
      <p:sp>
        <p:nvSpPr>
          <p:cNvPr id="62" name="Shape 60"/>
          <p:cNvSpPr/>
          <p:nvPr/>
        </p:nvSpPr>
        <p:spPr>
          <a:xfrm>
            <a:off x="10387584" y="3017520"/>
            <a:ext cx="-475488" cy="0"/>
          </a:xfrm>
          <a:prstGeom prst="line">
            <a:avLst/>
          </a:prstGeom>
          <a:noFill/>
          <a:ln w="13970">
            <a:solidFill>
              <a:srgbClr val="F4B84A"/>
            </a:solidFill>
            <a:prstDash val="solid"/>
            <a:tailEnd type="triangle"/>
          </a:ln>
        </p:spPr>
      </p:sp>
      <p:sp>
        <p:nvSpPr>
          <p:cNvPr id="63" name="Shape 61"/>
          <p:cNvSpPr/>
          <p:nvPr/>
        </p:nvSpPr>
        <p:spPr>
          <a:xfrm>
            <a:off x="768096" y="5577840"/>
            <a:ext cx="10515600" cy="0"/>
          </a:xfrm>
          <a:prstGeom prst="line">
            <a:avLst/>
          </a:prstGeom>
          <a:noFill/>
          <a:ln w="10160">
            <a:solidFill>
              <a:srgbClr val="344653"/>
            </a:solidFill>
            <a:prstDash val="solid"/>
          </a:ln>
        </p:spPr>
      </p:sp>
      <p:sp>
        <p:nvSpPr>
          <p:cNvPr id="64" name="Text 62"/>
          <p:cNvSpPr/>
          <p:nvPr/>
        </p:nvSpPr>
        <p:spPr>
          <a:xfrm>
            <a:off x="768096" y="5797296"/>
            <a:ext cx="841248" cy="146304"/>
          </a:xfrm>
          <a:prstGeom prst="rect">
            <a:avLst/>
          </a:prstGeom>
          <a:noFill/>
          <a:ln/>
        </p:spPr>
        <p:txBody>
          <a:bodyPr wrap="square" lIns="0" tIns="0" rIns="0" bIns="0" rtlCol="0" anchor="ctr">
            <a:normAutofit/>
          </a:bodyPr>
          <a:lstStyle/>
          <a:p>
            <a:pPr algn="l" indent="0" marL="0">
              <a:buNone/>
            </a:pPr>
            <a:r>
              <a:rPr lang="en-US" sz="780" b="1" spc="80" kern="0" dirty="0">
                <a:solidFill>
                  <a:srgbClr val="68D6E8"/>
                </a:solidFill>
                <a:latin typeface="Aptos Mono" pitchFamily="34" charset="0"/>
                <a:ea typeface="Aptos Mono" pitchFamily="34" charset="-122"/>
                <a:cs typeface="Aptos Mono" pitchFamily="34" charset="-120"/>
              </a:rPr>
              <a:t>AGENTS</a:t>
            </a:r>
            <a:endParaRPr lang="en-US" sz="780" dirty="0"/>
          </a:p>
        </p:txBody>
      </p:sp>
      <p:sp>
        <p:nvSpPr>
          <p:cNvPr id="65" name="Text 63"/>
          <p:cNvSpPr/>
          <p:nvPr/>
        </p:nvSpPr>
        <p:spPr>
          <a:xfrm>
            <a:off x="1865376" y="5760720"/>
            <a:ext cx="1024128" cy="182880"/>
          </a:xfrm>
          <a:prstGeom prst="rect">
            <a:avLst/>
          </a:prstGeom>
          <a:noFill/>
          <a:ln/>
        </p:spPr>
        <p:txBody>
          <a:bodyPr wrap="square" lIns="0" tIns="0" rIns="0" bIns="0" rtlCol="0" anchor="ctr">
            <a:normAutofit/>
          </a:bodyPr>
          <a:lstStyle/>
          <a:p>
            <a:pPr algn="l" indent="0" marL="0">
              <a:buNone/>
            </a:pPr>
            <a:r>
              <a:rPr lang="en-US" sz="1020" b="1" dirty="0">
                <a:solidFill>
                  <a:srgbClr val="F5F7F8"/>
                </a:solidFill>
                <a:latin typeface="Aptos Display" pitchFamily="34" charset="0"/>
                <a:ea typeface="Aptos Display" pitchFamily="34" charset="-122"/>
                <a:cs typeface="Aptos Display" pitchFamily="34" charset="-120"/>
              </a:rPr>
              <a:t>artefacts</a:t>
            </a:r>
            <a:endParaRPr lang="en-US" sz="1020" dirty="0"/>
          </a:p>
        </p:txBody>
      </p:sp>
      <p:sp>
        <p:nvSpPr>
          <p:cNvPr id="66" name="Text 64"/>
          <p:cNvSpPr/>
          <p:nvPr/>
        </p:nvSpPr>
        <p:spPr>
          <a:xfrm>
            <a:off x="4681728" y="5797296"/>
            <a:ext cx="1005840" cy="146304"/>
          </a:xfrm>
          <a:prstGeom prst="rect">
            <a:avLst/>
          </a:prstGeom>
          <a:noFill/>
          <a:ln/>
        </p:spPr>
        <p:txBody>
          <a:bodyPr wrap="square" lIns="0" tIns="0" rIns="0" bIns="0" rtlCol="0" anchor="ctr">
            <a:normAutofit/>
          </a:bodyPr>
          <a:lstStyle/>
          <a:p>
            <a:pPr algn="l" indent="0" marL="0">
              <a:buNone/>
            </a:pPr>
            <a:r>
              <a:rPr lang="en-US" sz="780" b="1" spc="80" kern="0" dirty="0">
                <a:solidFill>
                  <a:srgbClr val="F4B84A"/>
                </a:solidFill>
                <a:latin typeface="Aptos Mono" pitchFamily="34" charset="0"/>
                <a:ea typeface="Aptos Mono" pitchFamily="34" charset="-122"/>
                <a:cs typeface="Aptos Mono" pitchFamily="34" charset="-120"/>
              </a:rPr>
              <a:t>FRONTIÈRE</a:t>
            </a:r>
            <a:endParaRPr lang="en-US" sz="780" dirty="0"/>
          </a:p>
        </p:txBody>
      </p:sp>
      <p:sp>
        <p:nvSpPr>
          <p:cNvPr id="67" name="Text 65"/>
          <p:cNvSpPr/>
          <p:nvPr/>
        </p:nvSpPr>
        <p:spPr>
          <a:xfrm>
            <a:off x="5980176" y="5760720"/>
            <a:ext cx="1298448" cy="182880"/>
          </a:xfrm>
          <a:prstGeom prst="rect">
            <a:avLst/>
          </a:prstGeom>
          <a:noFill/>
          <a:ln/>
        </p:spPr>
        <p:txBody>
          <a:bodyPr wrap="square" lIns="0" tIns="0" rIns="0" bIns="0" rtlCol="0" anchor="ctr">
            <a:normAutofit/>
          </a:bodyPr>
          <a:lstStyle/>
          <a:p>
            <a:pPr algn="l" indent="0" marL="0">
              <a:buNone/>
            </a:pPr>
            <a:r>
              <a:rPr lang="en-US" sz="1020" b="1" dirty="0">
                <a:solidFill>
                  <a:srgbClr val="F5F7F8"/>
                </a:solidFill>
                <a:latin typeface="Aptos Display" pitchFamily="34" charset="0"/>
                <a:ea typeface="Aptos Display" pitchFamily="34" charset="-122"/>
                <a:cs typeface="Aptos Display" pitchFamily="34" charset="-120"/>
              </a:rPr>
              <a:t>terminal borné</a:t>
            </a:r>
            <a:endParaRPr lang="en-US" sz="1020" dirty="0"/>
          </a:p>
        </p:txBody>
      </p:sp>
      <p:sp>
        <p:nvSpPr>
          <p:cNvPr id="68" name="Text 66"/>
          <p:cNvSpPr/>
          <p:nvPr/>
        </p:nvSpPr>
        <p:spPr>
          <a:xfrm>
            <a:off x="9125712" y="5797296"/>
            <a:ext cx="841248" cy="146304"/>
          </a:xfrm>
          <a:prstGeom prst="rect">
            <a:avLst/>
          </a:prstGeom>
          <a:noFill/>
          <a:ln/>
        </p:spPr>
        <p:txBody>
          <a:bodyPr wrap="square" lIns="0" tIns="0" rIns="0" bIns="0" rtlCol="0" anchor="ctr">
            <a:normAutofit/>
          </a:bodyPr>
          <a:lstStyle/>
          <a:p>
            <a:pPr algn="l" indent="0" marL="0">
              <a:buNone/>
            </a:pPr>
            <a:r>
              <a:rPr lang="en-US" sz="780" b="1" spc="80" kern="0" dirty="0">
                <a:solidFill>
                  <a:srgbClr val="41D3AE"/>
                </a:solidFill>
                <a:latin typeface="Aptos Mono" pitchFamily="34" charset="0"/>
                <a:ea typeface="Aptos Mono" pitchFamily="34" charset="-122"/>
                <a:cs typeface="Aptos Mono" pitchFamily="34" charset="-120"/>
              </a:rPr>
              <a:t>HUMAIN</a:t>
            </a:r>
            <a:endParaRPr lang="en-US" sz="780" dirty="0"/>
          </a:p>
        </p:txBody>
      </p:sp>
      <p:sp>
        <p:nvSpPr>
          <p:cNvPr id="69" name="Text 67"/>
          <p:cNvSpPr/>
          <p:nvPr/>
        </p:nvSpPr>
        <p:spPr>
          <a:xfrm>
            <a:off x="10149840" y="5760720"/>
            <a:ext cx="1133856" cy="182880"/>
          </a:xfrm>
          <a:prstGeom prst="rect">
            <a:avLst/>
          </a:prstGeom>
          <a:noFill/>
          <a:ln/>
        </p:spPr>
        <p:txBody>
          <a:bodyPr wrap="square" lIns="0" tIns="0" rIns="0" bIns="0" rtlCol="0" anchor="ctr">
            <a:normAutofit/>
          </a:bodyPr>
          <a:lstStyle/>
          <a:p>
            <a:pPr algn="r" indent="0" marL="0">
              <a:buNone/>
            </a:pPr>
            <a:r>
              <a:rPr lang="en-US" sz="980" b="1" dirty="0">
                <a:solidFill>
                  <a:srgbClr val="F5F7F8"/>
                </a:solidFill>
                <a:latin typeface="Aptos Display" pitchFamily="34" charset="0"/>
                <a:ea typeface="Aptos Display" pitchFamily="34" charset="-122"/>
                <a:cs typeface="Aptos Display" pitchFamily="34" charset="-120"/>
              </a:rPr>
              <a:t>décision finale</a:t>
            </a:r>
            <a:endParaRPr lang="en-US" sz="9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117"/>
        </a:solidFill>
      </p:bgPr>
    </p:bg>
    <p:spTree>
      <p:nvGrpSpPr>
        <p:cNvPr id="1" name=""/>
        <p:cNvGrpSpPr/>
        <p:nvPr/>
      </p:nvGrpSpPr>
      <p:grpSpPr>
        <a:xfrm>
          <a:off x="0" y="0"/>
          <a:ext cx="0" cy="0"/>
          <a:chOff x="0" y="0"/>
          <a:chExt cx="0" cy="0"/>
        </a:xfrm>
      </p:grpSpPr>
      <p:sp>
        <p:nvSpPr>
          <p:cNvPr id="2" name="Shape 0"/>
          <p:cNvSpPr/>
          <p:nvPr/>
        </p:nvSpPr>
        <p:spPr>
          <a:xfrm>
            <a:off x="676656" y="411480"/>
            <a:ext cx="10735056" cy="0"/>
          </a:xfrm>
          <a:prstGeom prst="line">
            <a:avLst/>
          </a:prstGeom>
          <a:noFill/>
          <a:ln w="10160">
            <a:solidFill>
              <a:srgbClr val="344653">
                <a:alpha val="85000"/>
              </a:srgbClr>
            </a:solidFill>
            <a:prstDash val="solid"/>
          </a:ln>
        </p:spPr>
      </p:sp>
      <p:sp>
        <p:nvSpPr>
          <p:cNvPr id="3" name="Shape 1"/>
          <p:cNvSpPr/>
          <p:nvPr/>
        </p:nvSpPr>
        <p:spPr>
          <a:xfrm>
            <a:off x="658368" y="356616"/>
            <a:ext cx="73152" cy="73152"/>
          </a:xfrm>
          <a:prstGeom prst="ellipse">
            <a:avLst/>
          </a:prstGeom>
          <a:solidFill>
            <a:srgbClr val="41D3AE"/>
          </a:solidFill>
          <a:ln w="12700">
            <a:solidFill>
              <a:srgbClr val="41D3AE">
                <a:alpha val="0"/>
              </a:srgbClr>
            </a:solidFill>
            <a:prstDash val="solid"/>
          </a:ln>
        </p:spPr>
      </p:sp>
      <p:sp>
        <p:nvSpPr>
          <p:cNvPr id="4" name="Text 2"/>
          <p:cNvSpPr/>
          <p:nvPr/>
        </p:nvSpPr>
        <p:spPr>
          <a:xfrm>
            <a:off x="822960" y="201168"/>
            <a:ext cx="1207008" cy="164592"/>
          </a:xfrm>
          <a:prstGeom prst="rect">
            <a:avLst/>
          </a:prstGeom>
          <a:noFill/>
          <a:ln/>
        </p:spPr>
        <p:txBody>
          <a:bodyPr wrap="square" lIns="0" tIns="0" rIns="0" bIns="0" rtlCol="0" anchor="ctr">
            <a:normAutofit/>
          </a:bodyPr>
          <a:lstStyle/>
          <a:p>
            <a:pPr algn="l" indent="0" marL="0">
              <a:buNone/>
            </a:pPr>
            <a:r>
              <a:rPr lang="en-US" sz="760" b="1" dirty="0">
                <a:solidFill>
                  <a:srgbClr val="9EADB8"/>
                </a:solidFill>
                <a:latin typeface="Aptos" pitchFamily="34" charset="0"/>
                <a:ea typeface="Aptos" pitchFamily="34" charset="-122"/>
                <a:cs typeface="Aptos" pitchFamily="34" charset="-120"/>
              </a:rPr>
              <a:t>Contexte</a:t>
            </a:r>
            <a:endParaRPr lang="en-US" sz="760" dirty="0"/>
          </a:p>
        </p:txBody>
      </p:sp>
      <p:sp>
        <p:nvSpPr>
          <p:cNvPr id="5" name="Shape 3"/>
          <p:cNvSpPr/>
          <p:nvPr/>
        </p:nvSpPr>
        <p:spPr>
          <a:xfrm>
            <a:off x="2130552" y="356616"/>
            <a:ext cx="73152" cy="73152"/>
          </a:xfrm>
          <a:prstGeom prst="ellipse">
            <a:avLst/>
          </a:prstGeom>
          <a:solidFill>
            <a:srgbClr val="41D3AE"/>
          </a:solidFill>
          <a:ln w="12700">
            <a:solidFill>
              <a:srgbClr val="41D3AE">
                <a:alpha val="0"/>
              </a:srgbClr>
            </a:solidFill>
            <a:prstDash val="solid"/>
          </a:ln>
        </p:spPr>
      </p:sp>
      <p:sp>
        <p:nvSpPr>
          <p:cNvPr id="6" name="Text 4"/>
          <p:cNvSpPr/>
          <p:nvPr/>
        </p:nvSpPr>
        <p:spPr>
          <a:xfrm>
            <a:off x="2295144" y="201168"/>
            <a:ext cx="1207008" cy="164592"/>
          </a:xfrm>
          <a:prstGeom prst="rect">
            <a:avLst/>
          </a:prstGeom>
          <a:noFill/>
          <a:ln/>
        </p:spPr>
        <p:txBody>
          <a:bodyPr wrap="square" lIns="0" tIns="0" rIns="0" bIns="0" rtlCol="0" anchor="ctr">
            <a:normAutofit/>
          </a:bodyPr>
          <a:lstStyle/>
          <a:p>
            <a:pPr algn="l" indent="0" marL="0">
              <a:buNone/>
            </a:pPr>
            <a:r>
              <a:rPr lang="en-US" sz="760" b="1" dirty="0">
                <a:solidFill>
                  <a:srgbClr val="9EADB8"/>
                </a:solidFill>
                <a:latin typeface="Aptos" pitchFamily="34" charset="0"/>
                <a:ea typeface="Aptos" pitchFamily="34" charset="-122"/>
                <a:cs typeface="Aptos" pitchFamily="34" charset="-120"/>
              </a:rPr>
              <a:t>Solution</a:t>
            </a:r>
            <a:endParaRPr lang="en-US" sz="760" dirty="0"/>
          </a:p>
        </p:txBody>
      </p:sp>
      <p:sp>
        <p:nvSpPr>
          <p:cNvPr id="7" name="Shape 5"/>
          <p:cNvSpPr/>
          <p:nvPr/>
        </p:nvSpPr>
        <p:spPr>
          <a:xfrm>
            <a:off x="3493008" y="356616"/>
            <a:ext cx="73152" cy="73152"/>
          </a:xfrm>
          <a:prstGeom prst="ellipse">
            <a:avLst/>
          </a:prstGeom>
          <a:solidFill>
            <a:srgbClr val="41D3AE"/>
          </a:solidFill>
          <a:ln w="12700">
            <a:solidFill>
              <a:srgbClr val="41D3AE">
                <a:alpha val="0"/>
              </a:srgbClr>
            </a:solidFill>
            <a:prstDash val="solid"/>
          </a:ln>
        </p:spPr>
      </p:sp>
      <p:sp>
        <p:nvSpPr>
          <p:cNvPr id="8" name="Text 6"/>
          <p:cNvSpPr/>
          <p:nvPr/>
        </p:nvSpPr>
        <p:spPr>
          <a:xfrm>
            <a:off x="3657600" y="201168"/>
            <a:ext cx="1207008" cy="164592"/>
          </a:xfrm>
          <a:prstGeom prst="rect">
            <a:avLst/>
          </a:prstGeom>
          <a:noFill/>
          <a:ln/>
        </p:spPr>
        <p:txBody>
          <a:bodyPr wrap="square" lIns="0" tIns="0" rIns="0" bIns="0" rtlCol="0" anchor="ctr">
            <a:normAutofit/>
          </a:bodyPr>
          <a:lstStyle/>
          <a:p>
            <a:pPr algn="l" indent="0" marL="0">
              <a:buNone/>
            </a:pPr>
            <a:r>
              <a:rPr lang="en-US" sz="760" b="1" dirty="0">
                <a:solidFill>
                  <a:srgbClr val="9EADB8"/>
                </a:solidFill>
                <a:latin typeface="Aptos" pitchFamily="34" charset="0"/>
                <a:ea typeface="Aptos" pitchFamily="34" charset="-122"/>
                <a:cs typeface="Aptos" pitchFamily="34" charset="-120"/>
              </a:rPr>
              <a:t>Architecture</a:t>
            </a:r>
            <a:endParaRPr lang="en-US" sz="760" dirty="0"/>
          </a:p>
        </p:txBody>
      </p:sp>
      <p:sp>
        <p:nvSpPr>
          <p:cNvPr id="9" name="Shape 7"/>
          <p:cNvSpPr/>
          <p:nvPr/>
        </p:nvSpPr>
        <p:spPr>
          <a:xfrm>
            <a:off x="5001768" y="356616"/>
            <a:ext cx="109728" cy="109728"/>
          </a:xfrm>
          <a:prstGeom prst="ellipse">
            <a:avLst/>
          </a:prstGeom>
          <a:solidFill>
            <a:srgbClr val="68D6E8"/>
          </a:solidFill>
          <a:ln w="12700">
            <a:solidFill>
              <a:srgbClr val="68D6E8">
                <a:alpha val="0"/>
              </a:srgbClr>
            </a:solidFill>
            <a:prstDash val="solid"/>
          </a:ln>
        </p:spPr>
      </p:sp>
      <p:sp>
        <p:nvSpPr>
          <p:cNvPr id="10" name="Text 8"/>
          <p:cNvSpPr/>
          <p:nvPr/>
        </p:nvSpPr>
        <p:spPr>
          <a:xfrm>
            <a:off x="5166360" y="201168"/>
            <a:ext cx="1097280" cy="164592"/>
          </a:xfrm>
          <a:prstGeom prst="rect">
            <a:avLst/>
          </a:prstGeom>
          <a:noFill/>
          <a:ln/>
        </p:spPr>
        <p:txBody>
          <a:bodyPr wrap="square" lIns="0" tIns="0" rIns="0" bIns="0" rtlCol="0" anchor="ctr">
            <a:normAutofit/>
          </a:bodyPr>
          <a:lstStyle/>
          <a:p>
            <a:pPr algn="l" indent="0" marL="0">
              <a:buNone/>
            </a:pPr>
            <a:r>
              <a:rPr lang="en-US" sz="810" b="1" dirty="0">
                <a:solidFill>
                  <a:srgbClr val="68D6E8"/>
                </a:solidFill>
                <a:latin typeface="Aptos" pitchFamily="34" charset="0"/>
                <a:ea typeface="Aptos" pitchFamily="34" charset="-122"/>
                <a:cs typeface="Aptos" pitchFamily="34" charset="-120"/>
              </a:rPr>
              <a:t>Réalisation</a:t>
            </a:r>
            <a:endParaRPr lang="en-US" sz="810" dirty="0"/>
          </a:p>
        </p:txBody>
      </p:sp>
      <p:sp>
        <p:nvSpPr>
          <p:cNvPr id="11" name="Shape 9"/>
          <p:cNvSpPr/>
          <p:nvPr/>
        </p:nvSpPr>
        <p:spPr>
          <a:xfrm>
            <a:off x="5148072" y="521208"/>
            <a:ext cx="896112" cy="0"/>
          </a:xfrm>
          <a:prstGeom prst="line">
            <a:avLst/>
          </a:prstGeom>
          <a:noFill/>
          <a:ln w="22860">
            <a:solidFill>
              <a:srgbClr val="68D6E8"/>
            </a:solidFill>
            <a:prstDash val="solid"/>
          </a:ln>
        </p:spPr>
      </p:sp>
      <p:sp>
        <p:nvSpPr>
          <p:cNvPr id="12" name="Shape 10"/>
          <p:cNvSpPr/>
          <p:nvPr/>
        </p:nvSpPr>
        <p:spPr>
          <a:xfrm>
            <a:off x="6583680" y="356616"/>
            <a:ext cx="73152" cy="73152"/>
          </a:xfrm>
          <a:prstGeom prst="ellipse">
            <a:avLst/>
          </a:prstGeom>
          <a:solidFill>
            <a:srgbClr val="344653">
              <a:alpha val="80000"/>
            </a:srgbClr>
          </a:solidFill>
          <a:ln w="12700">
            <a:solidFill>
              <a:srgbClr val="344653">
                <a:alpha val="0"/>
              </a:srgbClr>
            </a:solidFill>
            <a:prstDash val="solid"/>
          </a:ln>
        </p:spPr>
      </p:sp>
      <p:sp>
        <p:nvSpPr>
          <p:cNvPr id="13" name="Text 11"/>
          <p:cNvSpPr/>
          <p:nvPr/>
        </p:nvSpPr>
        <p:spPr>
          <a:xfrm>
            <a:off x="6748272" y="201168"/>
            <a:ext cx="1207008" cy="164592"/>
          </a:xfrm>
          <a:prstGeom prst="rect">
            <a:avLst/>
          </a:prstGeom>
          <a:noFill/>
          <a:ln/>
        </p:spPr>
        <p:txBody>
          <a:bodyPr wrap="square" lIns="0" tIns="0" rIns="0" bIns="0" rtlCol="0" anchor="ctr">
            <a:normAutofit/>
          </a:bodyPr>
          <a:lstStyle/>
          <a:p>
            <a:pPr algn="l" indent="0" marL="0">
              <a:buNone/>
            </a:pPr>
            <a:r>
              <a:rPr lang="en-US" sz="760" dirty="0">
                <a:solidFill>
                  <a:srgbClr val="9EADB8"/>
                </a:solidFill>
                <a:latin typeface="Aptos" pitchFamily="34" charset="0"/>
                <a:ea typeface="Aptos" pitchFamily="34" charset="-122"/>
                <a:cs typeface="Aptos" pitchFamily="34" charset="-120"/>
              </a:rPr>
              <a:t>Démo</a:t>
            </a:r>
            <a:endParaRPr lang="en-US" sz="760" dirty="0"/>
          </a:p>
        </p:txBody>
      </p:sp>
      <p:sp>
        <p:nvSpPr>
          <p:cNvPr id="14" name="Shape 12"/>
          <p:cNvSpPr/>
          <p:nvPr/>
        </p:nvSpPr>
        <p:spPr>
          <a:xfrm>
            <a:off x="8229600" y="356616"/>
            <a:ext cx="73152" cy="73152"/>
          </a:xfrm>
          <a:prstGeom prst="ellipse">
            <a:avLst/>
          </a:prstGeom>
          <a:solidFill>
            <a:srgbClr val="344653">
              <a:alpha val="80000"/>
            </a:srgbClr>
          </a:solidFill>
          <a:ln w="12700">
            <a:solidFill>
              <a:srgbClr val="344653">
                <a:alpha val="0"/>
              </a:srgbClr>
            </a:solidFill>
            <a:prstDash val="solid"/>
          </a:ln>
        </p:spPr>
      </p:sp>
      <p:sp>
        <p:nvSpPr>
          <p:cNvPr id="15" name="Text 13"/>
          <p:cNvSpPr/>
          <p:nvPr/>
        </p:nvSpPr>
        <p:spPr>
          <a:xfrm>
            <a:off x="8394192" y="201168"/>
            <a:ext cx="1207008" cy="164592"/>
          </a:xfrm>
          <a:prstGeom prst="rect">
            <a:avLst/>
          </a:prstGeom>
          <a:noFill/>
          <a:ln/>
        </p:spPr>
        <p:txBody>
          <a:bodyPr wrap="square" lIns="0" tIns="0" rIns="0" bIns="0" rtlCol="0" anchor="ctr">
            <a:normAutofit/>
          </a:bodyPr>
          <a:lstStyle/>
          <a:p>
            <a:pPr algn="l" indent="0" marL="0">
              <a:buNone/>
            </a:pPr>
            <a:r>
              <a:rPr lang="en-US" sz="760" dirty="0">
                <a:solidFill>
                  <a:srgbClr val="9EADB8"/>
                </a:solidFill>
                <a:latin typeface="Aptos" pitchFamily="34" charset="0"/>
                <a:ea typeface="Aptos" pitchFamily="34" charset="-122"/>
                <a:cs typeface="Aptos" pitchFamily="34" charset="-120"/>
              </a:rPr>
              <a:t>Résultats</a:t>
            </a:r>
            <a:endParaRPr lang="en-US" sz="760" dirty="0"/>
          </a:p>
        </p:txBody>
      </p:sp>
      <p:sp>
        <p:nvSpPr>
          <p:cNvPr id="16" name="Shape 14"/>
          <p:cNvSpPr/>
          <p:nvPr/>
        </p:nvSpPr>
        <p:spPr>
          <a:xfrm>
            <a:off x="9784080" y="356616"/>
            <a:ext cx="73152" cy="73152"/>
          </a:xfrm>
          <a:prstGeom prst="ellipse">
            <a:avLst/>
          </a:prstGeom>
          <a:solidFill>
            <a:srgbClr val="344653">
              <a:alpha val="80000"/>
            </a:srgbClr>
          </a:solidFill>
          <a:ln w="12700">
            <a:solidFill>
              <a:srgbClr val="344653">
                <a:alpha val="0"/>
              </a:srgbClr>
            </a:solidFill>
            <a:prstDash val="solid"/>
          </a:ln>
        </p:spPr>
      </p:sp>
      <p:sp>
        <p:nvSpPr>
          <p:cNvPr id="17" name="Text 15"/>
          <p:cNvSpPr/>
          <p:nvPr/>
        </p:nvSpPr>
        <p:spPr>
          <a:xfrm>
            <a:off x="9948672" y="201168"/>
            <a:ext cx="1207008" cy="164592"/>
          </a:xfrm>
          <a:prstGeom prst="rect">
            <a:avLst/>
          </a:prstGeom>
          <a:noFill/>
          <a:ln/>
        </p:spPr>
        <p:txBody>
          <a:bodyPr wrap="square" lIns="0" tIns="0" rIns="0" bIns="0" rtlCol="0" anchor="ctr">
            <a:normAutofit/>
          </a:bodyPr>
          <a:lstStyle/>
          <a:p>
            <a:pPr algn="l" indent="0" marL="0">
              <a:buNone/>
            </a:pPr>
            <a:r>
              <a:rPr lang="en-US" sz="760" dirty="0">
                <a:solidFill>
                  <a:srgbClr val="9EADB8"/>
                </a:solidFill>
                <a:latin typeface="Aptos" pitchFamily="34" charset="0"/>
                <a:ea typeface="Aptos" pitchFamily="34" charset="-122"/>
                <a:cs typeface="Aptos" pitchFamily="34" charset="-120"/>
              </a:rPr>
              <a:t>Conclusion</a:t>
            </a:r>
            <a:endParaRPr lang="en-US" sz="760" dirty="0"/>
          </a:p>
        </p:txBody>
      </p:sp>
      <p:sp>
        <p:nvSpPr>
          <p:cNvPr id="18" name="Shape 16"/>
          <p:cNvSpPr/>
          <p:nvPr/>
        </p:nvSpPr>
        <p:spPr>
          <a:xfrm>
            <a:off x="658368" y="6428232"/>
            <a:ext cx="10863072" cy="0"/>
          </a:xfrm>
          <a:prstGeom prst="line">
            <a:avLst/>
          </a:prstGeom>
          <a:noFill/>
          <a:ln w="8890">
            <a:solidFill>
              <a:srgbClr val="344653">
                <a:alpha val="80000"/>
              </a:srgbClr>
            </a:solidFill>
            <a:prstDash val="solid"/>
          </a:ln>
        </p:spPr>
      </p:sp>
      <p:sp>
        <p:nvSpPr>
          <p:cNvPr id="19" name="Text 17"/>
          <p:cNvSpPr/>
          <p:nvPr/>
        </p:nvSpPr>
        <p:spPr>
          <a:xfrm>
            <a:off x="658368" y="6510528"/>
            <a:ext cx="2926080" cy="146304"/>
          </a:xfrm>
          <a:prstGeom prst="rect">
            <a:avLst/>
          </a:prstGeom>
          <a:noFill/>
          <a:ln/>
        </p:spPr>
        <p:txBody>
          <a:bodyPr wrap="square" lIns="0" tIns="0" rIns="0" bIns="0" rtlCol="0" anchor="ctr">
            <a:normAutofit/>
          </a:bodyPr>
          <a:lstStyle/>
          <a:p>
            <a:pPr algn="l" indent="0" marL="0">
              <a:buNone/>
            </a:pPr>
            <a:r>
              <a:rPr lang="en-US" sz="720" b="1" spc="120" kern="0" dirty="0">
                <a:solidFill>
                  <a:srgbClr val="6C7F89"/>
                </a:solidFill>
                <a:latin typeface="Aptos Mono" pitchFamily="34" charset="0"/>
                <a:ea typeface="Aptos Mono" pitchFamily="34" charset="-122"/>
                <a:cs typeface="Aptos Mono" pitchFamily="34" charset="-120"/>
              </a:rPr>
              <a:t>AGENTIC MIGRATION PLATFORM</a:t>
            </a:r>
            <a:endParaRPr lang="en-US" sz="720" dirty="0"/>
          </a:p>
        </p:txBody>
      </p:sp>
      <p:sp>
        <p:nvSpPr>
          <p:cNvPr id="20" name="Text 18"/>
          <p:cNvSpPr/>
          <p:nvPr/>
        </p:nvSpPr>
        <p:spPr>
          <a:xfrm>
            <a:off x="10561320" y="6501384"/>
            <a:ext cx="950976" cy="155448"/>
          </a:xfrm>
          <a:prstGeom prst="rect">
            <a:avLst/>
          </a:prstGeom>
          <a:noFill/>
          <a:ln/>
        </p:spPr>
        <p:txBody>
          <a:bodyPr wrap="square" lIns="0" tIns="0" rIns="0" bIns="0" rtlCol="0" anchor="ctr">
            <a:normAutofit/>
          </a:bodyPr>
          <a:lstStyle/>
          <a:p>
            <a:pPr algn="r" indent="0" marL="0">
              <a:buNone/>
            </a:pPr>
            <a:r>
              <a:rPr lang="en-US" sz="770" b="1" spc="80" kern="0" dirty="0">
                <a:solidFill>
                  <a:srgbClr val="6C7F89"/>
                </a:solidFill>
                <a:latin typeface="Aptos Mono" pitchFamily="34" charset="0"/>
                <a:ea typeface="Aptos Mono" pitchFamily="34" charset="-122"/>
                <a:cs typeface="Aptos Mono" pitchFamily="34" charset="-120"/>
              </a:rPr>
              <a:t>12 / 18</a:t>
            </a:r>
            <a:endParaRPr lang="en-US" sz="770" dirty="0"/>
          </a:p>
        </p:txBody>
      </p:sp>
      <p:sp>
        <p:nvSpPr>
          <p:cNvPr id="21" name="Text 19"/>
          <p:cNvSpPr/>
          <p:nvPr/>
        </p:nvSpPr>
        <p:spPr>
          <a:xfrm>
            <a:off x="658368" y="758952"/>
            <a:ext cx="3200400" cy="164592"/>
          </a:xfrm>
          <a:prstGeom prst="rect">
            <a:avLst/>
          </a:prstGeom>
          <a:noFill/>
          <a:ln/>
        </p:spPr>
        <p:txBody>
          <a:bodyPr wrap="square" lIns="0" tIns="0" rIns="0" bIns="0" rtlCol="0" anchor="ctr">
            <a:normAutofit/>
          </a:bodyPr>
          <a:lstStyle/>
          <a:p>
            <a:pPr algn="l" indent="0" marL="0">
              <a:buNone/>
            </a:pPr>
            <a:r>
              <a:rPr lang="en-US" sz="900" b="1" spc="135" kern="0" dirty="0">
                <a:solidFill>
                  <a:srgbClr val="68D6E8"/>
                </a:solidFill>
                <a:latin typeface="Aptos Mono" pitchFamily="34" charset="0"/>
                <a:ea typeface="Aptos Mono" pitchFamily="34" charset="-122"/>
                <a:cs typeface="Aptos Mono" pitchFamily="34" charset="-120"/>
              </a:rPr>
              <a:t>RÉALISATION</a:t>
            </a:r>
            <a:endParaRPr lang="en-US" sz="900" dirty="0"/>
          </a:p>
        </p:txBody>
      </p:sp>
      <p:sp>
        <p:nvSpPr>
          <p:cNvPr id="22" name="Text 20"/>
          <p:cNvSpPr/>
          <p:nvPr/>
        </p:nvSpPr>
        <p:spPr>
          <a:xfrm>
            <a:off x="658368" y="969264"/>
            <a:ext cx="10607040" cy="493776"/>
          </a:xfrm>
          <a:prstGeom prst="rect">
            <a:avLst/>
          </a:prstGeom>
          <a:noFill/>
          <a:ln/>
        </p:spPr>
        <p:txBody>
          <a:bodyPr wrap="square" lIns="0" tIns="0" rIns="0" bIns="0" rtlCol="0" anchor="t">
            <a:normAutofit/>
          </a:bodyPr>
          <a:lstStyle/>
          <a:p>
            <a:pPr algn="l" indent="0" marL="0">
              <a:buNone/>
            </a:pPr>
            <a:r>
              <a:rPr lang="en-US" sz="2900" b="1" dirty="0">
                <a:solidFill>
                  <a:srgbClr val="F5F7F8"/>
                </a:solidFill>
                <a:latin typeface="Aptos Display" pitchFamily="34" charset="0"/>
                <a:ea typeface="Aptos Display" pitchFamily="34" charset="-122"/>
                <a:cs typeface="Aptos Display" pitchFamily="34" charset="-120"/>
              </a:rPr>
              <a:t>Réparer sous contrôle</a:t>
            </a:r>
            <a:endParaRPr lang="en-US" sz="2900" dirty="0"/>
          </a:p>
        </p:txBody>
      </p:sp>
      <p:sp>
        <p:nvSpPr>
          <p:cNvPr id="23" name="Text 21"/>
          <p:cNvSpPr/>
          <p:nvPr/>
        </p:nvSpPr>
        <p:spPr>
          <a:xfrm>
            <a:off x="658368" y="1499616"/>
            <a:ext cx="9966960" cy="256032"/>
          </a:xfrm>
          <a:prstGeom prst="rect">
            <a:avLst/>
          </a:prstGeom>
          <a:noFill/>
          <a:ln/>
        </p:spPr>
        <p:txBody>
          <a:bodyPr wrap="square" lIns="0" tIns="0" rIns="0" bIns="0" rtlCol="0" anchor="t">
            <a:normAutofit/>
          </a:bodyPr>
          <a:lstStyle/>
          <a:p>
            <a:pPr algn="l" indent="0" marL="0">
              <a:buNone/>
            </a:pPr>
            <a:r>
              <a:rPr lang="en-US" sz="1200" dirty="0">
                <a:solidFill>
                  <a:srgbClr val="9EADB8"/>
                </a:solidFill>
                <a:latin typeface="Aptos" pitchFamily="34" charset="0"/>
                <a:ea typeface="Aptos" pitchFamily="34" charset="-122"/>
                <a:cs typeface="Aptos" pitchFamily="34" charset="-120"/>
              </a:rPr>
              <a:t>Un échec est gelé, contextualisé, décidé sous contrôle puis revalidé.</a:t>
            </a:r>
            <a:endParaRPr lang="en-US" sz="1200" dirty="0"/>
          </a:p>
        </p:txBody>
      </p:sp>
      <p:sp>
        <p:nvSpPr>
          <p:cNvPr id="24" name="Text 22"/>
          <p:cNvSpPr/>
          <p:nvPr/>
        </p:nvSpPr>
        <p:spPr>
          <a:xfrm>
            <a:off x="731520" y="2048256"/>
            <a:ext cx="2011680" cy="164592"/>
          </a:xfrm>
          <a:prstGeom prst="rect">
            <a:avLst/>
          </a:prstGeom>
          <a:noFill/>
          <a:ln/>
        </p:spPr>
        <p:txBody>
          <a:bodyPr wrap="square" lIns="0" tIns="0" rIns="0" bIns="0" rtlCol="0" anchor="ctr">
            <a:normAutofit/>
          </a:bodyPr>
          <a:lstStyle/>
          <a:p>
            <a:pPr algn="l" indent="0" marL="0">
              <a:buNone/>
            </a:pPr>
            <a:r>
              <a:rPr lang="en-US" sz="840" b="1" spc="120" kern="0" dirty="0">
                <a:solidFill>
                  <a:srgbClr val="68D6E8"/>
                </a:solidFill>
                <a:latin typeface="Aptos Mono" pitchFamily="34" charset="0"/>
                <a:ea typeface="Aptos Mono" pitchFamily="34" charset="-122"/>
                <a:cs typeface="Aptos Mono" pitchFamily="34" charset="-120"/>
              </a:rPr>
              <a:t>GOVERNED REPAIR</a:t>
            </a:r>
            <a:endParaRPr lang="en-US" sz="840" dirty="0"/>
          </a:p>
        </p:txBody>
      </p:sp>
      <p:sp>
        <p:nvSpPr>
          <p:cNvPr id="25" name="Shape 23"/>
          <p:cNvSpPr/>
          <p:nvPr/>
        </p:nvSpPr>
        <p:spPr>
          <a:xfrm>
            <a:off x="950976" y="2761488"/>
            <a:ext cx="1371600" cy="841248"/>
          </a:xfrm>
          <a:prstGeom prst="rect">
            <a:avLst/>
          </a:prstGeom>
          <a:solidFill>
            <a:srgbClr val="131D26"/>
          </a:solidFill>
          <a:ln w="12700">
            <a:solidFill>
              <a:srgbClr val="FF6F72"/>
            </a:solidFill>
            <a:prstDash val="solid"/>
          </a:ln>
        </p:spPr>
      </p:sp>
      <p:sp>
        <p:nvSpPr>
          <p:cNvPr id="26" name="Text 24"/>
          <p:cNvSpPr/>
          <p:nvPr/>
        </p:nvSpPr>
        <p:spPr>
          <a:xfrm>
            <a:off x="1097280" y="2926080"/>
            <a:ext cx="237744" cy="146304"/>
          </a:xfrm>
          <a:prstGeom prst="rect">
            <a:avLst/>
          </a:prstGeom>
          <a:noFill/>
          <a:ln/>
        </p:spPr>
        <p:txBody>
          <a:bodyPr wrap="square" lIns="0" tIns="0" rIns="0" bIns="0" rtlCol="0" anchor="ctr">
            <a:normAutofit/>
          </a:bodyPr>
          <a:lstStyle/>
          <a:p>
            <a:pPr algn="l" indent="0" marL="0">
              <a:buNone/>
            </a:pPr>
            <a:r>
              <a:rPr lang="en-US" sz="740" b="1" spc="20" kern="0" dirty="0">
                <a:solidFill>
                  <a:srgbClr val="FF6F72"/>
                </a:solidFill>
                <a:latin typeface="Aptos Mono" pitchFamily="34" charset="0"/>
                <a:ea typeface="Aptos Mono" pitchFamily="34" charset="-122"/>
                <a:cs typeface="Aptos Mono" pitchFamily="34" charset="-120"/>
              </a:rPr>
              <a:t>01</a:t>
            </a:r>
            <a:endParaRPr lang="en-US" sz="740" dirty="0"/>
          </a:p>
        </p:txBody>
      </p:sp>
      <p:sp>
        <p:nvSpPr>
          <p:cNvPr id="27" name="Text 25"/>
          <p:cNvSpPr/>
          <p:nvPr/>
        </p:nvSpPr>
        <p:spPr>
          <a:xfrm>
            <a:off x="1389888" y="2907792"/>
            <a:ext cx="749808" cy="384048"/>
          </a:xfrm>
          <a:prstGeom prst="rect">
            <a:avLst/>
          </a:prstGeom>
          <a:noFill/>
          <a:ln/>
        </p:spPr>
        <p:txBody>
          <a:bodyPr wrap="square" lIns="0" tIns="0" rIns="0" bIns="0" rtlCol="0" anchor="t">
            <a:normAutofit/>
          </a:bodyPr>
          <a:lstStyle/>
          <a:p>
            <a:pPr algn="l" indent="0" marL="0">
              <a:buNone/>
            </a:pPr>
            <a:r>
              <a:rPr lang="en-US" sz="1100" b="1" dirty="0">
                <a:solidFill>
                  <a:srgbClr val="F5F7F8"/>
                </a:solidFill>
                <a:latin typeface="Aptos Display" pitchFamily="34" charset="0"/>
                <a:ea typeface="Aptos Display" pitchFamily="34" charset="-122"/>
                <a:cs typeface="Aptos Display" pitchFamily="34" charset="-120"/>
              </a:rPr>
              <a:t>Échec</a:t>
            </a:r>
            <a:endParaRPr lang="en-US" sz="1100" dirty="0"/>
          </a:p>
          <a:p>
            <a:pPr algn="l" indent="0" marL="0">
              <a:buNone/>
            </a:pPr>
            <a:r>
              <a:rPr lang="en-US" sz="1100" b="1" dirty="0">
                <a:solidFill>
                  <a:srgbClr val="F5F7F8"/>
                </a:solidFill>
                <a:latin typeface="Aptos Display" pitchFamily="34" charset="0"/>
                <a:ea typeface="Aptos Display" pitchFamily="34" charset="-122"/>
                <a:cs typeface="Aptos Display" pitchFamily="34" charset="-120"/>
              </a:rPr>
              <a:t>gelé</a:t>
            </a:r>
            <a:endParaRPr lang="en-US" sz="1100" dirty="0"/>
          </a:p>
        </p:txBody>
      </p:sp>
      <p:sp>
        <p:nvSpPr>
          <p:cNvPr id="28" name="Shape 26"/>
          <p:cNvSpPr/>
          <p:nvPr/>
        </p:nvSpPr>
        <p:spPr>
          <a:xfrm>
            <a:off x="2359152" y="3182112"/>
            <a:ext cx="438912" cy="0"/>
          </a:xfrm>
          <a:prstGeom prst="line">
            <a:avLst/>
          </a:prstGeom>
          <a:noFill/>
          <a:ln w="13970">
            <a:solidFill>
              <a:srgbClr val="6C7F89"/>
            </a:solidFill>
            <a:prstDash val="solid"/>
            <a:tailEnd type="triangle"/>
          </a:ln>
        </p:spPr>
      </p:sp>
      <p:sp>
        <p:nvSpPr>
          <p:cNvPr id="29" name="Shape 27"/>
          <p:cNvSpPr/>
          <p:nvPr/>
        </p:nvSpPr>
        <p:spPr>
          <a:xfrm>
            <a:off x="2889504" y="2761488"/>
            <a:ext cx="1371600" cy="841248"/>
          </a:xfrm>
          <a:prstGeom prst="rect">
            <a:avLst/>
          </a:prstGeom>
          <a:solidFill>
            <a:srgbClr val="131D26"/>
          </a:solidFill>
          <a:ln w="12700">
            <a:solidFill>
              <a:srgbClr val="4E9DFF"/>
            </a:solidFill>
            <a:prstDash val="solid"/>
          </a:ln>
        </p:spPr>
      </p:sp>
      <p:sp>
        <p:nvSpPr>
          <p:cNvPr id="30" name="Text 28"/>
          <p:cNvSpPr/>
          <p:nvPr/>
        </p:nvSpPr>
        <p:spPr>
          <a:xfrm>
            <a:off x="3035808" y="2926080"/>
            <a:ext cx="237744" cy="146304"/>
          </a:xfrm>
          <a:prstGeom prst="rect">
            <a:avLst/>
          </a:prstGeom>
          <a:noFill/>
          <a:ln/>
        </p:spPr>
        <p:txBody>
          <a:bodyPr wrap="square" lIns="0" tIns="0" rIns="0" bIns="0" rtlCol="0" anchor="ctr">
            <a:normAutofit/>
          </a:bodyPr>
          <a:lstStyle/>
          <a:p>
            <a:pPr algn="l" indent="0" marL="0">
              <a:buNone/>
            </a:pPr>
            <a:r>
              <a:rPr lang="en-US" sz="740" b="1" spc="20" kern="0" dirty="0">
                <a:solidFill>
                  <a:srgbClr val="4E9DFF"/>
                </a:solidFill>
                <a:latin typeface="Aptos Mono" pitchFamily="34" charset="0"/>
                <a:ea typeface="Aptos Mono" pitchFamily="34" charset="-122"/>
                <a:cs typeface="Aptos Mono" pitchFamily="34" charset="-120"/>
              </a:rPr>
              <a:t>02</a:t>
            </a:r>
            <a:endParaRPr lang="en-US" sz="740" dirty="0"/>
          </a:p>
        </p:txBody>
      </p:sp>
      <p:sp>
        <p:nvSpPr>
          <p:cNvPr id="31" name="Text 29"/>
          <p:cNvSpPr/>
          <p:nvPr/>
        </p:nvSpPr>
        <p:spPr>
          <a:xfrm>
            <a:off x="3328416" y="2907792"/>
            <a:ext cx="749808" cy="384048"/>
          </a:xfrm>
          <a:prstGeom prst="rect">
            <a:avLst/>
          </a:prstGeom>
          <a:noFill/>
          <a:ln/>
        </p:spPr>
        <p:txBody>
          <a:bodyPr wrap="square" lIns="0" tIns="0" rIns="0" bIns="0" rtlCol="0" anchor="t">
            <a:normAutofit/>
          </a:bodyPr>
          <a:lstStyle/>
          <a:p>
            <a:pPr algn="l" indent="0" marL="0">
              <a:buNone/>
            </a:pPr>
            <a:r>
              <a:rPr lang="en-US" sz="1100" b="1" dirty="0">
                <a:solidFill>
                  <a:srgbClr val="F5F7F8"/>
                </a:solidFill>
                <a:latin typeface="Aptos Display" pitchFamily="34" charset="0"/>
                <a:ea typeface="Aptos Display" pitchFamily="34" charset="-122"/>
                <a:cs typeface="Aptos Display" pitchFamily="34" charset="-120"/>
              </a:rPr>
              <a:t>Contexte</a:t>
            </a:r>
            <a:endParaRPr lang="en-US" sz="1100" dirty="0"/>
          </a:p>
          <a:p>
            <a:pPr algn="l" indent="0" marL="0">
              <a:buNone/>
            </a:pPr>
            <a:r>
              <a:rPr lang="en-US" sz="1100" b="1" dirty="0">
                <a:solidFill>
                  <a:srgbClr val="F5F7F8"/>
                </a:solidFill>
                <a:latin typeface="Aptos Display" pitchFamily="34" charset="0"/>
                <a:ea typeface="Aptos Display" pitchFamily="34" charset="-122"/>
                <a:cs typeface="Aptos Display" pitchFamily="34" charset="-120"/>
              </a:rPr>
              <a:t>rassemblé</a:t>
            </a:r>
            <a:endParaRPr lang="en-US" sz="1100" dirty="0"/>
          </a:p>
        </p:txBody>
      </p:sp>
      <p:sp>
        <p:nvSpPr>
          <p:cNvPr id="32" name="Shape 30"/>
          <p:cNvSpPr/>
          <p:nvPr/>
        </p:nvSpPr>
        <p:spPr>
          <a:xfrm>
            <a:off x="4297680" y="3182112"/>
            <a:ext cx="438912" cy="0"/>
          </a:xfrm>
          <a:prstGeom prst="line">
            <a:avLst/>
          </a:prstGeom>
          <a:noFill/>
          <a:ln w="13970">
            <a:solidFill>
              <a:srgbClr val="6C7F89"/>
            </a:solidFill>
            <a:prstDash val="solid"/>
            <a:tailEnd type="triangle"/>
          </a:ln>
        </p:spPr>
      </p:sp>
      <p:sp>
        <p:nvSpPr>
          <p:cNvPr id="33" name="Shape 31"/>
          <p:cNvSpPr/>
          <p:nvPr/>
        </p:nvSpPr>
        <p:spPr>
          <a:xfrm>
            <a:off x="4828032" y="2761488"/>
            <a:ext cx="1371600" cy="841248"/>
          </a:xfrm>
          <a:prstGeom prst="rect">
            <a:avLst/>
          </a:prstGeom>
          <a:solidFill>
            <a:srgbClr val="131D26"/>
          </a:solidFill>
          <a:ln w="12700">
            <a:solidFill>
              <a:srgbClr val="68D6E8"/>
            </a:solidFill>
            <a:prstDash val="solid"/>
          </a:ln>
        </p:spPr>
      </p:sp>
      <p:sp>
        <p:nvSpPr>
          <p:cNvPr id="34" name="Text 32"/>
          <p:cNvSpPr/>
          <p:nvPr/>
        </p:nvSpPr>
        <p:spPr>
          <a:xfrm>
            <a:off x="4974336" y="2926080"/>
            <a:ext cx="237744" cy="146304"/>
          </a:xfrm>
          <a:prstGeom prst="rect">
            <a:avLst/>
          </a:prstGeom>
          <a:noFill/>
          <a:ln/>
        </p:spPr>
        <p:txBody>
          <a:bodyPr wrap="square" lIns="0" tIns="0" rIns="0" bIns="0" rtlCol="0" anchor="ctr">
            <a:normAutofit/>
          </a:bodyPr>
          <a:lstStyle/>
          <a:p>
            <a:pPr algn="l" indent="0" marL="0">
              <a:buNone/>
            </a:pPr>
            <a:r>
              <a:rPr lang="en-US" sz="740" b="1" spc="20" kern="0" dirty="0">
                <a:solidFill>
                  <a:srgbClr val="68D6E8"/>
                </a:solidFill>
                <a:latin typeface="Aptos Mono" pitchFamily="34" charset="0"/>
                <a:ea typeface="Aptos Mono" pitchFamily="34" charset="-122"/>
                <a:cs typeface="Aptos Mono" pitchFamily="34" charset="-120"/>
              </a:rPr>
              <a:t>03</a:t>
            </a:r>
            <a:endParaRPr lang="en-US" sz="740" dirty="0"/>
          </a:p>
        </p:txBody>
      </p:sp>
      <p:sp>
        <p:nvSpPr>
          <p:cNvPr id="35" name="Text 33"/>
          <p:cNvSpPr/>
          <p:nvPr/>
        </p:nvSpPr>
        <p:spPr>
          <a:xfrm>
            <a:off x="5266944" y="2907792"/>
            <a:ext cx="749808" cy="384048"/>
          </a:xfrm>
          <a:prstGeom prst="rect">
            <a:avLst/>
          </a:prstGeom>
          <a:noFill/>
          <a:ln/>
        </p:spPr>
        <p:txBody>
          <a:bodyPr wrap="square" lIns="0" tIns="0" rIns="0" bIns="0" rtlCol="0" anchor="t">
            <a:normAutofit/>
          </a:bodyPr>
          <a:lstStyle/>
          <a:p>
            <a:pPr algn="l" indent="0" marL="0">
              <a:buNone/>
            </a:pPr>
            <a:r>
              <a:rPr lang="en-US" sz="1100" b="1" dirty="0">
                <a:solidFill>
                  <a:srgbClr val="F5F7F8"/>
                </a:solidFill>
                <a:latin typeface="Aptos Display" pitchFamily="34" charset="0"/>
                <a:ea typeface="Aptos Display" pitchFamily="34" charset="-122"/>
                <a:cs typeface="Aptos Display" pitchFamily="34" charset="-120"/>
              </a:rPr>
              <a:t>Proposition</a:t>
            </a:r>
            <a:endParaRPr lang="en-US" sz="1100" dirty="0"/>
          </a:p>
          <a:p>
            <a:pPr algn="l" indent="0" marL="0">
              <a:buNone/>
            </a:pPr>
            <a:r>
              <a:rPr lang="en-US" sz="1100" b="1" dirty="0">
                <a:solidFill>
                  <a:srgbClr val="F5F7F8"/>
                </a:solidFill>
                <a:latin typeface="Aptos Display" pitchFamily="34" charset="0"/>
                <a:ea typeface="Aptos Display" pitchFamily="34" charset="-122"/>
                <a:cs typeface="Aptos Display" pitchFamily="34" charset="-120"/>
              </a:rPr>
              <a:t>agent</a:t>
            </a:r>
            <a:endParaRPr lang="en-US" sz="1100" dirty="0"/>
          </a:p>
        </p:txBody>
      </p:sp>
      <p:sp>
        <p:nvSpPr>
          <p:cNvPr id="36" name="Shape 34"/>
          <p:cNvSpPr/>
          <p:nvPr/>
        </p:nvSpPr>
        <p:spPr>
          <a:xfrm>
            <a:off x="6236208" y="3182112"/>
            <a:ext cx="438912" cy="0"/>
          </a:xfrm>
          <a:prstGeom prst="line">
            <a:avLst/>
          </a:prstGeom>
          <a:noFill/>
          <a:ln w="13970">
            <a:solidFill>
              <a:srgbClr val="6C7F89"/>
            </a:solidFill>
            <a:prstDash val="solid"/>
            <a:tailEnd type="triangle"/>
          </a:ln>
        </p:spPr>
      </p:sp>
      <p:sp>
        <p:nvSpPr>
          <p:cNvPr id="37" name="Shape 35"/>
          <p:cNvSpPr/>
          <p:nvPr/>
        </p:nvSpPr>
        <p:spPr>
          <a:xfrm>
            <a:off x="6766560" y="2761488"/>
            <a:ext cx="1371600" cy="841248"/>
          </a:xfrm>
          <a:prstGeom prst="rect">
            <a:avLst/>
          </a:prstGeom>
          <a:solidFill>
            <a:srgbClr val="131D26"/>
          </a:solidFill>
          <a:ln w="12700">
            <a:solidFill>
              <a:srgbClr val="F4B84A"/>
            </a:solidFill>
            <a:prstDash val="solid"/>
          </a:ln>
        </p:spPr>
      </p:sp>
      <p:sp>
        <p:nvSpPr>
          <p:cNvPr id="38" name="Text 36"/>
          <p:cNvSpPr/>
          <p:nvPr/>
        </p:nvSpPr>
        <p:spPr>
          <a:xfrm>
            <a:off x="6912864" y="2926080"/>
            <a:ext cx="237744" cy="146304"/>
          </a:xfrm>
          <a:prstGeom prst="rect">
            <a:avLst/>
          </a:prstGeom>
          <a:noFill/>
          <a:ln/>
        </p:spPr>
        <p:txBody>
          <a:bodyPr wrap="square" lIns="0" tIns="0" rIns="0" bIns="0" rtlCol="0" anchor="ctr">
            <a:normAutofit/>
          </a:bodyPr>
          <a:lstStyle/>
          <a:p>
            <a:pPr algn="l" indent="0" marL="0">
              <a:buNone/>
            </a:pPr>
            <a:r>
              <a:rPr lang="en-US" sz="740" b="1" spc="20" kern="0" dirty="0">
                <a:solidFill>
                  <a:srgbClr val="F4B84A"/>
                </a:solidFill>
                <a:latin typeface="Aptos Mono" pitchFamily="34" charset="0"/>
                <a:ea typeface="Aptos Mono" pitchFamily="34" charset="-122"/>
                <a:cs typeface="Aptos Mono" pitchFamily="34" charset="-120"/>
              </a:rPr>
              <a:t>04</a:t>
            </a:r>
            <a:endParaRPr lang="en-US" sz="740" dirty="0"/>
          </a:p>
        </p:txBody>
      </p:sp>
      <p:sp>
        <p:nvSpPr>
          <p:cNvPr id="39" name="Text 37"/>
          <p:cNvSpPr/>
          <p:nvPr/>
        </p:nvSpPr>
        <p:spPr>
          <a:xfrm>
            <a:off x="7205472" y="2907792"/>
            <a:ext cx="749808" cy="384048"/>
          </a:xfrm>
          <a:prstGeom prst="rect">
            <a:avLst/>
          </a:prstGeom>
          <a:noFill/>
          <a:ln/>
        </p:spPr>
        <p:txBody>
          <a:bodyPr wrap="square" lIns="0" tIns="0" rIns="0" bIns="0" rtlCol="0" anchor="t">
            <a:normAutofit/>
          </a:bodyPr>
          <a:lstStyle/>
          <a:p>
            <a:pPr algn="l" indent="0" marL="0">
              <a:buNone/>
            </a:pPr>
            <a:r>
              <a:rPr lang="en-US" sz="1100" b="1" dirty="0">
                <a:solidFill>
                  <a:srgbClr val="F5F7F8"/>
                </a:solidFill>
                <a:latin typeface="Aptos Display" pitchFamily="34" charset="0"/>
                <a:ea typeface="Aptos Display" pitchFamily="34" charset="-122"/>
                <a:cs typeface="Aptos Display" pitchFamily="34" charset="-120"/>
              </a:rPr>
              <a:t>Review</a:t>
            </a:r>
            <a:endParaRPr lang="en-US" sz="1100" dirty="0"/>
          </a:p>
        </p:txBody>
      </p:sp>
      <p:sp>
        <p:nvSpPr>
          <p:cNvPr id="40" name="Shape 38"/>
          <p:cNvSpPr/>
          <p:nvPr/>
        </p:nvSpPr>
        <p:spPr>
          <a:xfrm>
            <a:off x="4846320" y="4078224"/>
            <a:ext cx="2487168" cy="877824"/>
          </a:xfrm>
          <a:prstGeom prst="rect">
            <a:avLst/>
          </a:prstGeom>
          <a:solidFill>
            <a:srgbClr val="F4B84A"/>
          </a:solidFill>
          <a:ln w="12700">
            <a:solidFill>
              <a:srgbClr val="F4B84A">
                <a:alpha val="0"/>
              </a:srgbClr>
            </a:solidFill>
            <a:prstDash val="solid"/>
          </a:ln>
        </p:spPr>
      </p:sp>
      <p:sp>
        <p:nvSpPr>
          <p:cNvPr id="41" name="Text 39"/>
          <p:cNvSpPr/>
          <p:nvPr/>
        </p:nvSpPr>
        <p:spPr>
          <a:xfrm>
            <a:off x="5102352" y="4297680"/>
            <a:ext cx="640080" cy="146304"/>
          </a:xfrm>
          <a:prstGeom prst="rect">
            <a:avLst/>
          </a:prstGeom>
          <a:noFill/>
          <a:ln/>
        </p:spPr>
        <p:txBody>
          <a:bodyPr wrap="square" lIns="0" tIns="0" rIns="0" bIns="0" rtlCol="0" anchor="ctr">
            <a:normAutofit/>
          </a:bodyPr>
          <a:lstStyle/>
          <a:p>
            <a:pPr algn="l" indent="0" marL="0">
              <a:buNone/>
            </a:pPr>
            <a:r>
              <a:rPr lang="en-US" sz="780" b="1" spc="80" kern="0" dirty="0">
                <a:solidFill>
                  <a:srgbClr val="101820"/>
                </a:solidFill>
                <a:latin typeface="Aptos Mono" pitchFamily="34" charset="0"/>
                <a:ea typeface="Aptos Mono" pitchFamily="34" charset="-122"/>
                <a:cs typeface="Aptos Mono" pitchFamily="34" charset="-120"/>
              </a:rPr>
              <a:t>GATE</a:t>
            </a:r>
            <a:endParaRPr lang="en-US" sz="780" dirty="0"/>
          </a:p>
        </p:txBody>
      </p:sp>
      <p:sp>
        <p:nvSpPr>
          <p:cNvPr id="42" name="Text 40"/>
          <p:cNvSpPr/>
          <p:nvPr/>
        </p:nvSpPr>
        <p:spPr>
          <a:xfrm>
            <a:off x="5925312" y="4242816"/>
            <a:ext cx="1097280" cy="201168"/>
          </a:xfrm>
          <a:prstGeom prst="rect">
            <a:avLst/>
          </a:prstGeom>
          <a:noFill/>
          <a:ln/>
        </p:spPr>
        <p:txBody>
          <a:bodyPr wrap="square" lIns="0" tIns="0" rIns="0" bIns="0" rtlCol="0" anchor="ctr">
            <a:normAutofit/>
          </a:bodyPr>
          <a:lstStyle/>
          <a:p>
            <a:pPr algn="ctr" indent="0" marL="0">
              <a:buNone/>
            </a:pPr>
            <a:r>
              <a:rPr lang="en-US" sz="1140" b="1" dirty="0">
                <a:solidFill>
                  <a:srgbClr val="101820"/>
                </a:solidFill>
                <a:latin typeface="Aptos Display" pitchFamily="34" charset="0"/>
                <a:ea typeface="Aptos Display" pitchFamily="34" charset="-122"/>
                <a:cs typeface="Aptos Display" pitchFamily="34" charset="-120"/>
              </a:rPr>
              <a:t>DÉCISION HUMAINE</a:t>
            </a:r>
            <a:endParaRPr lang="en-US" sz="1140" dirty="0"/>
          </a:p>
        </p:txBody>
      </p:sp>
      <p:sp>
        <p:nvSpPr>
          <p:cNvPr id="43" name="Shape 41"/>
          <p:cNvSpPr/>
          <p:nvPr/>
        </p:nvSpPr>
        <p:spPr>
          <a:xfrm>
            <a:off x="8174736" y="3182112"/>
            <a:ext cx="237744" cy="0"/>
          </a:xfrm>
          <a:prstGeom prst="line">
            <a:avLst/>
          </a:prstGeom>
          <a:noFill/>
          <a:ln w="16510">
            <a:solidFill>
              <a:srgbClr val="F4B84A"/>
            </a:solidFill>
            <a:prstDash val="solid"/>
            <a:tailEnd type="triangle"/>
          </a:ln>
        </p:spPr>
      </p:sp>
      <p:sp>
        <p:nvSpPr>
          <p:cNvPr id="44" name="Shape 42"/>
          <p:cNvSpPr/>
          <p:nvPr/>
        </p:nvSpPr>
        <p:spPr>
          <a:xfrm>
            <a:off x="8449056" y="2761488"/>
            <a:ext cx="1389888" cy="841248"/>
          </a:xfrm>
          <a:prstGeom prst="rect">
            <a:avLst/>
          </a:prstGeom>
          <a:solidFill>
            <a:srgbClr val="131D26"/>
          </a:solidFill>
          <a:ln w="12700">
            <a:solidFill>
              <a:srgbClr val="4E9DFF"/>
            </a:solidFill>
            <a:prstDash val="solid"/>
          </a:ln>
        </p:spPr>
      </p:sp>
      <p:sp>
        <p:nvSpPr>
          <p:cNvPr id="45" name="Text 43"/>
          <p:cNvSpPr/>
          <p:nvPr/>
        </p:nvSpPr>
        <p:spPr>
          <a:xfrm>
            <a:off x="8613648" y="2926080"/>
            <a:ext cx="237744" cy="146304"/>
          </a:xfrm>
          <a:prstGeom prst="rect">
            <a:avLst/>
          </a:prstGeom>
          <a:noFill/>
          <a:ln/>
        </p:spPr>
        <p:txBody>
          <a:bodyPr wrap="square" lIns="0" tIns="0" rIns="0" bIns="0" rtlCol="0" anchor="ctr">
            <a:normAutofit/>
          </a:bodyPr>
          <a:lstStyle/>
          <a:p>
            <a:pPr algn="l" indent="0" marL="0">
              <a:buNone/>
            </a:pPr>
            <a:r>
              <a:rPr lang="en-US" sz="740" b="1" spc="20" kern="0" dirty="0">
                <a:solidFill>
                  <a:srgbClr val="4E9DFF"/>
                </a:solidFill>
                <a:latin typeface="Aptos Mono" pitchFamily="34" charset="0"/>
                <a:ea typeface="Aptos Mono" pitchFamily="34" charset="-122"/>
                <a:cs typeface="Aptos Mono" pitchFamily="34" charset="-120"/>
              </a:rPr>
              <a:t>05</a:t>
            </a:r>
            <a:endParaRPr lang="en-US" sz="740" dirty="0"/>
          </a:p>
        </p:txBody>
      </p:sp>
      <p:sp>
        <p:nvSpPr>
          <p:cNvPr id="46" name="Text 44"/>
          <p:cNvSpPr/>
          <p:nvPr/>
        </p:nvSpPr>
        <p:spPr>
          <a:xfrm>
            <a:off x="8942832" y="2907792"/>
            <a:ext cx="658368" cy="384048"/>
          </a:xfrm>
          <a:prstGeom prst="rect">
            <a:avLst/>
          </a:prstGeom>
          <a:noFill/>
          <a:ln/>
        </p:spPr>
        <p:txBody>
          <a:bodyPr wrap="square" lIns="0" tIns="0" rIns="0" bIns="0" rtlCol="0" anchor="t">
            <a:normAutofit/>
          </a:bodyPr>
          <a:lstStyle/>
          <a:p>
            <a:pPr algn="l" indent="0" marL="0">
              <a:buNone/>
            </a:pPr>
            <a:r>
              <a:rPr lang="en-US" sz="1100" b="1" dirty="0">
                <a:solidFill>
                  <a:srgbClr val="F5F7F8"/>
                </a:solidFill>
                <a:latin typeface="Aptos Display" pitchFamily="34" charset="0"/>
                <a:ea typeface="Aptos Display" pitchFamily="34" charset="-122"/>
                <a:cs typeface="Aptos Display" pitchFamily="34" charset="-120"/>
              </a:rPr>
              <a:t>Apply</a:t>
            </a:r>
            <a:endParaRPr lang="en-US" sz="1100" dirty="0"/>
          </a:p>
          <a:p>
            <a:pPr algn="l" indent="0" marL="0">
              <a:buNone/>
            </a:pPr>
            <a:r>
              <a:rPr lang="en-US" sz="1100" b="1" dirty="0">
                <a:solidFill>
                  <a:srgbClr val="F5F7F8"/>
                </a:solidFill>
                <a:latin typeface="Aptos Display" pitchFamily="34" charset="0"/>
                <a:ea typeface="Aptos Display" pitchFamily="34" charset="-122"/>
                <a:cs typeface="Aptos Display" pitchFamily="34" charset="-120"/>
              </a:rPr>
              <a:t>isolé</a:t>
            </a:r>
            <a:endParaRPr lang="en-US" sz="1100" dirty="0"/>
          </a:p>
        </p:txBody>
      </p:sp>
      <p:sp>
        <p:nvSpPr>
          <p:cNvPr id="47" name="Shape 45"/>
          <p:cNvSpPr/>
          <p:nvPr/>
        </p:nvSpPr>
        <p:spPr>
          <a:xfrm>
            <a:off x="9875520" y="3182112"/>
            <a:ext cx="493776" cy="0"/>
          </a:xfrm>
          <a:prstGeom prst="line">
            <a:avLst/>
          </a:prstGeom>
          <a:noFill/>
          <a:ln w="15240">
            <a:solidFill>
              <a:srgbClr val="41D3AE"/>
            </a:solidFill>
            <a:prstDash val="solid"/>
            <a:tailEnd type="triangle"/>
          </a:ln>
        </p:spPr>
      </p:sp>
      <p:sp>
        <p:nvSpPr>
          <p:cNvPr id="48" name="Shape 46"/>
          <p:cNvSpPr/>
          <p:nvPr/>
        </p:nvSpPr>
        <p:spPr>
          <a:xfrm>
            <a:off x="10405872" y="2761488"/>
            <a:ext cx="914400" cy="841248"/>
          </a:xfrm>
          <a:prstGeom prst="rect">
            <a:avLst/>
          </a:prstGeom>
          <a:solidFill>
            <a:srgbClr val="131D26"/>
          </a:solidFill>
          <a:ln w="12700">
            <a:solidFill>
              <a:srgbClr val="41D3AE"/>
            </a:solidFill>
            <a:prstDash val="solid"/>
          </a:ln>
        </p:spPr>
      </p:sp>
      <p:sp>
        <p:nvSpPr>
          <p:cNvPr id="49" name="Text 47"/>
          <p:cNvSpPr/>
          <p:nvPr/>
        </p:nvSpPr>
        <p:spPr>
          <a:xfrm>
            <a:off x="10533888" y="2926080"/>
            <a:ext cx="237744" cy="146304"/>
          </a:xfrm>
          <a:prstGeom prst="rect">
            <a:avLst/>
          </a:prstGeom>
          <a:noFill/>
          <a:ln/>
        </p:spPr>
        <p:txBody>
          <a:bodyPr wrap="square" lIns="0" tIns="0" rIns="0" bIns="0" rtlCol="0" anchor="ctr">
            <a:normAutofit/>
          </a:bodyPr>
          <a:lstStyle/>
          <a:p>
            <a:pPr algn="l" indent="0" marL="0">
              <a:buNone/>
            </a:pPr>
            <a:r>
              <a:rPr lang="en-US" sz="740" b="1" spc="20" kern="0" dirty="0">
                <a:solidFill>
                  <a:srgbClr val="41D3AE"/>
                </a:solidFill>
                <a:latin typeface="Aptos Mono" pitchFamily="34" charset="0"/>
                <a:ea typeface="Aptos Mono" pitchFamily="34" charset="-122"/>
                <a:cs typeface="Aptos Mono" pitchFamily="34" charset="-120"/>
              </a:rPr>
              <a:t>06</a:t>
            </a:r>
            <a:endParaRPr lang="en-US" sz="740" dirty="0"/>
          </a:p>
        </p:txBody>
      </p:sp>
      <p:sp>
        <p:nvSpPr>
          <p:cNvPr id="50" name="Text 48"/>
          <p:cNvSpPr/>
          <p:nvPr/>
        </p:nvSpPr>
        <p:spPr>
          <a:xfrm>
            <a:off x="10826496" y="2907792"/>
            <a:ext cx="365760" cy="384048"/>
          </a:xfrm>
          <a:prstGeom prst="rect">
            <a:avLst/>
          </a:prstGeom>
          <a:noFill/>
          <a:ln/>
        </p:spPr>
        <p:txBody>
          <a:bodyPr wrap="square" lIns="0" tIns="0" rIns="0" bIns="0" rtlCol="0" anchor="t">
            <a:normAutofit/>
          </a:bodyPr>
          <a:lstStyle/>
          <a:p>
            <a:pPr algn="l" indent="0" marL="0">
              <a:buNone/>
            </a:pPr>
            <a:r>
              <a:rPr lang="en-US" sz="1000" b="1" dirty="0">
                <a:solidFill>
                  <a:srgbClr val="F5F7F8"/>
                </a:solidFill>
                <a:latin typeface="Aptos Display" pitchFamily="34" charset="0"/>
                <a:ea typeface="Aptos Display" pitchFamily="34" charset="-122"/>
                <a:cs typeface="Aptos Display" pitchFamily="34" charset="-120"/>
              </a:rPr>
              <a:t>Build</a:t>
            </a:r>
            <a:endParaRPr lang="en-US" sz="1000" dirty="0"/>
          </a:p>
          <a:p>
            <a:pPr algn="l" indent="0" marL="0">
              <a:buNone/>
            </a:pPr>
            <a:r>
              <a:rPr lang="en-US" sz="1000" b="1" dirty="0">
                <a:solidFill>
                  <a:srgbClr val="F5F7F8"/>
                </a:solidFill>
                <a:latin typeface="Aptos Display" pitchFamily="34" charset="0"/>
                <a:ea typeface="Aptos Display" pitchFamily="34" charset="-122"/>
                <a:cs typeface="Aptos Display" pitchFamily="34" charset="-120"/>
              </a:rPr>
              <a:t>Test</a:t>
            </a:r>
            <a:endParaRPr lang="en-US" sz="1000" dirty="0"/>
          </a:p>
        </p:txBody>
      </p:sp>
      <p:sp>
        <p:nvSpPr>
          <p:cNvPr id="51" name="Shape 49"/>
          <p:cNvSpPr/>
          <p:nvPr/>
        </p:nvSpPr>
        <p:spPr>
          <a:xfrm>
            <a:off x="10863072" y="3675888"/>
            <a:ext cx="0" cy="1133856"/>
          </a:xfrm>
          <a:prstGeom prst="line">
            <a:avLst/>
          </a:prstGeom>
          <a:noFill/>
          <a:ln w="13970">
            <a:solidFill>
              <a:srgbClr val="41D3AE"/>
            </a:solidFill>
            <a:prstDash val="solid"/>
            <a:tailEnd type="triangle"/>
          </a:ln>
        </p:spPr>
      </p:sp>
      <p:sp>
        <p:nvSpPr>
          <p:cNvPr id="52" name="Shape 50"/>
          <p:cNvSpPr/>
          <p:nvPr/>
        </p:nvSpPr>
        <p:spPr>
          <a:xfrm>
            <a:off x="10863072" y="4956048"/>
            <a:ext cx="-2926080" cy="0"/>
          </a:xfrm>
          <a:prstGeom prst="line">
            <a:avLst/>
          </a:prstGeom>
          <a:noFill/>
          <a:ln w="13970">
            <a:solidFill>
              <a:srgbClr val="41D3AE"/>
            </a:solidFill>
            <a:prstDash val="solid"/>
            <a:tailEnd type="triangle"/>
          </a:ln>
        </p:spPr>
      </p:sp>
      <p:sp>
        <p:nvSpPr>
          <p:cNvPr id="53" name="Text 51"/>
          <p:cNvSpPr/>
          <p:nvPr/>
        </p:nvSpPr>
        <p:spPr>
          <a:xfrm>
            <a:off x="8174736" y="4681728"/>
            <a:ext cx="1280160" cy="164592"/>
          </a:xfrm>
          <a:prstGeom prst="rect">
            <a:avLst/>
          </a:prstGeom>
          <a:noFill/>
          <a:ln/>
        </p:spPr>
        <p:txBody>
          <a:bodyPr wrap="square" lIns="0" tIns="0" rIns="0" bIns="0" rtlCol="0" anchor="ctr">
            <a:normAutofit/>
          </a:bodyPr>
          <a:lstStyle/>
          <a:p>
            <a:pPr algn="l" indent="0" marL="0">
              <a:buNone/>
            </a:pPr>
            <a:r>
              <a:rPr lang="en-US" sz="780" b="1" spc="70" kern="0" dirty="0">
                <a:solidFill>
                  <a:srgbClr val="41D3AE"/>
                </a:solidFill>
                <a:latin typeface="Aptos Mono" pitchFamily="34" charset="0"/>
                <a:ea typeface="Aptos Mono" pitchFamily="34" charset="-122"/>
                <a:cs typeface="Aptos Mono" pitchFamily="34" charset="-120"/>
              </a:rPr>
              <a:t>REVALIDATION</a:t>
            </a:r>
            <a:endParaRPr lang="en-US" sz="780" dirty="0"/>
          </a:p>
        </p:txBody>
      </p:sp>
      <p:sp>
        <p:nvSpPr>
          <p:cNvPr id="54" name="Shape 52"/>
          <p:cNvSpPr/>
          <p:nvPr/>
        </p:nvSpPr>
        <p:spPr>
          <a:xfrm>
            <a:off x="4828032" y="5102352"/>
            <a:ext cx="2523744" cy="0"/>
          </a:xfrm>
          <a:prstGeom prst="line">
            <a:avLst/>
          </a:prstGeom>
          <a:noFill/>
          <a:ln w="10160">
            <a:solidFill>
              <a:srgbClr val="344653"/>
            </a:solidFill>
            <a:prstDash val="solid"/>
          </a:ln>
        </p:spPr>
      </p:sp>
      <p:sp>
        <p:nvSpPr>
          <p:cNvPr id="55" name="Text 53"/>
          <p:cNvSpPr/>
          <p:nvPr/>
        </p:nvSpPr>
        <p:spPr>
          <a:xfrm>
            <a:off x="950976" y="5413248"/>
            <a:ext cx="1005840" cy="155448"/>
          </a:xfrm>
          <a:prstGeom prst="rect">
            <a:avLst/>
          </a:prstGeom>
          <a:noFill/>
          <a:ln/>
        </p:spPr>
        <p:txBody>
          <a:bodyPr wrap="square" lIns="0" tIns="0" rIns="0" bIns="0" rtlCol="0" anchor="ctr">
            <a:normAutofit/>
          </a:bodyPr>
          <a:lstStyle/>
          <a:p>
            <a:pPr algn="l" indent="0" marL="0">
              <a:buNone/>
            </a:pPr>
            <a:r>
              <a:rPr lang="en-US" sz="770" b="1" spc="80" kern="0" dirty="0">
                <a:solidFill>
                  <a:srgbClr val="68D6E8"/>
                </a:solidFill>
                <a:latin typeface="Aptos Mono" pitchFamily="34" charset="0"/>
                <a:ea typeface="Aptos Mono" pitchFamily="34" charset="-122"/>
                <a:cs typeface="Aptos Mono" pitchFamily="34" charset="-120"/>
              </a:rPr>
              <a:t>CHECKSUM</a:t>
            </a:r>
            <a:endParaRPr lang="en-US" sz="770" dirty="0"/>
          </a:p>
        </p:txBody>
      </p:sp>
      <p:sp>
        <p:nvSpPr>
          <p:cNvPr id="56" name="Text 54"/>
          <p:cNvSpPr/>
          <p:nvPr/>
        </p:nvSpPr>
        <p:spPr>
          <a:xfrm>
            <a:off x="2157984" y="5376672"/>
            <a:ext cx="2084832" cy="182880"/>
          </a:xfrm>
          <a:prstGeom prst="rect">
            <a:avLst/>
          </a:prstGeom>
          <a:noFill/>
          <a:ln/>
        </p:spPr>
        <p:txBody>
          <a:bodyPr wrap="square" lIns="0" tIns="0" rIns="0" bIns="0" rtlCol="0" anchor="ctr">
            <a:normAutofit/>
          </a:bodyPr>
          <a:lstStyle/>
          <a:p>
            <a:pPr algn="l" indent="0" marL="0">
              <a:buNone/>
            </a:pPr>
            <a:r>
              <a:rPr lang="en-US" sz="960" b="1" dirty="0">
                <a:solidFill>
                  <a:srgbClr val="9EADB8"/>
                </a:solidFill>
                <a:latin typeface="Aptos Display" pitchFamily="34" charset="0"/>
                <a:ea typeface="Aptos Display" pitchFamily="34" charset="-122"/>
                <a:cs typeface="Aptos Display" pitchFamily="34" charset="-120"/>
              </a:rPr>
              <a:t>décider sur le bon artefact</a:t>
            </a:r>
            <a:endParaRPr lang="en-US" sz="960" dirty="0"/>
          </a:p>
        </p:txBody>
      </p:sp>
      <p:sp>
        <p:nvSpPr>
          <p:cNvPr id="57" name="Text 55"/>
          <p:cNvSpPr/>
          <p:nvPr/>
        </p:nvSpPr>
        <p:spPr>
          <a:xfrm>
            <a:off x="4645152" y="5413248"/>
            <a:ext cx="877824" cy="155448"/>
          </a:xfrm>
          <a:prstGeom prst="rect">
            <a:avLst/>
          </a:prstGeom>
          <a:noFill/>
          <a:ln/>
        </p:spPr>
        <p:txBody>
          <a:bodyPr wrap="square" lIns="0" tIns="0" rIns="0" bIns="0" rtlCol="0" anchor="ctr">
            <a:normAutofit/>
          </a:bodyPr>
          <a:lstStyle/>
          <a:p>
            <a:pPr algn="l" indent="0" marL="0">
              <a:buNone/>
            </a:pPr>
            <a:r>
              <a:rPr lang="en-US" sz="770" b="1" spc="80" kern="0" dirty="0">
                <a:solidFill>
                  <a:srgbClr val="F4B84A"/>
                </a:solidFill>
                <a:latin typeface="Aptos Mono" pitchFamily="34" charset="0"/>
                <a:ea typeface="Aptos Mono" pitchFamily="34" charset="-122"/>
                <a:cs typeface="Aptos Mono" pitchFamily="34" charset="-120"/>
              </a:rPr>
              <a:t>BORNAGE</a:t>
            </a:r>
            <a:endParaRPr lang="en-US" sz="770" dirty="0"/>
          </a:p>
        </p:txBody>
      </p:sp>
      <p:sp>
        <p:nvSpPr>
          <p:cNvPr id="58" name="Text 56"/>
          <p:cNvSpPr/>
          <p:nvPr/>
        </p:nvSpPr>
        <p:spPr>
          <a:xfrm>
            <a:off x="5742432" y="5376672"/>
            <a:ext cx="1572768" cy="182880"/>
          </a:xfrm>
          <a:prstGeom prst="rect">
            <a:avLst/>
          </a:prstGeom>
          <a:noFill/>
          <a:ln/>
        </p:spPr>
        <p:txBody>
          <a:bodyPr wrap="square" lIns="0" tIns="0" rIns="0" bIns="0" rtlCol="0" anchor="ctr">
            <a:normAutofit/>
          </a:bodyPr>
          <a:lstStyle/>
          <a:p>
            <a:pPr algn="l" indent="0" marL="0">
              <a:buNone/>
            </a:pPr>
            <a:r>
              <a:rPr lang="en-US" sz="960" b="1" dirty="0">
                <a:solidFill>
                  <a:srgbClr val="9EADB8"/>
                </a:solidFill>
                <a:latin typeface="Aptos Display" pitchFamily="34" charset="0"/>
                <a:ea typeface="Aptos Display" pitchFamily="34" charset="-122"/>
                <a:cs typeface="Aptos Display" pitchFamily="34" charset="-120"/>
              </a:rPr>
              <a:t>limiter les tentatives</a:t>
            </a:r>
            <a:endParaRPr lang="en-US" sz="960" dirty="0"/>
          </a:p>
        </p:txBody>
      </p:sp>
      <p:sp>
        <p:nvSpPr>
          <p:cNvPr id="59" name="Text 57"/>
          <p:cNvSpPr/>
          <p:nvPr/>
        </p:nvSpPr>
        <p:spPr>
          <a:xfrm>
            <a:off x="7827264" y="5413248"/>
            <a:ext cx="1042416" cy="155448"/>
          </a:xfrm>
          <a:prstGeom prst="rect">
            <a:avLst/>
          </a:prstGeom>
          <a:noFill/>
          <a:ln/>
        </p:spPr>
        <p:txBody>
          <a:bodyPr wrap="square" lIns="0" tIns="0" rIns="0" bIns="0" rtlCol="0" anchor="ctr">
            <a:normAutofit/>
          </a:bodyPr>
          <a:lstStyle/>
          <a:p>
            <a:pPr algn="l" indent="0" marL="0">
              <a:buNone/>
            </a:pPr>
            <a:r>
              <a:rPr lang="en-US" sz="770" b="1" spc="80" kern="0" dirty="0">
                <a:solidFill>
                  <a:srgbClr val="41D3AE"/>
                </a:solidFill>
                <a:latin typeface="Aptos Mono" pitchFamily="34" charset="0"/>
                <a:ea typeface="Aptos Mono" pitchFamily="34" charset="-122"/>
                <a:cs typeface="Aptos Mono" pitchFamily="34" charset="-120"/>
              </a:rPr>
              <a:t>HISTORIQUE</a:t>
            </a:r>
            <a:endParaRPr lang="en-US" sz="770" dirty="0"/>
          </a:p>
        </p:txBody>
      </p:sp>
      <p:sp>
        <p:nvSpPr>
          <p:cNvPr id="60" name="Text 58"/>
          <p:cNvSpPr/>
          <p:nvPr/>
        </p:nvSpPr>
        <p:spPr>
          <a:xfrm>
            <a:off x="9089136" y="5376672"/>
            <a:ext cx="2048256" cy="182880"/>
          </a:xfrm>
          <a:prstGeom prst="rect">
            <a:avLst/>
          </a:prstGeom>
          <a:noFill/>
          <a:ln/>
        </p:spPr>
        <p:txBody>
          <a:bodyPr wrap="square" lIns="0" tIns="0" rIns="0" bIns="0" rtlCol="0" anchor="ctr">
            <a:normAutofit/>
          </a:bodyPr>
          <a:lstStyle/>
          <a:p>
            <a:pPr algn="l" indent="0" marL="0">
              <a:buNone/>
            </a:pPr>
            <a:r>
              <a:rPr lang="en-US" sz="960" b="1" dirty="0">
                <a:solidFill>
                  <a:srgbClr val="9EADB8"/>
                </a:solidFill>
                <a:latin typeface="Aptos Display" pitchFamily="34" charset="0"/>
                <a:ea typeface="Aptos Display" pitchFamily="34" charset="-122"/>
                <a:cs typeface="Aptos Display" pitchFamily="34" charset="-120"/>
              </a:rPr>
              <a:t>conserver la décision</a:t>
            </a:r>
            <a:endParaRPr lang="en-US" sz="96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117"/>
        </a:solidFill>
      </p:bgPr>
    </p:bg>
    <p:spTree>
      <p:nvGrpSpPr>
        <p:cNvPr id="1" name=""/>
        <p:cNvGrpSpPr/>
        <p:nvPr/>
      </p:nvGrpSpPr>
      <p:grpSpPr>
        <a:xfrm>
          <a:off x="0" y="0"/>
          <a:ext cx="0" cy="0"/>
          <a:chOff x="0" y="0"/>
          <a:chExt cx="0" cy="0"/>
        </a:xfrm>
      </p:grpSpPr>
      <p:sp>
        <p:nvSpPr>
          <p:cNvPr id="2" name="Shape 0"/>
          <p:cNvSpPr/>
          <p:nvPr/>
        </p:nvSpPr>
        <p:spPr>
          <a:xfrm>
            <a:off x="676656" y="411480"/>
            <a:ext cx="10735056" cy="0"/>
          </a:xfrm>
          <a:prstGeom prst="line">
            <a:avLst/>
          </a:prstGeom>
          <a:noFill/>
          <a:ln w="10160">
            <a:solidFill>
              <a:srgbClr val="344653">
                <a:alpha val="85000"/>
              </a:srgbClr>
            </a:solidFill>
            <a:prstDash val="solid"/>
          </a:ln>
        </p:spPr>
      </p:sp>
      <p:sp>
        <p:nvSpPr>
          <p:cNvPr id="3" name="Shape 1"/>
          <p:cNvSpPr/>
          <p:nvPr/>
        </p:nvSpPr>
        <p:spPr>
          <a:xfrm>
            <a:off x="658368" y="356616"/>
            <a:ext cx="73152" cy="73152"/>
          </a:xfrm>
          <a:prstGeom prst="ellipse">
            <a:avLst/>
          </a:prstGeom>
          <a:solidFill>
            <a:srgbClr val="41D3AE"/>
          </a:solidFill>
          <a:ln w="12700">
            <a:solidFill>
              <a:srgbClr val="41D3AE">
                <a:alpha val="0"/>
              </a:srgbClr>
            </a:solidFill>
            <a:prstDash val="solid"/>
          </a:ln>
        </p:spPr>
      </p:sp>
      <p:sp>
        <p:nvSpPr>
          <p:cNvPr id="4" name="Text 2"/>
          <p:cNvSpPr/>
          <p:nvPr/>
        </p:nvSpPr>
        <p:spPr>
          <a:xfrm>
            <a:off x="822960" y="201168"/>
            <a:ext cx="1207008" cy="164592"/>
          </a:xfrm>
          <a:prstGeom prst="rect">
            <a:avLst/>
          </a:prstGeom>
          <a:noFill/>
          <a:ln/>
        </p:spPr>
        <p:txBody>
          <a:bodyPr wrap="square" lIns="0" tIns="0" rIns="0" bIns="0" rtlCol="0" anchor="ctr">
            <a:normAutofit/>
          </a:bodyPr>
          <a:lstStyle/>
          <a:p>
            <a:pPr algn="l" indent="0" marL="0">
              <a:buNone/>
            </a:pPr>
            <a:r>
              <a:rPr lang="en-US" sz="760" b="1" dirty="0">
                <a:solidFill>
                  <a:srgbClr val="9EADB8"/>
                </a:solidFill>
                <a:latin typeface="Aptos" pitchFamily="34" charset="0"/>
                <a:ea typeface="Aptos" pitchFamily="34" charset="-122"/>
                <a:cs typeface="Aptos" pitchFamily="34" charset="-120"/>
              </a:rPr>
              <a:t>Contexte</a:t>
            </a:r>
            <a:endParaRPr lang="en-US" sz="760" dirty="0"/>
          </a:p>
        </p:txBody>
      </p:sp>
      <p:sp>
        <p:nvSpPr>
          <p:cNvPr id="5" name="Shape 3"/>
          <p:cNvSpPr/>
          <p:nvPr/>
        </p:nvSpPr>
        <p:spPr>
          <a:xfrm>
            <a:off x="2130552" y="356616"/>
            <a:ext cx="73152" cy="73152"/>
          </a:xfrm>
          <a:prstGeom prst="ellipse">
            <a:avLst/>
          </a:prstGeom>
          <a:solidFill>
            <a:srgbClr val="41D3AE"/>
          </a:solidFill>
          <a:ln w="12700">
            <a:solidFill>
              <a:srgbClr val="41D3AE">
                <a:alpha val="0"/>
              </a:srgbClr>
            </a:solidFill>
            <a:prstDash val="solid"/>
          </a:ln>
        </p:spPr>
      </p:sp>
      <p:sp>
        <p:nvSpPr>
          <p:cNvPr id="6" name="Text 4"/>
          <p:cNvSpPr/>
          <p:nvPr/>
        </p:nvSpPr>
        <p:spPr>
          <a:xfrm>
            <a:off x="2295144" y="201168"/>
            <a:ext cx="1207008" cy="164592"/>
          </a:xfrm>
          <a:prstGeom prst="rect">
            <a:avLst/>
          </a:prstGeom>
          <a:noFill/>
          <a:ln/>
        </p:spPr>
        <p:txBody>
          <a:bodyPr wrap="square" lIns="0" tIns="0" rIns="0" bIns="0" rtlCol="0" anchor="ctr">
            <a:normAutofit/>
          </a:bodyPr>
          <a:lstStyle/>
          <a:p>
            <a:pPr algn="l" indent="0" marL="0">
              <a:buNone/>
            </a:pPr>
            <a:r>
              <a:rPr lang="en-US" sz="760" b="1" dirty="0">
                <a:solidFill>
                  <a:srgbClr val="9EADB8"/>
                </a:solidFill>
                <a:latin typeface="Aptos" pitchFamily="34" charset="0"/>
                <a:ea typeface="Aptos" pitchFamily="34" charset="-122"/>
                <a:cs typeface="Aptos" pitchFamily="34" charset="-120"/>
              </a:rPr>
              <a:t>Solution</a:t>
            </a:r>
            <a:endParaRPr lang="en-US" sz="760" dirty="0"/>
          </a:p>
        </p:txBody>
      </p:sp>
      <p:sp>
        <p:nvSpPr>
          <p:cNvPr id="7" name="Shape 5"/>
          <p:cNvSpPr/>
          <p:nvPr/>
        </p:nvSpPr>
        <p:spPr>
          <a:xfrm>
            <a:off x="3493008" y="356616"/>
            <a:ext cx="73152" cy="73152"/>
          </a:xfrm>
          <a:prstGeom prst="ellipse">
            <a:avLst/>
          </a:prstGeom>
          <a:solidFill>
            <a:srgbClr val="41D3AE"/>
          </a:solidFill>
          <a:ln w="12700">
            <a:solidFill>
              <a:srgbClr val="41D3AE">
                <a:alpha val="0"/>
              </a:srgbClr>
            </a:solidFill>
            <a:prstDash val="solid"/>
          </a:ln>
        </p:spPr>
      </p:sp>
      <p:sp>
        <p:nvSpPr>
          <p:cNvPr id="8" name="Text 6"/>
          <p:cNvSpPr/>
          <p:nvPr/>
        </p:nvSpPr>
        <p:spPr>
          <a:xfrm>
            <a:off x="3657600" y="201168"/>
            <a:ext cx="1207008" cy="164592"/>
          </a:xfrm>
          <a:prstGeom prst="rect">
            <a:avLst/>
          </a:prstGeom>
          <a:noFill/>
          <a:ln/>
        </p:spPr>
        <p:txBody>
          <a:bodyPr wrap="square" lIns="0" tIns="0" rIns="0" bIns="0" rtlCol="0" anchor="ctr">
            <a:normAutofit/>
          </a:bodyPr>
          <a:lstStyle/>
          <a:p>
            <a:pPr algn="l" indent="0" marL="0">
              <a:buNone/>
            </a:pPr>
            <a:r>
              <a:rPr lang="en-US" sz="760" b="1" dirty="0">
                <a:solidFill>
                  <a:srgbClr val="9EADB8"/>
                </a:solidFill>
                <a:latin typeface="Aptos" pitchFamily="34" charset="0"/>
                <a:ea typeface="Aptos" pitchFamily="34" charset="-122"/>
                <a:cs typeface="Aptos" pitchFamily="34" charset="-120"/>
              </a:rPr>
              <a:t>Architecture</a:t>
            </a:r>
            <a:endParaRPr lang="en-US" sz="760" dirty="0"/>
          </a:p>
        </p:txBody>
      </p:sp>
      <p:sp>
        <p:nvSpPr>
          <p:cNvPr id="9" name="Shape 7"/>
          <p:cNvSpPr/>
          <p:nvPr/>
        </p:nvSpPr>
        <p:spPr>
          <a:xfrm>
            <a:off x="5001768" y="356616"/>
            <a:ext cx="73152" cy="73152"/>
          </a:xfrm>
          <a:prstGeom prst="ellipse">
            <a:avLst/>
          </a:prstGeom>
          <a:solidFill>
            <a:srgbClr val="41D3AE"/>
          </a:solidFill>
          <a:ln w="12700">
            <a:solidFill>
              <a:srgbClr val="41D3AE">
                <a:alpha val="0"/>
              </a:srgbClr>
            </a:solidFill>
            <a:prstDash val="solid"/>
          </a:ln>
        </p:spPr>
      </p:sp>
      <p:sp>
        <p:nvSpPr>
          <p:cNvPr id="10" name="Text 8"/>
          <p:cNvSpPr/>
          <p:nvPr/>
        </p:nvSpPr>
        <p:spPr>
          <a:xfrm>
            <a:off x="5166360" y="201168"/>
            <a:ext cx="1097280" cy="164592"/>
          </a:xfrm>
          <a:prstGeom prst="rect">
            <a:avLst/>
          </a:prstGeom>
          <a:noFill/>
          <a:ln/>
        </p:spPr>
        <p:txBody>
          <a:bodyPr wrap="square" lIns="0" tIns="0" rIns="0" bIns="0" rtlCol="0" anchor="ctr">
            <a:normAutofit/>
          </a:bodyPr>
          <a:lstStyle/>
          <a:p>
            <a:pPr algn="l" indent="0" marL="0">
              <a:buNone/>
            </a:pPr>
            <a:r>
              <a:rPr lang="en-US" sz="760" b="1" dirty="0">
                <a:solidFill>
                  <a:srgbClr val="9EADB8"/>
                </a:solidFill>
                <a:latin typeface="Aptos" pitchFamily="34" charset="0"/>
                <a:ea typeface="Aptos" pitchFamily="34" charset="-122"/>
                <a:cs typeface="Aptos" pitchFamily="34" charset="-120"/>
              </a:rPr>
              <a:t>Réalisation</a:t>
            </a:r>
            <a:endParaRPr lang="en-US" sz="760" dirty="0"/>
          </a:p>
        </p:txBody>
      </p:sp>
      <p:sp>
        <p:nvSpPr>
          <p:cNvPr id="11" name="Shape 9"/>
          <p:cNvSpPr/>
          <p:nvPr/>
        </p:nvSpPr>
        <p:spPr>
          <a:xfrm>
            <a:off x="6583680" y="356616"/>
            <a:ext cx="109728" cy="109728"/>
          </a:xfrm>
          <a:prstGeom prst="ellipse">
            <a:avLst/>
          </a:prstGeom>
          <a:solidFill>
            <a:srgbClr val="68D6E8"/>
          </a:solidFill>
          <a:ln w="12700">
            <a:solidFill>
              <a:srgbClr val="68D6E8">
                <a:alpha val="0"/>
              </a:srgbClr>
            </a:solidFill>
            <a:prstDash val="solid"/>
          </a:ln>
        </p:spPr>
      </p:sp>
      <p:sp>
        <p:nvSpPr>
          <p:cNvPr id="12" name="Text 10"/>
          <p:cNvSpPr/>
          <p:nvPr/>
        </p:nvSpPr>
        <p:spPr>
          <a:xfrm>
            <a:off x="6748272" y="201168"/>
            <a:ext cx="1207008" cy="164592"/>
          </a:xfrm>
          <a:prstGeom prst="rect">
            <a:avLst/>
          </a:prstGeom>
          <a:noFill/>
          <a:ln/>
        </p:spPr>
        <p:txBody>
          <a:bodyPr wrap="square" lIns="0" tIns="0" rIns="0" bIns="0" rtlCol="0" anchor="ctr">
            <a:normAutofit/>
          </a:bodyPr>
          <a:lstStyle/>
          <a:p>
            <a:pPr algn="l" indent="0" marL="0">
              <a:buNone/>
            </a:pPr>
            <a:r>
              <a:rPr lang="en-US" sz="810" b="1" dirty="0">
                <a:solidFill>
                  <a:srgbClr val="68D6E8"/>
                </a:solidFill>
                <a:latin typeface="Aptos" pitchFamily="34" charset="0"/>
                <a:ea typeface="Aptos" pitchFamily="34" charset="-122"/>
                <a:cs typeface="Aptos" pitchFamily="34" charset="-120"/>
              </a:rPr>
              <a:t>Démo</a:t>
            </a:r>
            <a:endParaRPr lang="en-US" sz="810" dirty="0"/>
          </a:p>
        </p:txBody>
      </p:sp>
      <p:sp>
        <p:nvSpPr>
          <p:cNvPr id="13" name="Shape 11"/>
          <p:cNvSpPr/>
          <p:nvPr/>
        </p:nvSpPr>
        <p:spPr>
          <a:xfrm>
            <a:off x="6729984" y="521208"/>
            <a:ext cx="731520" cy="0"/>
          </a:xfrm>
          <a:prstGeom prst="line">
            <a:avLst/>
          </a:prstGeom>
          <a:noFill/>
          <a:ln w="22860">
            <a:solidFill>
              <a:srgbClr val="68D6E8"/>
            </a:solidFill>
            <a:prstDash val="solid"/>
          </a:ln>
        </p:spPr>
      </p:sp>
      <p:sp>
        <p:nvSpPr>
          <p:cNvPr id="14" name="Shape 12"/>
          <p:cNvSpPr/>
          <p:nvPr/>
        </p:nvSpPr>
        <p:spPr>
          <a:xfrm>
            <a:off x="8229600" y="356616"/>
            <a:ext cx="73152" cy="73152"/>
          </a:xfrm>
          <a:prstGeom prst="ellipse">
            <a:avLst/>
          </a:prstGeom>
          <a:solidFill>
            <a:srgbClr val="344653">
              <a:alpha val="80000"/>
            </a:srgbClr>
          </a:solidFill>
          <a:ln w="12700">
            <a:solidFill>
              <a:srgbClr val="344653">
                <a:alpha val="0"/>
              </a:srgbClr>
            </a:solidFill>
            <a:prstDash val="solid"/>
          </a:ln>
        </p:spPr>
      </p:sp>
      <p:sp>
        <p:nvSpPr>
          <p:cNvPr id="15" name="Text 13"/>
          <p:cNvSpPr/>
          <p:nvPr/>
        </p:nvSpPr>
        <p:spPr>
          <a:xfrm>
            <a:off x="8394192" y="201168"/>
            <a:ext cx="1207008" cy="164592"/>
          </a:xfrm>
          <a:prstGeom prst="rect">
            <a:avLst/>
          </a:prstGeom>
          <a:noFill/>
          <a:ln/>
        </p:spPr>
        <p:txBody>
          <a:bodyPr wrap="square" lIns="0" tIns="0" rIns="0" bIns="0" rtlCol="0" anchor="ctr">
            <a:normAutofit/>
          </a:bodyPr>
          <a:lstStyle/>
          <a:p>
            <a:pPr algn="l" indent="0" marL="0">
              <a:buNone/>
            </a:pPr>
            <a:r>
              <a:rPr lang="en-US" sz="760" dirty="0">
                <a:solidFill>
                  <a:srgbClr val="9EADB8"/>
                </a:solidFill>
                <a:latin typeface="Aptos" pitchFamily="34" charset="0"/>
                <a:ea typeface="Aptos" pitchFamily="34" charset="-122"/>
                <a:cs typeface="Aptos" pitchFamily="34" charset="-120"/>
              </a:rPr>
              <a:t>Résultats</a:t>
            </a:r>
            <a:endParaRPr lang="en-US" sz="760" dirty="0"/>
          </a:p>
        </p:txBody>
      </p:sp>
      <p:sp>
        <p:nvSpPr>
          <p:cNvPr id="16" name="Shape 14"/>
          <p:cNvSpPr/>
          <p:nvPr/>
        </p:nvSpPr>
        <p:spPr>
          <a:xfrm>
            <a:off x="9784080" y="356616"/>
            <a:ext cx="73152" cy="73152"/>
          </a:xfrm>
          <a:prstGeom prst="ellipse">
            <a:avLst/>
          </a:prstGeom>
          <a:solidFill>
            <a:srgbClr val="344653">
              <a:alpha val="80000"/>
            </a:srgbClr>
          </a:solidFill>
          <a:ln w="12700">
            <a:solidFill>
              <a:srgbClr val="344653">
                <a:alpha val="0"/>
              </a:srgbClr>
            </a:solidFill>
            <a:prstDash val="solid"/>
          </a:ln>
        </p:spPr>
      </p:sp>
      <p:sp>
        <p:nvSpPr>
          <p:cNvPr id="17" name="Text 15"/>
          <p:cNvSpPr/>
          <p:nvPr/>
        </p:nvSpPr>
        <p:spPr>
          <a:xfrm>
            <a:off x="9948672" y="201168"/>
            <a:ext cx="1207008" cy="164592"/>
          </a:xfrm>
          <a:prstGeom prst="rect">
            <a:avLst/>
          </a:prstGeom>
          <a:noFill/>
          <a:ln/>
        </p:spPr>
        <p:txBody>
          <a:bodyPr wrap="square" lIns="0" tIns="0" rIns="0" bIns="0" rtlCol="0" anchor="ctr">
            <a:normAutofit/>
          </a:bodyPr>
          <a:lstStyle/>
          <a:p>
            <a:pPr algn="l" indent="0" marL="0">
              <a:buNone/>
            </a:pPr>
            <a:r>
              <a:rPr lang="en-US" sz="760" dirty="0">
                <a:solidFill>
                  <a:srgbClr val="9EADB8"/>
                </a:solidFill>
                <a:latin typeface="Aptos" pitchFamily="34" charset="0"/>
                <a:ea typeface="Aptos" pitchFamily="34" charset="-122"/>
                <a:cs typeface="Aptos" pitchFamily="34" charset="-120"/>
              </a:rPr>
              <a:t>Conclusion</a:t>
            </a:r>
            <a:endParaRPr lang="en-US" sz="760" dirty="0"/>
          </a:p>
        </p:txBody>
      </p:sp>
      <p:sp>
        <p:nvSpPr>
          <p:cNvPr id="18" name="Shape 16"/>
          <p:cNvSpPr/>
          <p:nvPr/>
        </p:nvSpPr>
        <p:spPr>
          <a:xfrm>
            <a:off x="658368" y="6428232"/>
            <a:ext cx="10863072" cy="0"/>
          </a:xfrm>
          <a:prstGeom prst="line">
            <a:avLst/>
          </a:prstGeom>
          <a:noFill/>
          <a:ln w="8890">
            <a:solidFill>
              <a:srgbClr val="344653">
                <a:alpha val="80000"/>
              </a:srgbClr>
            </a:solidFill>
            <a:prstDash val="solid"/>
          </a:ln>
        </p:spPr>
      </p:sp>
      <p:sp>
        <p:nvSpPr>
          <p:cNvPr id="19" name="Text 17"/>
          <p:cNvSpPr/>
          <p:nvPr/>
        </p:nvSpPr>
        <p:spPr>
          <a:xfrm>
            <a:off x="658368" y="6510528"/>
            <a:ext cx="2926080" cy="146304"/>
          </a:xfrm>
          <a:prstGeom prst="rect">
            <a:avLst/>
          </a:prstGeom>
          <a:noFill/>
          <a:ln/>
        </p:spPr>
        <p:txBody>
          <a:bodyPr wrap="square" lIns="0" tIns="0" rIns="0" bIns="0" rtlCol="0" anchor="ctr">
            <a:normAutofit/>
          </a:bodyPr>
          <a:lstStyle/>
          <a:p>
            <a:pPr algn="l" indent="0" marL="0">
              <a:buNone/>
            </a:pPr>
            <a:r>
              <a:rPr lang="en-US" sz="720" b="1" spc="120" kern="0" dirty="0">
                <a:solidFill>
                  <a:srgbClr val="6C7F89"/>
                </a:solidFill>
                <a:latin typeface="Aptos Mono" pitchFamily="34" charset="0"/>
                <a:ea typeface="Aptos Mono" pitchFamily="34" charset="-122"/>
                <a:cs typeface="Aptos Mono" pitchFamily="34" charset="-120"/>
              </a:rPr>
              <a:t>AGENTIC MIGRATION PLATFORM</a:t>
            </a:r>
            <a:endParaRPr lang="en-US" sz="720" dirty="0"/>
          </a:p>
        </p:txBody>
      </p:sp>
      <p:sp>
        <p:nvSpPr>
          <p:cNvPr id="20" name="Text 18"/>
          <p:cNvSpPr/>
          <p:nvPr/>
        </p:nvSpPr>
        <p:spPr>
          <a:xfrm>
            <a:off x="10561320" y="6501384"/>
            <a:ext cx="950976" cy="155448"/>
          </a:xfrm>
          <a:prstGeom prst="rect">
            <a:avLst/>
          </a:prstGeom>
          <a:noFill/>
          <a:ln/>
        </p:spPr>
        <p:txBody>
          <a:bodyPr wrap="square" lIns="0" tIns="0" rIns="0" bIns="0" rtlCol="0" anchor="ctr">
            <a:normAutofit/>
          </a:bodyPr>
          <a:lstStyle/>
          <a:p>
            <a:pPr algn="r" indent="0" marL="0">
              <a:buNone/>
            </a:pPr>
            <a:r>
              <a:rPr lang="en-US" sz="770" b="1" spc="80" kern="0" dirty="0">
                <a:solidFill>
                  <a:srgbClr val="6C7F89"/>
                </a:solidFill>
                <a:latin typeface="Aptos Mono" pitchFamily="34" charset="0"/>
                <a:ea typeface="Aptos Mono" pitchFamily="34" charset="-122"/>
                <a:cs typeface="Aptos Mono" pitchFamily="34" charset="-120"/>
              </a:rPr>
              <a:t>13 / 18</a:t>
            </a:r>
            <a:endParaRPr lang="en-US" sz="770" dirty="0"/>
          </a:p>
        </p:txBody>
      </p:sp>
      <p:sp>
        <p:nvSpPr>
          <p:cNvPr id="21" name="Text 19"/>
          <p:cNvSpPr/>
          <p:nvPr/>
        </p:nvSpPr>
        <p:spPr>
          <a:xfrm>
            <a:off x="658368" y="758952"/>
            <a:ext cx="3200400" cy="164592"/>
          </a:xfrm>
          <a:prstGeom prst="rect">
            <a:avLst/>
          </a:prstGeom>
          <a:noFill/>
          <a:ln/>
        </p:spPr>
        <p:txBody>
          <a:bodyPr wrap="square" lIns="0" tIns="0" rIns="0" bIns="0" rtlCol="0" anchor="ctr">
            <a:normAutofit/>
          </a:bodyPr>
          <a:lstStyle/>
          <a:p>
            <a:pPr algn="l" indent="0" marL="0">
              <a:buNone/>
            </a:pPr>
            <a:r>
              <a:rPr lang="en-US" sz="900" b="1" spc="135" kern="0" dirty="0">
                <a:solidFill>
                  <a:srgbClr val="68D6E8"/>
                </a:solidFill>
                <a:latin typeface="Aptos Mono" pitchFamily="34" charset="0"/>
                <a:ea typeface="Aptos Mono" pitchFamily="34" charset="-122"/>
                <a:cs typeface="Aptos Mono" pitchFamily="34" charset="-120"/>
              </a:rPr>
              <a:t>DÉMO</a:t>
            </a:r>
            <a:endParaRPr lang="en-US" sz="900" dirty="0"/>
          </a:p>
        </p:txBody>
      </p:sp>
      <p:sp>
        <p:nvSpPr>
          <p:cNvPr id="22" name="Text 20"/>
          <p:cNvSpPr/>
          <p:nvPr/>
        </p:nvSpPr>
        <p:spPr>
          <a:xfrm>
            <a:off x="658368" y="969264"/>
            <a:ext cx="9509760" cy="493776"/>
          </a:xfrm>
          <a:prstGeom prst="rect">
            <a:avLst/>
          </a:prstGeom>
          <a:noFill/>
          <a:ln/>
        </p:spPr>
        <p:txBody>
          <a:bodyPr wrap="square" lIns="0" tIns="0" rIns="0" bIns="0" rtlCol="0" anchor="t">
            <a:normAutofit/>
          </a:bodyPr>
          <a:lstStyle/>
          <a:p>
            <a:pPr algn="l" indent="0" marL="0">
              <a:buNone/>
            </a:pPr>
            <a:r>
              <a:rPr lang="en-US" sz="2900" b="1" dirty="0">
                <a:solidFill>
                  <a:srgbClr val="F5F7F8"/>
                </a:solidFill>
                <a:latin typeface="Aptos Display" pitchFamily="34" charset="0"/>
                <a:ea typeface="Aptos Display" pitchFamily="34" charset="-122"/>
                <a:cs typeface="Aptos Display" pitchFamily="34" charset="-120"/>
              </a:rPr>
              <a:t>Démo : décider à partir d'une preuve</a:t>
            </a:r>
            <a:endParaRPr lang="en-US" sz="2900" dirty="0"/>
          </a:p>
        </p:txBody>
      </p:sp>
      <p:sp>
        <p:nvSpPr>
          <p:cNvPr id="23" name="Text 21"/>
          <p:cNvSpPr/>
          <p:nvPr/>
        </p:nvSpPr>
        <p:spPr>
          <a:xfrm>
            <a:off x="658368" y="1499616"/>
            <a:ext cx="9966960" cy="256032"/>
          </a:xfrm>
          <a:prstGeom prst="rect">
            <a:avLst/>
          </a:prstGeom>
          <a:noFill/>
          <a:ln/>
        </p:spPr>
        <p:txBody>
          <a:bodyPr wrap="square" lIns="0" tIns="0" rIns="0" bIns="0" rtlCol="0" anchor="t">
            <a:normAutofit/>
          </a:bodyPr>
          <a:lstStyle/>
          <a:p>
            <a:pPr algn="l" indent="0" marL="0">
              <a:buNone/>
            </a:pPr>
            <a:r>
              <a:rPr lang="en-US" sz="1200" dirty="0">
                <a:solidFill>
                  <a:srgbClr val="9EADB8"/>
                </a:solidFill>
                <a:latin typeface="Aptos" pitchFamily="34" charset="0"/>
                <a:ea typeface="Aptos" pitchFamily="34" charset="-122"/>
                <a:cs typeface="Aptos" pitchFamily="34" charset="-120"/>
              </a:rPr>
              <a:t>Interface locale — scénario anonymisé, états préparés. Une décision, trois gestes.</a:t>
            </a:r>
            <a:endParaRPr lang="en-US" sz="1200" dirty="0"/>
          </a:p>
        </p:txBody>
      </p:sp>
      <p:sp>
        <p:nvSpPr>
          <p:cNvPr id="24" name="Shape 22"/>
          <p:cNvSpPr/>
          <p:nvPr/>
        </p:nvSpPr>
        <p:spPr>
          <a:xfrm>
            <a:off x="694944" y="2084832"/>
            <a:ext cx="6565392" cy="4242816"/>
          </a:xfrm>
          <a:prstGeom prst="rect">
            <a:avLst/>
          </a:prstGeom>
          <a:solidFill>
            <a:srgbClr val="1B2A35"/>
          </a:solidFill>
          <a:ln w="12700">
            <a:solidFill>
              <a:srgbClr val="68D6E8"/>
            </a:solidFill>
            <a:prstDash val="solid"/>
          </a:ln>
        </p:spPr>
      </p:sp>
      <p:pic>
        <p:nvPicPr>
          <p:cNvPr id="25" name="Image 0" descr="C:\Users\aliha\Soutenance-pfe\.worktrees\redesign-review\assets\presentation\angular-g10-repair.png">    </p:cNvPr>
          <p:cNvPicPr>
            <a:picLocks noChangeAspect="1"/>
          </p:cNvPicPr>
          <p:nvPr/>
        </p:nvPicPr>
        <p:blipFill>
          <a:blip r:embed="rId1"/>
          <a:stretch>
            <a:fillRect/>
          </a:stretch>
        </p:blipFill>
        <p:spPr>
          <a:xfrm>
            <a:off x="768096" y="2212848"/>
            <a:ext cx="6419088" cy="4014216"/>
          </a:xfrm>
          <a:prstGeom prst="rect">
            <a:avLst/>
          </a:prstGeom>
        </p:spPr>
      </p:pic>
      <p:sp>
        <p:nvSpPr>
          <p:cNvPr id="26" name="Shape 23"/>
          <p:cNvSpPr/>
          <p:nvPr/>
        </p:nvSpPr>
        <p:spPr>
          <a:xfrm>
            <a:off x="7827264" y="2532888"/>
            <a:ext cx="310896" cy="310896"/>
          </a:xfrm>
          <a:prstGeom prst="ellipse">
            <a:avLst/>
          </a:prstGeom>
          <a:solidFill>
            <a:srgbClr val="4E9DFF"/>
          </a:solidFill>
          <a:ln w="12700">
            <a:solidFill>
              <a:srgbClr val="4E9DFF">
                <a:alpha val="0"/>
              </a:srgbClr>
            </a:solidFill>
            <a:prstDash val="solid"/>
          </a:ln>
        </p:spPr>
      </p:sp>
      <p:sp>
        <p:nvSpPr>
          <p:cNvPr id="27" name="Text 24"/>
          <p:cNvSpPr/>
          <p:nvPr/>
        </p:nvSpPr>
        <p:spPr>
          <a:xfrm>
            <a:off x="7900416" y="2633472"/>
            <a:ext cx="164592" cy="91440"/>
          </a:xfrm>
          <a:prstGeom prst="rect">
            <a:avLst/>
          </a:prstGeom>
          <a:noFill/>
          <a:ln/>
        </p:spPr>
        <p:txBody>
          <a:bodyPr wrap="square" lIns="0" tIns="0" rIns="0" bIns="0" rtlCol="0" anchor="ctr">
            <a:normAutofit/>
          </a:bodyPr>
          <a:lstStyle/>
          <a:p>
            <a:pPr algn="ctr" indent="0" marL="0">
              <a:buNone/>
            </a:pPr>
            <a:r>
              <a:rPr lang="en-US" sz="660" b="1" dirty="0">
                <a:solidFill>
                  <a:srgbClr val="101820"/>
                </a:solidFill>
                <a:latin typeface="Aptos Mono" pitchFamily="34" charset="0"/>
                <a:ea typeface="Aptos Mono" pitchFamily="34" charset="-122"/>
                <a:cs typeface="Aptos Mono" pitchFamily="34" charset="-120"/>
              </a:rPr>
              <a:t>01</a:t>
            </a:r>
            <a:endParaRPr lang="en-US" sz="660" dirty="0"/>
          </a:p>
        </p:txBody>
      </p:sp>
      <p:sp>
        <p:nvSpPr>
          <p:cNvPr id="28" name="Text 25"/>
          <p:cNvSpPr/>
          <p:nvPr/>
        </p:nvSpPr>
        <p:spPr>
          <a:xfrm>
            <a:off x="8339328" y="2505456"/>
            <a:ext cx="2011680" cy="164592"/>
          </a:xfrm>
          <a:prstGeom prst="rect">
            <a:avLst/>
          </a:prstGeom>
          <a:noFill/>
          <a:ln/>
        </p:spPr>
        <p:txBody>
          <a:bodyPr wrap="square" lIns="0" tIns="0" rIns="0" bIns="0" rtlCol="0" anchor="ctr">
            <a:normAutofit/>
          </a:bodyPr>
          <a:lstStyle/>
          <a:p>
            <a:pPr algn="l" indent="0" marL="0">
              <a:buNone/>
            </a:pPr>
            <a:r>
              <a:rPr lang="en-US" sz="830" b="1" spc="85" kern="0" dirty="0">
                <a:solidFill>
                  <a:srgbClr val="4E9DFF"/>
                </a:solidFill>
                <a:latin typeface="Aptos Mono" pitchFamily="34" charset="0"/>
                <a:ea typeface="Aptos Mono" pitchFamily="34" charset="-122"/>
                <a:cs typeface="Aptos Mono" pitchFamily="34" charset="-120"/>
              </a:rPr>
              <a:t>INSPECTER</a:t>
            </a:r>
            <a:endParaRPr lang="en-US" sz="830" dirty="0"/>
          </a:p>
        </p:txBody>
      </p:sp>
      <p:sp>
        <p:nvSpPr>
          <p:cNvPr id="29" name="Text 26"/>
          <p:cNvSpPr/>
          <p:nvPr/>
        </p:nvSpPr>
        <p:spPr>
          <a:xfrm>
            <a:off x="8339328" y="2761488"/>
            <a:ext cx="2615184" cy="347472"/>
          </a:xfrm>
          <a:prstGeom prst="rect">
            <a:avLst/>
          </a:prstGeom>
          <a:noFill/>
          <a:ln/>
        </p:spPr>
        <p:txBody>
          <a:bodyPr wrap="square" lIns="0" tIns="0" rIns="0" bIns="0" rtlCol="0" anchor="t">
            <a:normAutofit/>
          </a:bodyPr>
          <a:lstStyle/>
          <a:p>
            <a:pPr algn="l" indent="0" marL="0">
              <a:buNone/>
            </a:pPr>
            <a:r>
              <a:rPr lang="en-US" sz="1100" b="1" dirty="0">
                <a:solidFill>
                  <a:srgbClr val="F5F7F8"/>
                </a:solidFill>
                <a:latin typeface="Aptos Display" pitchFamily="34" charset="0"/>
                <a:ea typeface="Aptos Display" pitchFamily="34" charset="-122"/>
                <a:cs typeface="Aptos Display" pitchFamily="34" charset="-120"/>
              </a:rPr>
              <a:t>Lire la correction et son contexte.</a:t>
            </a:r>
            <a:endParaRPr lang="en-US" sz="1100" dirty="0"/>
          </a:p>
        </p:txBody>
      </p:sp>
      <p:sp>
        <p:nvSpPr>
          <p:cNvPr id="30" name="Shape 27"/>
          <p:cNvSpPr/>
          <p:nvPr/>
        </p:nvSpPr>
        <p:spPr>
          <a:xfrm>
            <a:off x="8339328" y="3273552"/>
            <a:ext cx="2615184" cy="0"/>
          </a:xfrm>
          <a:prstGeom prst="line">
            <a:avLst/>
          </a:prstGeom>
          <a:noFill/>
          <a:ln w="10160">
            <a:solidFill>
              <a:srgbClr val="344653">
                <a:alpha val="80000"/>
              </a:srgbClr>
            </a:solidFill>
            <a:prstDash val="solid"/>
          </a:ln>
        </p:spPr>
      </p:sp>
      <p:sp>
        <p:nvSpPr>
          <p:cNvPr id="31" name="Shape 28"/>
          <p:cNvSpPr/>
          <p:nvPr/>
        </p:nvSpPr>
        <p:spPr>
          <a:xfrm>
            <a:off x="7827264" y="3557016"/>
            <a:ext cx="310896" cy="310896"/>
          </a:xfrm>
          <a:prstGeom prst="ellipse">
            <a:avLst/>
          </a:prstGeom>
          <a:solidFill>
            <a:srgbClr val="68D6E8"/>
          </a:solidFill>
          <a:ln w="12700">
            <a:solidFill>
              <a:srgbClr val="68D6E8">
                <a:alpha val="0"/>
              </a:srgbClr>
            </a:solidFill>
            <a:prstDash val="solid"/>
          </a:ln>
        </p:spPr>
      </p:sp>
      <p:sp>
        <p:nvSpPr>
          <p:cNvPr id="32" name="Text 29"/>
          <p:cNvSpPr/>
          <p:nvPr/>
        </p:nvSpPr>
        <p:spPr>
          <a:xfrm>
            <a:off x="7900416" y="3657600"/>
            <a:ext cx="164592" cy="91440"/>
          </a:xfrm>
          <a:prstGeom prst="rect">
            <a:avLst/>
          </a:prstGeom>
          <a:noFill/>
          <a:ln/>
        </p:spPr>
        <p:txBody>
          <a:bodyPr wrap="square" lIns="0" tIns="0" rIns="0" bIns="0" rtlCol="0" anchor="ctr">
            <a:normAutofit/>
          </a:bodyPr>
          <a:lstStyle/>
          <a:p>
            <a:pPr algn="ctr" indent="0" marL="0">
              <a:buNone/>
            </a:pPr>
            <a:r>
              <a:rPr lang="en-US" sz="660" b="1" dirty="0">
                <a:solidFill>
                  <a:srgbClr val="101820"/>
                </a:solidFill>
                <a:latin typeface="Aptos Mono" pitchFamily="34" charset="0"/>
                <a:ea typeface="Aptos Mono" pitchFamily="34" charset="-122"/>
                <a:cs typeface="Aptos Mono" pitchFamily="34" charset="-120"/>
              </a:rPr>
              <a:t>02</a:t>
            </a:r>
            <a:endParaRPr lang="en-US" sz="660" dirty="0"/>
          </a:p>
        </p:txBody>
      </p:sp>
      <p:sp>
        <p:nvSpPr>
          <p:cNvPr id="33" name="Text 30"/>
          <p:cNvSpPr/>
          <p:nvPr/>
        </p:nvSpPr>
        <p:spPr>
          <a:xfrm>
            <a:off x="8339328" y="3529584"/>
            <a:ext cx="2011680" cy="164592"/>
          </a:xfrm>
          <a:prstGeom prst="rect">
            <a:avLst/>
          </a:prstGeom>
          <a:noFill/>
          <a:ln/>
        </p:spPr>
        <p:txBody>
          <a:bodyPr wrap="square" lIns="0" tIns="0" rIns="0" bIns="0" rtlCol="0" anchor="ctr">
            <a:normAutofit/>
          </a:bodyPr>
          <a:lstStyle/>
          <a:p>
            <a:pPr algn="l" indent="0" marL="0">
              <a:buNone/>
            </a:pPr>
            <a:r>
              <a:rPr lang="en-US" sz="830" b="1" spc="85" kern="0" dirty="0">
                <a:solidFill>
                  <a:srgbClr val="68D6E8"/>
                </a:solidFill>
                <a:latin typeface="Aptos Mono" pitchFamily="34" charset="0"/>
                <a:ea typeface="Aptos Mono" pitchFamily="34" charset="-122"/>
                <a:cs typeface="Aptos Mono" pitchFamily="34" charset="-120"/>
              </a:rPr>
              <a:t>VÉRIFIER</a:t>
            </a:r>
            <a:endParaRPr lang="en-US" sz="830" dirty="0"/>
          </a:p>
        </p:txBody>
      </p:sp>
      <p:sp>
        <p:nvSpPr>
          <p:cNvPr id="34" name="Text 31"/>
          <p:cNvSpPr/>
          <p:nvPr/>
        </p:nvSpPr>
        <p:spPr>
          <a:xfrm>
            <a:off x="8339328" y="3785616"/>
            <a:ext cx="2615184" cy="347472"/>
          </a:xfrm>
          <a:prstGeom prst="rect">
            <a:avLst/>
          </a:prstGeom>
          <a:noFill/>
          <a:ln/>
        </p:spPr>
        <p:txBody>
          <a:bodyPr wrap="square" lIns="0" tIns="0" rIns="0" bIns="0" rtlCol="0" anchor="t">
            <a:normAutofit/>
          </a:bodyPr>
          <a:lstStyle/>
          <a:p>
            <a:pPr algn="l" indent="0" marL="0">
              <a:buNone/>
            </a:pPr>
            <a:r>
              <a:rPr lang="en-US" sz="1100" b="1" dirty="0">
                <a:solidFill>
                  <a:srgbClr val="F5F7F8"/>
                </a:solidFill>
                <a:latin typeface="Aptos Display" pitchFamily="34" charset="0"/>
                <a:ea typeface="Aptos Display" pitchFamily="34" charset="-122"/>
                <a:cs typeface="Aptos Display" pitchFamily="34" charset="-120"/>
              </a:rPr>
              <a:t>Relier la proposition à la preuve.</a:t>
            </a:r>
            <a:endParaRPr lang="en-US" sz="1100" dirty="0"/>
          </a:p>
        </p:txBody>
      </p:sp>
      <p:sp>
        <p:nvSpPr>
          <p:cNvPr id="35" name="Shape 32"/>
          <p:cNvSpPr/>
          <p:nvPr/>
        </p:nvSpPr>
        <p:spPr>
          <a:xfrm>
            <a:off x="8339328" y="4297680"/>
            <a:ext cx="2615184" cy="0"/>
          </a:xfrm>
          <a:prstGeom prst="line">
            <a:avLst/>
          </a:prstGeom>
          <a:noFill/>
          <a:ln w="10160">
            <a:solidFill>
              <a:srgbClr val="344653">
                <a:alpha val="80000"/>
              </a:srgbClr>
            </a:solidFill>
            <a:prstDash val="solid"/>
          </a:ln>
        </p:spPr>
      </p:sp>
      <p:sp>
        <p:nvSpPr>
          <p:cNvPr id="36" name="Shape 33"/>
          <p:cNvSpPr/>
          <p:nvPr/>
        </p:nvSpPr>
        <p:spPr>
          <a:xfrm>
            <a:off x="7827264" y="4581144"/>
            <a:ext cx="310896" cy="310896"/>
          </a:xfrm>
          <a:prstGeom prst="ellipse">
            <a:avLst/>
          </a:prstGeom>
          <a:solidFill>
            <a:srgbClr val="F4B84A"/>
          </a:solidFill>
          <a:ln w="12700">
            <a:solidFill>
              <a:srgbClr val="F4B84A">
                <a:alpha val="0"/>
              </a:srgbClr>
            </a:solidFill>
            <a:prstDash val="solid"/>
          </a:ln>
        </p:spPr>
      </p:sp>
      <p:sp>
        <p:nvSpPr>
          <p:cNvPr id="37" name="Text 34"/>
          <p:cNvSpPr/>
          <p:nvPr/>
        </p:nvSpPr>
        <p:spPr>
          <a:xfrm>
            <a:off x="7900416" y="4681728"/>
            <a:ext cx="164592" cy="91440"/>
          </a:xfrm>
          <a:prstGeom prst="rect">
            <a:avLst/>
          </a:prstGeom>
          <a:noFill/>
          <a:ln/>
        </p:spPr>
        <p:txBody>
          <a:bodyPr wrap="square" lIns="0" tIns="0" rIns="0" bIns="0" rtlCol="0" anchor="ctr">
            <a:normAutofit/>
          </a:bodyPr>
          <a:lstStyle/>
          <a:p>
            <a:pPr algn="ctr" indent="0" marL="0">
              <a:buNone/>
            </a:pPr>
            <a:r>
              <a:rPr lang="en-US" sz="660" b="1" dirty="0">
                <a:solidFill>
                  <a:srgbClr val="101820"/>
                </a:solidFill>
                <a:latin typeface="Aptos Mono" pitchFamily="34" charset="0"/>
                <a:ea typeface="Aptos Mono" pitchFamily="34" charset="-122"/>
                <a:cs typeface="Aptos Mono" pitchFamily="34" charset="-120"/>
              </a:rPr>
              <a:t>03</a:t>
            </a:r>
            <a:endParaRPr lang="en-US" sz="660" dirty="0"/>
          </a:p>
        </p:txBody>
      </p:sp>
      <p:sp>
        <p:nvSpPr>
          <p:cNvPr id="38" name="Text 35"/>
          <p:cNvSpPr/>
          <p:nvPr/>
        </p:nvSpPr>
        <p:spPr>
          <a:xfrm>
            <a:off x="8339328" y="4553712"/>
            <a:ext cx="2011680" cy="164592"/>
          </a:xfrm>
          <a:prstGeom prst="rect">
            <a:avLst/>
          </a:prstGeom>
          <a:noFill/>
          <a:ln/>
        </p:spPr>
        <p:txBody>
          <a:bodyPr wrap="square" lIns="0" tIns="0" rIns="0" bIns="0" rtlCol="0" anchor="ctr">
            <a:normAutofit/>
          </a:bodyPr>
          <a:lstStyle/>
          <a:p>
            <a:pPr algn="l" indent="0" marL="0">
              <a:buNone/>
            </a:pPr>
            <a:r>
              <a:rPr lang="en-US" sz="830" b="1" spc="85" kern="0" dirty="0">
                <a:solidFill>
                  <a:srgbClr val="F4B84A"/>
                </a:solidFill>
                <a:latin typeface="Aptos Mono" pitchFamily="34" charset="0"/>
                <a:ea typeface="Aptos Mono" pitchFamily="34" charset="-122"/>
                <a:cs typeface="Aptos Mono" pitchFamily="34" charset="-120"/>
              </a:rPr>
              <a:t>DÉCIDER</a:t>
            </a:r>
            <a:endParaRPr lang="en-US" sz="830" dirty="0"/>
          </a:p>
        </p:txBody>
      </p:sp>
      <p:sp>
        <p:nvSpPr>
          <p:cNvPr id="39" name="Text 36"/>
          <p:cNvSpPr/>
          <p:nvPr/>
        </p:nvSpPr>
        <p:spPr>
          <a:xfrm>
            <a:off x="8339328" y="4809744"/>
            <a:ext cx="2615184" cy="347472"/>
          </a:xfrm>
          <a:prstGeom prst="rect">
            <a:avLst/>
          </a:prstGeom>
          <a:noFill/>
          <a:ln/>
        </p:spPr>
        <p:txBody>
          <a:bodyPr wrap="square" lIns="0" tIns="0" rIns="0" bIns="0" rtlCol="0" anchor="t">
            <a:normAutofit/>
          </a:bodyPr>
          <a:lstStyle/>
          <a:p>
            <a:pPr algn="l" indent="0" marL="0">
              <a:buNone/>
            </a:pPr>
            <a:r>
              <a:rPr lang="en-US" sz="1100" b="1" dirty="0">
                <a:solidFill>
                  <a:srgbClr val="F5F7F8"/>
                </a:solidFill>
                <a:latin typeface="Aptos Display" pitchFamily="34" charset="0"/>
                <a:ea typeface="Aptos Display" pitchFamily="34" charset="-122"/>
                <a:cs typeface="Aptos Display" pitchFamily="34" charset="-120"/>
              </a:rPr>
              <a:t>Approuver, modifier ou rejeter.</a:t>
            </a:r>
            <a:endParaRPr lang="en-US" sz="1100" dirty="0"/>
          </a:p>
        </p:txBody>
      </p:sp>
      <p:sp>
        <p:nvSpPr>
          <p:cNvPr id="40" name="Shape 37"/>
          <p:cNvSpPr/>
          <p:nvPr/>
        </p:nvSpPr>
        <p:spPr>
          <a:xfrm>
            <a:off x="8339328" y="5321808"/>
            <a:ext cx="2615184" cy="0"/>
          </a:xfrm>
          <a:prstGeom prst="line">
            <a:avLst/>
          </a:prstGeom>
          <a:noFill/>
          <a:ln w="10160">
            <a:solidFill>
              <a:srgbClr val="344653">
                <a:alpha val="80000"/>
              </a:srgbClr>
            </a:solidFill>
            <a:prstDash val="solid"/>
          </a:ln>
        </p:spPr>
      </p:sp>
      <p:sp>
        <p:nvSpPr>
          <p:cNvPr id="41" name="Text 38"/>
          <p:cNvSpPr/>
          <p:nvPr/>
        </p:nvSpPr>
        <p:spPr>
          <a:xfrm>
            <a:off x="7808976" y="5724144"/>
            <a:ext cx="3054096" cy="164592"/>
          </a:xfrm>
          <a:prstGeom prst="rect">
            <a:avLst/>
          </a:prstGeom>
          <a:noFill/>
          <a:ln/>
        </p:spPr>
        <p:txBody>
          <a:bodyPr wrap="square" lIns="0" tIns="0" rIns="0" bIns="0" rtlCol="0" anchor="ctr">
            <a:normAutofit/>
          </a:bodyPr>
          <a:lstStyle/>
          <a:p>
            <a:pPr algn="l" indent="0" marL="0">
              <a:buNone/>
            </a:pPr>
            <a:r>
              <a:rPr lang="en-US" sz="780" b="1" spc="78" kern="0" dirty="0">
                <a:solidFill>
                  <a:srgbClr val="9EADB8"/>
                </a:solidFill>
                <a:latin typeface="Aptos Mono" pitchFamily="34" charset="0"/>
                <a:ea typeface="Aptos Mono" pitchFamily="34" charset="-122"/>
                <a:cs typeface="Aptos Mono" pitchFamily="34" charset="-120"/>
              </a:rPr>
              <a:t>ANGULAR G10 · ÉTAT PRÉPARÉ</a:t>
            </a:r>
            <a:endParaRPr lang="en-US" sz="7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F1EA"/>
        </a:solidFill>
      </p:bgPr>
    </p:bg>
    <p:spTree>
      <p:nvGrpSpPr>
        <p:cNvPr id="1" name=""/>
        <p:cNvGrpSpPr/>
        <p:nvPr/>
      </p:nvGrpSpPr>
      <p:grpSpPr>
        <a:xfrm>
          <a:off x="0" y="0"/>
          <a:ext cx="0" cy="0"/>
          <a:chOff x="0" y="0"/>
          <a:chExt cx="0" cy="0"/>
        </a:xfrm>
      </p:grpSpPr>
      <p:sp>
        <p:nvSpPr>
          <p:cNvPr id="2" name="Shape 0"/>
          <p:cNvSpPr/>
          <p:nvPr/>
        </p:nvSpPr>
        <p:spPr>
          <a:xfrm>
            <a:off x="676656" y="411480"/>
            <a:ext cx="10735056" cy="0"/>
          </a:xfrm>
          <a:prstGeom prst="line">
            <a:avLst/>
          </a:prstGeom>
          <a:noFill/>
          <a:ln w="10160">
            <a:solidFill>
              <a:srgbClr val="6C7F89">
                <a:alpha val="85000"/>
              </a:srgbClr>
            </a:solidFill>
            <a:prstDash val="solid"/>
          </a:ln>
        </p:spPr>
      </p:sp>
      <p:sp>
        <p:nvSpPr>
          <p:cNvPr id="3" name="Shape 1"/>
          <p:cNvSpPr/>
          <p:nvPr/>
        </p:nvSpPr>
        <p:spPr>
          <a:xfrm>
            <a:off x="658368" y="356616"/>
            <a:ext cx="73152" cy="73152"/>
          </a:xfrm>
          <a:prstGeom prst="ellipse">
            <a:avLst/>
          </a:prstGeom>
          <a:solidFill>
            <a:srgbClr val="41D3AE"/>
          </a:solidFill>
          <a:ln w="12700">
            <a:solidFill>
              <a:srgbClr val="41D3AE">
                <a:alpha val="0"/>
              </a:srgbClr>
            </a:solidFill>
            <a:prstDash val="solid"/>
          </a:ln>
        </p:spPr>
      </p:sp>
      <p:sp>
        <p:nvSpPr>
          <p:cNvPr id="4" name="Text 2"/>
          <p:cNvSpPr/>
          <p:nvPr/>
        </p:nvSpPr>
        <p:spPr>
          <a:xfrm>
            <a:off x="822960" y="201168"/>
            <a:ext cx="1207008" cy="164592"/>
          </a:xfrm>
          <a:prstGeom prst="rect">
            <a:avLst/>
          </a:prstGeom>
          <a:noFill/>
          <a:ln/>
        </p:spPr>
        <p:txBody>
          <a:bodyPr wrap="square" lIns="0" tIns="0" rIns="0" bIns="0" rtlCol="0" anchor="ctr">
            <a:normAutofit/>
          </a:bodyPr>
          <a:lstStyle/>
          <a:p>
            <a:pPr algn="l" indent="0" marL="0">
              <a:buNone/>
            </a:pPr>
            <a:r>
              <a:rPr lang="en-US" sz="760" b="1" dirty="0">
                <a:solidFill>
                  <a:srgbClr val="41D3AE"/>
                </a:solidFill>
                <a:latin typeface="Aptos" pitchFamily="34" charset="0"/>
                <a:ea typeface="Aptos" pitchFamily="34" charset="-122"/>
                <a:cs typeface="Aptos" pitchFamily="34" charset="-120"/>
              </a:rPr>
              <a:t>Contexte</a:t>
            </a:r>
            <a:endParaRPr lang="en-US" sz="760" dirty="0"/>
          </a:p>
        </p:txBody>
      </p:sp>
      <p:sp>
        <p:nvSpPr>
          <p:cNvPr id="5" name="Shape 3"/>
          <p:cNvSpPr/>
          <p:nvPr/>
        </p:nvSpPr>
        <p:spPr>
          <a:xfrm>
            <a:off x="2130552" y="356616"/>
            <a:ext cx="73152" cy="73152"/>
          </a:xfrm>
          <a:prstGeom prst="ellipse">
            <a:avLst/>
          </a:prstGeom>
          <a:solidFill>
            <a:srgbClr val="41D3AE"/>
          </a:solidFill>
          <a:ln w="12700">
            <a:solidFill>
              <a:srgbClr val="41D3AE">
                <a:alpha val="0"/>
              </a:srgbClr>
            </a:solidFill>
            <a:prstDash val="solid"/>
          </a:ln>
        </p:spPr>
      </p:sp>
      <p:sp>
        <p:nvSpPr>
          <p:cNvPr id="6" name="Text 4"/>
          <p:cNvSpPr/>
          <p:nvPr/>
        </p:nvSpPr>
        <p:spPr>
          <a:xfrm>
            <a:off x="2295144" y="201168"/>
            <a:ext cx="1207008" cy="164592"/>
          </a:xfrm>
          <a:prstGeom prst="rect">
            <a:avLst/>
          </a:prstGeom>
          <a:noFill/>
          <a:ln/>
        </p:spPr>
        <p:txBody>
          <a:bodyPr wrap="square" lIns="0" tIns="0" rIns="0" bIns="0" rtlCol="0" anchor="ctr">
            <a:normAutofit/>
          </a:bodyPr>
          <a:lstStyle/>
          <a:p>
            <a:pPr algn="l" indent="0" marL="0">
              <a:buNone/>
            </a:pPr>
            <a:r>
              <a:rPr lang="en-US" sz="760" b="1" dirty="0">
                <a:solidFill>
                  <a:srgbClr val="41D3AE"/>
                </a:solidFill>
                <a:latin typeface="Aptos" pitchFamily="34" charset="0"/>
                <a:ea typeface="Aptos" pitchFamily="34" charset="-122"/>
                <a:cs typeface="Aptos" pitchFamily="34" charset="-120"/>
              </a:rPr>
              <a:t>Solution</a:t>
            </a:r>
            <a:endParaRPr lang="en-US" sz="760" dirty="0"/>
          </a:p>
        </p:txBody>
      </p:sp>
      <p:sp>
        <p:nvSpPr>
          <p:cNvPr id="7" name="Shape 5"/>
          <p:cNvSpPr/>
          <p:nvPr/>
        </p:nvSpPr>
        <p:spPr>
          <a:xfrm>
            <a:off x="3493008" y="356616"/>
            <a:ext cx="73152" cy="73152"/>
          </a:xfrm>
          <a:prstGeom prst="ellipse">
            <a:avLst/>
          </a:prstGeom>
          <a:solidFill>
            <a:srgbClr val="41D3AE"/>
          </a:solidFill>
          <a:ln w="12700">
            <a:solidFill>
              <a:srgbClr val="41D3AE">
                <a:alpha val="0"/>
              </a:srgbClr>
            </a:solidFill>
            <a:prstDash val="solid"/>
          </a:ln>
        </p:spPr>
      </p:sp>
      <p:sp>
        <p:nvSpPr>
          <p:cNvPr id="8" name="Text 6"/>
          <p:cNvSpPr/>
          <p:nvPr/>
        </p:nvSpPr>
        <p:spPr>
          <a:xfrm>
            <a:off x="3657600" y="201168"/>
            <a:ext cx="1207008" cy="164592"/>
          </a:xfrm>
          <a:prstGeom prst="rect">
            <a:avLst/>
          </a:prstGeom>
          <a:noFill/>
          <a:ln/>
        </p:spPr>
        <p:txBody>
          <a:bodyPr wrap="square" lIns="0" tIns="0" rIns="0" bIns="0" rtlCol="0" anchor="ctr">
            <a:normAutofit/>
          </a:bodyPr>
          <a:lstStyle/>
          <a:p>
            <a:pPr algn="l" indent="0" marL="0">
              <a:buNone/>
            </a:pPr>
            <a:r>
              <a:rPr lang="en-US" sz="760" b="1" dirty="0">
                <a:solidFill>
                  <a:srgbClr val="41D3AE"/>
                </a:solidFill>
                <a:latin typeface="Aptos" pitchFamily="34" charset="0"/>
                <a:ea typeface="Aptos" pitchFamily="34" charset="-122"/>
                <a:cs typeface="Aptos" pitchFamily="34" charset="-120"/>
              </a:rPr>
              <a:t>Architecture</a:t>
            </a:r>
            <a:endParaRPr lang="en-US" sz="760" dirty="0"/>
          </a:p>
        </p:txBody>
      </p:sp>
      <p:sp>
        <p:nvSpPr>
          <p:cNvPr id="9" name="Shape 7"/>
          <p:cNvSpPr/>
          <p:nvPr/>
        </p:nvSpPr>
        <p:spPr>
          <a:xfrm>
            <a:off x="5001768" y="356616"/>
            <a:ext cx="73152" cy="73152"/>
          </a:xfrm>
          <a:prstGeom prst="ellipse">
            <a:avLst/>
          </a:prstGeom>
          <a:solidFill>
            <a:srgbClr val="41D3AE"/>
          </a:solidFill>
          <a:ln w="12700">
            <a:solidFill>
              <a:srgbClr val="41D3AE">
                <a:alpha val="0"/>
              </a:srgbClr>
            </a:solidFill>
            <a:prstDash val="solid"/>
          </a:ln>
        </p:spPr>
      </p:sp>
      <p:sp>
        <p:nvSpPr>
          <p:cNvPr id="10" name="Text 8"/>
          <p:cNvSpPr/>
          <p:nvPr/>
        </p:nvSpPr>
        <p:spPr>
          <a:xfrm>
            <a:off x="5166360" y="201168"/>
            <a:ext cx="1097280" cy="164592"/>
          </a:xfrm>
          <a:prstGeom prst="rect">
            <a:avLst/>
          </a:prstGeom>
          <a:noFill/>
          <a:ln/>
        </p:spPr>
        <p:txBody>
          <a:bodyPr wrap="square" lIns="0" tIns="0" rIns="0" bIns="0" rtlCol="0" anchor="ctr">
            <a:normAutofit/>
          </a:bodyPr>
          <a:lstStyle/>
          <a:p>
            <a:pPr algn="l" indent="0" marL="0">
              <a:buNone/>
            </a:pPr>
            <a:r>
              <a:rPr lang="en-US" sz="760" b="1" dirty="0">
                <a:solidFill>
                  <a:srgbClr val="41D3AE"/>
                </a:solidFill>
                <a:latin typeface="Aptos" pitchFamily="34" charset="0"/>
                <a:ea typeface="Aptos" pitchFamily="34" charset="-122"/>
                <a:cs typeface="Aptos" pitchFamily="34" charset="-120"/>
              </a:rPr>
              <a:t>Réalisation</a:t>
            </a:r>
            <a:endParaRPr lang="en-US" sz="760" dirty="0"/>
          </a:p>
        </p:txBody>
      </p:sp>
      <p:sp>
        <p:nvSpPr>
          <p:cNvPr id="11" name="Shape 9"/>
          <p:cNvSpPr/>
          <p:nvPr/>
        </p:nvSpPr>
        <p:spPr>
          <a:xfrm>
            <a:off x="6583680" y="356616"/>
            <a:ext cx="73152" cy="73152"/>
          </a:xfrm>
          <a:prstGeom prst="ellipse">
            <a:avLst/>
          </a:prstGeom>
          <a:solidFill>
            <a:srgbClr val="41D3AE"/>
          </a:solidFill>
          <a:ln w="12700">
            <a:solidFill>
              <a:srgbClr val="41D3AE">
                <a:alpha val="0"/>
              </a:srgbClr>
            </a:solidFill>
            <a:prstDash val="solid"/>
          </a:ln>
        </p:spPr>
      </p:sp>
      <p:sp>
        <p:nvSpPr>
          <p:cNvPr id="12" name="Text 10"/>
          <p:cNvSpPr/>
          <p:nvPr/>
        </p:nvSpPr>
        <p:spPr>
          <a:xfrm>
            <a:off x="6748272" y="201168"/>
            <a:ext cx="1207008" cy="164592"/>
          </a:xfrm>
          <a:prstGeom prst="rect">
            <a:avLst/>
          </a:prstGeom>
          <a:noFill/>
          <a:ln/>
        </p:spPr>
        <p:txBody>
          <a:bodyPr wrap="square" lIns="0" tIns="0" rIns="0" bIns="0" rtlCol="0" anchor="ctr">
            <a:normAutofit/>
          </a:bodyPr>
          <a:lstStyle/>
          <a:p>
            <a:pPr algn="l" indent="0" marL="0">
              <a:buNone/>
            </a:pPr>
            <a:r>
              <a:rPr lang="en-US" sz="760" b="1" dirty="0">
                <a:solidFill>
                  <a:srgbClr val="41D3AE"/>
                </a:solidFill>
                <a:latin typeface="Aptos" pitchFamily="34" charset="0"/>
                <a:ea typeface="Aptos" pitchFamily="34" charset="-122"/>
                <a:cs typeface="Aptos" pitchFamily="34" charset="-120"/>
              </a:rPr>
              <a:t>Démo</a:t>
            </a:r>
            <a:endParaRPr lang="en-US" sz="760" dirty="0"/>
          </a:p>
        </p:txBody>
      </p:sp>
      <p:sp>
        <p:nvSpPr>
          <p:cNvPr id="13" name="Shape 11"/>
          <p:cNvSpPr/>
          <p:nvPr/>
        </p:nvSpPr>
        <p:spPr>
          <a:xfrm>
            <a:off x="8229600" y="356616"/>
            <a:ext cx="109728" cy="109728"/>
          </a:xfrm>
          <a:prstGeom prst="ellipse">
            <a:avLst/>
          </a:prstGeom>
          <a:solidFill>
            <a:srgbClr val="41D3AE"/>
          </a:solidFill>
          <a:ln w="12700">
            <a:solidFill>
              <a:srgbClr val="41D3AE">
                <a:alpha val="0"/>
              </a:srgbClr>
            </a:solidFill>
            <a:prstDash val="solid"/>
          </a:ln>
        </p:spPr>
      </p:sp>
      <p:sp>
        <p:nvSpPr>
          <p:cNvPr id="14" name="Text 12"/>
          <p:cNvSpPr/>
          <p:nvPr/>
        </p:nvSpPr>
        <p:spPr>
          <a:xfrm>
            <a:off x="8394192" y="201168"/>
            <a:ext cx="1207008" cy="164592"/>
          </a:xfrm>
          <a:prstGeom prst="rect">
            <a:avLst/>
          </a:prstGeom>
          <a:noFill/>
          <a:ln/>
        </p:spPr>
        <p:txBody>
          <a:bodyPr wrap="square" lIns="0" tIns="0" rIns="0" bIns="0" rtlCol="0" anchor="ctr">
            <a:normAutofit/>
          </a:bodyPr>
          <a:lstStyle/>
          <a:p>
            <a:pPr algn="l" indent="0" marL="0">
              <a:buNone/>
            </a:pPr>
            <a:r>
              <a:rPr lang="en-US" sz="810" b="1" dirty="0">
                <a:solidFill>
                  <a:srgbClr val="41D3AE"/>
                </a:solidFill>
                <a:latin typeface="Aptos" pitchFamily="34" charset="0"/>
                <a:ea typeface="Aptos" pitchFamily="34" charset="-122"/>
                <a:cs typeface="Aptos" pitchFamily="34" charset="-120"/>
              </a:rPr>
              <a:t>Résultats</a:t>
            </a:r>
            <a:endParaRPr lang="en-US" sz="810" dirty="0"/>
          </a:p>
        </p:txBody>
      </p:sp>
      <p:sp>
        <p:nvSpPr>
          <p:cNvPr id="15" name="Shape 13"/>
          <p:cNvSpPr/>
          <p:nvPr/>
        </p:nvSpPr>
        <p:spPr>
          <a:xfrm>
            <a:off x="8375904" y="521208"/>
            <a:ext cx="731520" cy="0"/>
          </a:xfrm>
          <a:prstGeom prst="line">
            <a:avLst/>
          </a:prstGeom>
          <a:noFill/>
          <a:ln w="22860">
            <a:solidFill>
              <a:srgbClr val="41D3AE"/>
            </a:solidFill>
            <a:prstDash val="solid"/>
          </a:ln>
        </p:spPr>
      </p:sp>
      <p:sp>
        <p:nvSpPr>
          <p:cNvPr id="16" name="Shape 14"/>
          <p:cNvSpPr/>
          <p:nvPr/>
        </p:nvSpPr>
        <p:spPr>
          <a:xfrm>
            <a:off x="9784080" y="356616"/>
            <a:ext cx="73152" cy="73152"/>
          </a:xfrm>
          <a:prstGeom prst="ellipse">
            <a:avLst/>
          </a:prstGeom>
          <a:solidFill>
            <a:srgbClr val="6C7F89">
              <a:alpha val="80000"/>
            </a:srgbClr>
          </a:solidFill>
          <a:ln w="12700">
            <a:solidFill>
              <a:srgbClr val="6C7F89">
                <a:alpha val="0"/>
              </a:srgbClr>
            </a:solidFill>
            <a:prstDash val="solid"/>
          </a:ln>
        </p:spPr>
      </p:sp>
      <p:sp>
        <p:nvSpPr>
          <p:cNvPr id="17" name="Text 15"/>
          <p:cNvSpPr/>
          <p:nvPr/>
        </p:nvSpPr>
        <p:spPr>
          <a:xfrm>
            <a:off x="9948672" y="201168"/>
            <a:ext cx="1207008" cy="164592"/>
          </a:xfrm>
          <a:prstGeom prst="rect">
            <a:avLst/>
          </a:prstGeom>
          <a:noFill/>
          <a:ln/>
        </p:spPr>
        <p:txBody>
          <a:bodyPr wrap="square" lIns="0" tIns="0" rIns="0" bIns="0" rtlCol="0" anchor="ctr">
            <a:normAutofit/>
          </a:bodyPr>
          <a:lstStyle/>
          <a:p>
            <a:pPr algn="l" indent="0" marL="0">
              <a:buNone/>
            </a:pPr>
            <a:r>
              <a:rPr lang="en-US" sz="760" dirty="0">
                <a:solidFill>
                  <a:srgbClr val="6C7F89"/>
                </a:solidFill>
                <a:latin typeface="Aptos" pitchFamily="34" charset="0"/>
                <a:ea typeface="Aptos" pitchFamily="34" charset="-122"/>
                <a:cs typeface="Aptos" pitchFamily="34" charset="-120"/>
              </a:rPr>
              <a:t>Conclusion</a:t>
            </a:r>
            <a:endParaRPr lang="en-US" sz="760" dirty="0"/>
          </a:p>
        </p:txBody>
      </p:sp>
      <p:sp>
        <p:nvSpPr>
          <p:cNvPr id="18" name="Shape 16"/>
          <p:cNvSpPr/>
          <p:nvPr/>
        </p:nvSpPr>
        <p:spPr>
          <a:xfrm>
            <a:off x="658368" y="6428232"/>
            <a:ext cx="10863072" cy="0"/>
          </a:xfrm>
          <a:prstGeom prst="line">
            <a:avLst/>
          </a:prstGeom>
          <a:noFill/>
          <a:ln w="8890">
            <a:solidFill>
              <a:srgbClr val="6C7F89">
                <a:alpha val="80000"/>
              </a:srgbClr>
            </a:solidFill>
            <a:prstDash val="solid"/>
          </a:ln>
        </p:spPr>
      </p:sp>
      <p:sp>
        <p:nvSpPr>
          <p:cNvPr id="19" name="Text 17"/>
          <p:cNvSpPr/>
          <p:nvPr/>
        </p:nvSpPr>
        <p:spPr>
          <a:xfrm>
            <a:off x="658368" y="6510528"/>
            <a:ext cx="2926080" cy="146304"/>
          </a:xfrm>
          <a:prstGeom prst="rect">
            <a:avLst/>
          </a:prstGeom>
          <a:noFill/>
          <a:ln/>
        </p:spPr>
        <p:txBody>
          <a:bodyPr wrap="square" lIns="0" tIns="0" rIns="0" bIns="0" rtlCol="0" anchor="ctr">
            <a:normAutofit/>
          </a:bodyPr>
          <a:lstStyle/>
          <a:p>
            <a:pPr algn="l" indent="0" marL="0">
              <a:buNone/>
            </a:pPr>
            <a:r>
              <a:rPr lang="en-US" sz="720" b="1" spc="120" kern="0" dirty="0">
                <a:solidFill>
                  <a:srgbClr val="6C7F89"/>
                </a:solidFill>
                <a:latin typeface="Aptos Mono" pitchFamily="34" charset="0"/>
                <a:ea typeface="Aptos Mono" pitchFamily="34" charset="-122"/>
                <a:cs typeface="Aptos Mono" pitchFamily="34" charset="-120"/>
              </a:rPr>
              <a:t>AGENTIC MIGRATION PLATFORM</a:t>
            </a:r>
            <a:endParaRPr lang="en-US" sz="720" dirty="0"/>
          </a:p>
        </p:txBody>
      </p:sp>
      <p:sp>
        <p:nvSpPr>
          <p:cNvPr id="20" name="Text 18"/>
          <p:cNvSpPr/>
          <p:nvPr/>
        </p:nvSpPr>
        <p:spPr>
          <a:xfrm>
            <a:off x="10561320" y="6501384"/>
            <a:ext cx="950976" cy="155448"/>
          </a:xfrm>
          <a:prstGeom prst="rect">
            <a:avLst/>
          </a:prstGeom>
          <a:noFill/>
          <a:ln/>
        </p:spPr>
        <p:txBody>
          <a:bodyPr wrap="square" lIns="0" tIns="0" rIns="0" bIns="0" rtlCol="0" anchor="ctr">
            <a:normAutofit/>
          </a:bodyPr>
          <a:lstStyle/>
          <a:p>
            <a:pPr algn="r" indent="0" marL="0">
              <a:buNone/>
            </a:pPr>
            <a:r>
              <a:rPr lang="en-US" sz="770" b="1" spc="80" kern="0" dirty="0">
                <a:solidFill>
                  <a:srgbClr val="6C7F89"/>
                </a:solidFill>
                <a:latin typeface="Aptos Mono" pitchFamily="34" charset="0"/>
                <a:ea typeface="Aptos Mono" pitchFamily="34" charset="-122"/>
                <a:cs typeface="Aptos Mono" pitchFamily="34" charset="-120"/>
              </a:rPr>
              <a:t>14 / 18</a:t>
            </a:r>
            <a:endParaRPr lang="en-US" sz="770" dirty="0"/>
          </a:p>
        </p:txBody>
      </p:sp>
      <p:sp>
        <p:nvSpPr>
          <p:cNvPr id="21" name="Text 19"/>
          <p:cNvSpPr/>
          <p:nvPr/>
        </p:nvSpPr>
        <p:spPr>
          <a:xfrm>
            <a:off x="658368" y="758952"/>
            <a:ext cx="3200400" cy="164592"/>
          </a:xfrm>
          <a:prstGeom prst="rect">
            <a:avLst/>
          </a:prstGeom>
          <a:noFill/>
          <a:ln/>
        </p:spPr>
        <p:txBody>
          <a:bodyPr wrap="square" lIns="0" tIns="0" rIns="0" bIns="0" rtlCol="0" anchor="ctr">
            <a:normAutofit/>
          </a:bodyPr>
          <a:lstStyle/>
          <a:p>
            <a:pPr algn="l" indent="0" marL="0">
              <a:buNone/>
            </a:pPr>
            <a:r>
              <a:rPr lang="en-US" sz="900" b="1" spc="135" kern="0" dirty="0">
                <a:solidFill>
                  <a:srgbClr val="101820"/>
                </a:solidFill>
                <a:latin typeface="Aptos Mono" pitchFamily="34" charset="0"/>
                <a:ea typeface="Aptos Mono" pitchFamily="34" charset="-122"/>
                <a:cs typeface="Aptos Mono" pitchFamily="34" charset="-120"/>
              </a:rPr>
              <a:t>RÉSULTATS</a:t>
            </a:r>
            <a:endParaRPr lang="en-US" sz="900" dirty="0"/>
          </a:p>
        </p:txBody>
      </p:sp>
      <p:sp>
        <p:nvSpPr>
          <p:cNvPr id="22" name="Text 20"/>
          <p:cNvSpPr/>
          <p:nvPr/>
        </p:nvSpPr>
        <p:spPr>
          <a:xfrm>
            <a:off x="658368" y="969264"/>
            <a:ext cx="10607040" cy="493776"/>
          </a:xfrm>
          <a:prstGeom prst="rect">
            <a:avLst/>
          </a:prstGeom>
          <a:noFill/>
          <a:ln/>
        </p:spPr>
        <p:txBody>
          <a:bodyPr wrap="square" lIns="0" tIns="0" rIns="0" bIns="0" rtlCol="0" anchor="t">
            <a:normAutofit/>
          </a:bodyPr>
          <a:lstStyle/>
          <a:p>
            <a:pPr algn="l" indent="0" marL="0">
              <a:buNone/>
            </a:pPr>
            <a:r>
              <a:rPr lang="en-US" sz="2900" b="1" dirty="0">
                <a:solidFill>
                  <a:srgbClr val="101820"/>
                </a:solidFill>
                <a:latin typeface="Aptos Display" pitchFamily="34" charset="0"/>
                <a:ea typeface="Aptos Display" pitchFamily="34" charset="-122"/>
                <a:cs typeface="Aptos Display" pitchFamily="34" charset="-120"/>
              </a:rPr>
              <a:t>Les preuves disponibles</a:t>
            </a:r>
            <a:endParaRPr lang="en-US" sz="2900" dirty="0"/>
          </a:p>
        </p:txBody>
      </p:sp>
      <p:sp>
        <p:nvSpPr>
          <p:cNvPr id="23" name="Text 21"/>
          <p:cNvSpPr/>
          <p:nvPr/>
        </p:nvSpPr>
        <p:spPr>
          <a:xfrm>
            <a:off x="658368" y="1499616"/>
            <a:ext cx="9966960" cy="256032"/>
          </a:xfrm>
          <a:prstGeom prst="rect">
            <a:avLst/>
          </a:prstGeom>
          <a:noFill/>
          <a:ln/>
        </p:spPr>
        <p:txBody>
          <a:bodyPr wrap="square" lIns="0" tIns="0" rIns="0" bIns="0" rtlCol="0" anchor="t">
            <a:normAutofit/>
          </a:bodyPr>
          <a:lstStyle/>
          <a:p>
            <a:pPr algn="l" indent="0" marL="0">
              <a:buNone/>
            </a:pPr>
            <a:r>
              <a:rPr lang="en-US" sz="1200" dirty="0">
                <a:solidFill>
                  <a:srgbClr val="6C7F89"/>
                </a:solidFill>
                <a:latin typeface="Aptos" pitchFamily="34" charset="0"/>
                <a:ea typeface="Aptos" pitchFamily="34" charset="-122"/>
                <a:cs typeface="Aptos" pitchFamily="34" charset="-120"/>
              </a:rPr>
              <a:t>Des observations ponctuelles de contrôle et de revalidation — pas un benchmark global.</a:t>
            </a:r>
            <a:endParaRPr lang="en-US" sz="1200" dirty="0"/>
          </a:p>
        </p:txBody>
      </p:sp>
      <p:sp>
        <p:nvSpPr>
          <p:cNvPr id="24" name="Text 22"/>
          <p:cNvSpPr/>
          <p:nvPr/>
        </p:nvSpPr>
        <p:spPr>
          <a:xfrm>
            <a:off x="731520" y="2048256"/>
            <a:ext cx="2395728" cy="164592"/>
          </a:xfrm>
          <a:prstGeom prst="rect">
            <a:avLst/>
          </a:prstGeom>
          <a:noFill/>
          <a:ln/>
        </p:spPr>
        <p:txBody>
          <a:bodyPr wrap="square" lIns="0" tIns="0" rIns="0" bIns="0" rtlCol="0" anchor="ctr">
            <a:normAutofit/>
          </a:bodyPr>
          <a:lstStyle/>
          <a:p>
            <a:pPr algn="l" indent="0" marL="0">
              <a:buNone/>
            </a:pPr>
            <a:r>
              <a:rPr lang="en-US" sz="820" b="1" spc="115" kern="0" dirty="0">
                <a:solidFill>
                  <a:srgbClr val="101820"/>
                </a:solidFill>
                <a:latin typeface="Aptos Mono" pitchFamily="34" charset="0"/>
                <a:ea typeface="Aptos Mono" pitchFamily="34" charset="-122"/>
                <a:cs typeface="Aptos Mono" pitchFamily="34" charset="-120"/>
              </a:rPr>
              <a:t>POINT-IN-TIME EVIDENCE</a:t>
            </a:r>
            <a:endParaRPr lang="en-US" sz="820" dirty="0"/>
          </a:p>
        </p:txBody>
      </p:sp>
      <p:sp>
        <p:nvSpPr>
          <p:cNvPr id="25" name="Shape 23"/>
          <p:cNvSpPr/>
          <p:nvPr/>
        </p:nvSpPr>
        <p:spPr>
          <a:xfrm>
            <a:off x="749808" y="2395728"/>
            <a:ext cx="10533888" cy="0"/>
          </a:xfrm>
          <a:prstGeom prst="line">
            <a:avLst/>
          </a:prstGeom>
          <a:noFill/>
          <a:ln w="10160">
            <a:solidFill>
              <a:srgbClr val="6C7F89">
                <a:alpha val="80000"/>
              </a:srgbClr>
            </a:solidFill>
            <a:prstDash val="solid"/>
          </a:ln>
        </p:spPr>
      </p:sp>
      <p:sp>
        <p:nvSpPr>
          <p:cNvPr id="26" name="Text 24"/>
          <p:cNvSpPr/>
          <p:nvPr/>
        </p:nvSpPr>
        <p:spPr>
          <a:xfrm>
            <a:off x="786384" y="2724912"/>
            <a:ext cx="2103120" cy="749808"/>
          </a:xfrm>
          <a:prstGeom prst="rect">
            <a:avLst/>
          </a:prstGeom>
          <a:noFill/>
          <a:ln/>
        </p:spPr>
        <p:txBody>
          <a:bodyPr wrap="square" lIns="0" tIns="0" rIns="0" bIns="0" rtlCol="0" anchor="t">
            <a:normAutofit/>
          </a:bodyPr>
          <a:lstStyle/>
          <a:p>
            <a:pPr algn="l" indent="0" marL="0">
              <a:buNone/>
            </a:pPr>
            <a:r>
              <a:rPr lang="en-US" sz="6200" b="1" dirty="0">
                <a:solidFill>
                  <a:srgbClr val="101820"/>
                </a:solidFill>
                <a:latin typeface="Aptos Display" pitchFamily="34" charset="0"/>
                <a:ea typeface="Aptos Display" pitchFamily="34" charset="-122"/>
                <a:cs typeface="Aptos Display" pitchFamily="34" charset="-120"/>
              </a:rPr>
              <a:t>607</a:t>
            </a:r>
            <a:endParaRPr lang="en-US" sz="6200" dirty="0"/>
          </a:p>
        </p:txBody>
      </p:sp>
      <p:sp>
        <p:nvSpPr>
          <p:cNvPr id="27" name="Text 25"/>
          <p:cNvSpPr/>
          <p:nvPr/>
        </p:nvSpPr>
        <p:spPr>
          <a:xfrm>
            <a:off x="822960" y="3602736"/>
            <a:ext cx="1097280" cy="164592"/>
          </a:xfrm>
          <a:prstGeom prst="rect">
            <a:avLst/>
          </a:prstGeom>
          <a:noFill/>
          <a:ln/>
        </p:spPr>
        <p:txBody>
          <a:bodyPr wrap="square" lIns="0" tIns="0" rIns="0" bIns="0" rtlCol="0" anchor="ctr">
            <a:normAutofit/>
          </a:bodyPr>
          <a:lstStyle/>
          <a:p>
            <a:pPr algn="l" indent="0" marL="0">
              <a:buNone/>
            </a:pPr>
            <a:r>
              <a:rPr lang="en-US" sz="800" b="1" spc="100" kern="0" dirty="0">
                <a:solidFill>
                  <a:srgbClr val="4E9DFF"/>
                </a:solidFill>
                <a:latin typeface="Aptos Mono" pitchFamily="34" charset="0"/>
                <a:ea typeface="Aptos Mono" pitchFamily="34" charset="-122"/>
                <a:cs typeface="Aptos Mono" pitchFamily="34" charset="-120"/>
              </a:rPr>
              <a:t>BACKEND</a:t>
            </a:r>
            <a:endParaRPr lang="en-US" sz="800" dirty="0"/>
          </a:p>
        </p:txBody>
      </p:sp>
      <p:sp>
        <p:nvSpPr>
          <p:cNvPr id="28" name="Text 26"/>
          <p:cNvSpPr/>
          <p:nvPr/>
        </p:nvSpPr>
        <p:spPr>
          <a:xfrm>
            <a:off x="2066544" y="3584448"/>
            <a:ext cx="1920240" cy="201168"/>
          </a:xfrm>
          <a:prstGeom prst="rect">
            <a:avLst/>
          </a:prstGeom>
          <a:noFill/>
          <a:ln/>
        </p:spPr>
        <p:txBody>
          <a:bodyPr wrap="square" lIns="0" tIns="0" rIns="0" bIns="0" rtlCol="0" anchor="ctr">
            <a:normAutofit/>
          </a:bodyPr>
          <a:lstStyle/>
          <a:p>
            <a:pPr algn="l" indent="0" marL="0">
              <a:buNone/>
            </a:pPr>
            <a:r>
              <a:rPr lang="en-US" sz="1220" b="1" dirty="0">
                <a:solidFill>
                  <a:srgbClr val="101820"/>
                </a:solidFill>
                <a:latin typeface="Aptos Display" pitchFamily="34" charset="0"/>
                <a:ea typeface="Aptos Display" pitchFamily="34" charset="-122"/>
                <a:cs typeface="Aptos Display" pitchFamily="34" charset="-120"/>
              </a:rPr>
              <a:t>tests réussis</a:t>
            </a:r>
            <a:endParaRPr lang="en-US" sz="1220" dirty="0"/>
          </a:p>
        </p:txBody>
      </p:sp>
      <p:sp>
        <p:nvSpPr>
          <p:cNvPr id="29" name="Text 27"/>
          <p:cNvSpPr/>
          <p:nvPr/>
        </p:nvSpPr>
        <p:spPr>
          <a:xfrm>
            <a:off x="822960" y="4005072"/>
            <a:ext cx="2011680" cy="201168"/>
          </a:xfrm>
          <a:prstGeom prst="rect">
            <a:avLst/>
          </a:prstGeom>
          <a:noFill/>
          <a:ln/>
        </p:spPr>
        <p:txBody>
          <a:bodyPr wrap="square" lIns="0" tIns="0" rIns="0" bIns="0" rtlCol="0" anchor="ctr">
            <a:normAutofit/>
          </a:bodyPr>
          <a:lstStyle/>
          <a:p>
            <a:pPr algn="l" indent="0" marL="0">
              <a:buNone/>
            </a:pPr>
            <a:r>
              <a:rPr lang="en-US" sz="1040" b="1" dirty="0">
                <a:solidFill>
                  <a:srgbClr val="6C7F89"/>
                </a:solidFill>
                <a:latin typeface="Aptos Mono" pitchFamily="34" charset="0"/>
                <a:ea typeface="Aptos Mono" pitchFamily="34" charset="-122"/>
                <a:cs typeface="Aptos Mono" pitchFamily="34" charset="-120"/>
              </a:rPr>
              <a:t>+ 4 ignorés</a:t>
            </a:r>
            <a:endParaRPr lang="en-US" sz="1040" dirty="0"/>
          </a:p>
        </p:txBody>
      </p:sp>
      <p:sp>
        <p:nvSpPr>
          <p:cNvPr id="30" name="Shape 28"/>
          <p:cNvSpPr/>
          <p:nvPr/>
        </p:nvSpPr>
        <p:spPr>
          <a:xfrm>
            <a:off x="4334256" y="2688336"/>
            <a:ext cx="0" cy="2103120"/>
          </a:xfrm>
          <a:prstGeom prst="line">
            <a:avLst/>
          </a:prstGeom>
          <a:noFill/>
          <a:ln w="10160">
            <a:solidFill>
              <a:srgbClr val="6C7F89">
                <a:alpha val="75000"/>
              </a:srgbClr>
            </a:solidFill>
            <a:prstDash val="solid"/>
          </a:ln>
        </p:spPr>
      </p:sp>
      <p:sp>
        <p:nvSpPr>
          <p:cNvPr id="31" name="Text 29"/>
          <p:cNvSpPr/>
          <p:nvPr/>
        </p:nvSpPr>
        <p:spPr>
          <a:xfrm>
            <a:off x="4718304" y="2724912"/>
            <a:ext cx="2889504" cy="749808"/>
          </a:xfrm>
          <a:prstGeom prst="rect">
            <a:avLst/>
          </a:prstGeom>
          <a:noFill/>
          <a:ln/>
        </p:spPr>
        <p:txBody>
          <a:bodyPr wrap="square" lIns="0" tIns="0" rIns="0" bIns="0" rtlCol="0" anchor="t">
            <a:normAutofit/>
          </a:bodyPr>
          <a:lstStyle/>
          <a:p>
            <a:pPr algn="l" indent="0" marL="0">
              <a:buNone/>
            </a:pPr>
            <a:r>
              <a:rPr lang="en-US" sz="5200" b="1" dirty="0">
                <a:solidFill>
                  <a:srgbClr val="101820"/>
                </a:solidFill>
                <a:latin typeface="Aptos Display" pitchFamily="34" charset="0"/>
                <a:ea typeface="Aptos Display" pitchFamily="34" charset="-122"/>
                <a:cs typeface="Aptos Display" pitchFamily="34" charset="-120"/>
              </a:rPr>
              <a:t>12 → 11</a:t>
            </a:r>
            <a:endParaRPr lang="en-US" sz="5200" dirty="0"/>
          </a:p>
        </p:txBody>
      </p:sp>
      <p:sp>
        <p:nvSpPr>
          <p:cNvPr id="32" name="Text 30"/>
          <p:cNvSpPr/>
          <p:nvPr/>
        </p:nvSpPr>
        <p:spPr>
          <a:xfrm>
            <a:off x="4754880" y="3602736"/>
            <a:ext cx="1920240" cy="164592"/>
          </a:xfrm>
          <a:prstGeom prst="rect">
            <a:avLst/>
          </a:prstGeom>
          <a:noFill/>
          <a:ln/>
        </p:spPr>
        <p:txBody>
          <a:bodyPr wrap="square" lIns="0" tIns="0" rIns="0" bIns="0" rtlCol="0" anchor="ctr">
            <a:normAutofit/>
          </a:bodyPr>
          <a:lstStyle/>
          <a:p>
            <a:pPr algn="l" indent="0" marL="0">
              <a:buNone/>
            </a:pPr>
            <a:r>
              <a:rPr lang="en-US" sz="800" b="1" spc="95" kern="0" dirty="0">
                <a:solidFill>
                  <a:srgbClr val="68D6E8"/>
                </a:solidFill>
                <a:latin typeface="Aptos Mono" pitchFamily="34" charset="0"/>
                <a:ea typeface="Aptos Mono" pitchFamily="34" charset="-122"/>
                <a:cs typeface="Aptos Mono" pitchFamily="34" charset="-120"/>
              </a:rPr>
              <a:t>FRONTEND BASELINE</a:t>
            </a:r>
            <a:endParaRPr lang="en-US" sz="800" dirty="0"/>
          </a:p>
        </p:txBody>
      </p:sp>
      <p:sp>
        <p:nvSpPr>
          <p:cNvPr id="33" name="Text 31"/>
          <p:cNvSpPr/>
          <p:nvPr/>
        </p:nvSpPr>
        <p:spPr>
          <a:xfrm>
            <a:off x="4754880" y="3986784"/>
            <a:ext cx="2487168" cy="201168"/>
          </a:xfrm>
          <a:prstGeom prst="rect">
            <a:avLst/>
          </a:prstGeom>
          <a:noFill/>
          <a:ln/>
        </p:spPr>
        <p:txBody>
          <a:bodyPr wrap="square" lIns="0" tIns="0" rIns="0" bIns="0" rtlCol="0" anchor="ctr">
            <a:normAutofit/>
          </a:bodyPr>
          <a:lstStyle/>
          <a:p>
            <a:pPr algn="l" indent="0" marL="0">
              <a:buNone/>
            </a:pPr>
            <a:r>
              <a:rPr lang="en-US" sz="1130" b="1" dirty="0">
                <a:solidFill>
                  <a:srgbClr val="101820"/>
                </a:solidFill>
                <a:latin typeface="Aptos Display" pitchFamily="34" charset="0"/>
                <a:ea typeface="Aptos Display" pitchFamily="34" charset="-122"/>
                <a:cs typeface="Aptos Display" pitchFamily="34" charset="-120"/>
              </a:rPr>
              <a:t>échecs après intégration</a:t>
            </a:r>
            <a:endParaRPr lang="en-US" sz="1130" dirty="0"/>
          </a:p>
        </p:txBody>
      </p:sp>
      <p:sp>
        <p:nvSpPr>
          <p:cNvPr id="34" name="Text 32"/>
          <p:cNvSpPr/>
          <p:nvPr/>
        </p:nvSpPr>
        <p:spPr>
          <a:xfrm>
            <a:off x="4754880" y="4370832"/>
            <a:ext cx="2157984" cy="182880"/>
          </a:xfrm>
          <a:prstGeom prst="rect">
            <a:avLst/>
          </a:prstGeom>
          <a:noFill/>
          <a:ln/>
        </p:spPr>
        <p:txBody>
          <a:bodyPr wrap="square" lIns="0" tIns="0" rIns="0" bIns="0" rtlCol="0" anchor="ctr">
            <a:normAutofit/>
          </a:bodyPr>
          <a:lstStyle/>
          <a:p>
            <a:pPr algn="l" indent="0" marL="0">
              <a:buNone/>
            </a:pPr>
            <a:r>
              <a:rPr lang="en-US" sz="940" i="1" dirty="0">
                <a:solidFill>
                  <a:srgbClr val="6C7F89"/>
                </a:solidFill>
                <a:latin typeface="Aptos" pitchFamily="34" charset="0"/>
                <a:ea typeface="Aptos" pitchFamily="34" charset="-122"/>
                <a:cs typeface="Aptos" pitchFamily="34" charset="-120"/>
              </a:rPr>
              <a:t>observation ponctuelle</a:t>
            </a:r>
            <a:endParaRPr lang="en-US" sz="940" dirty="0"/>
          </a:p>
        </p:txBody>
      </p:sp>
      <p:sp>
        <p:nvSpPr>
          <p:cNvPr id="35" name="Shape 33"/>
          <p:cNvSpPr/>
          <p:nvPr/>
        </p:nvSpPr>
        <p:spPr>
          <a:xfrm>
            <a:off x="8266176" y="2688336"/>
            <a:ext cx="0" cy="2103120"/>
          </a:xfrm>
          <a:prstGeom prst="line">
            <a:avLst/>
          </a:prstGeom>
          <a:noFill/>
          <a:ln w="10160">
            <a:solidFill>
              <a:srgbClr val="6C7F89">
                <a:alpha val="75000"/>
              </a:srgbClr>
            </a:solidFill>
            <a:prstDash val="solid"/>
          </a:ln>
        </p:spPr>
      </p:sp>
      <p:sp>
        <p:nvSpPr>
          <p:cNvPr id="36" name="Text 34"/>
          <p:cNvSpPr/>
          <p:nvPr/>
        </p:nvSpPr>
        <p:spPr>
          <a:xfrm>
            <a:off x="8613648" y="2798064"/>
            <a:ext cx="1298448" cy="164592"/>
          </a:xfrm>
          <a:prstGeom prst="rect">
            <a:avLst/>
          </a:prstGeom>
          <a:noFill/>
          <a:ln/>
        </p:spPr>
        <p:txBody>
          <a:bodyPr wrap="square" lIns="0" tIns="0" rIns="0" bIns="0" rtlCol="0" anchor="ctr">
            <a:normAutofit/>
          </a:bodyPr>
          <a:lstStyle/>
          <a:p>
            <a:pPr algn="l" indent="0" marL="0">
              <a:buNone/>
            </a:pPr>
            <a:r>
              <a:rPr lang="en-US" sz="800" b="1" spc="100" kern="0" dirty="0">
                <a:solidFill>
                  <a:srgbClr val="41D3AE"/>
                </a:solidFill>
                <a:latin typeface="Aptos Mono" pitchFamily="34" charset="0"/>
                <a:ea typeface="Aptos Mono" pitchFamily="34" charset="-122"/>
                <a:cs typeface="Aptos Mono" pitchFamily="34" charset="-120"/>
              </a:rPr>
              <a:t>FRONTEND</a:t>
            </a:r>
            <a:endParaRPr lang="en-US" sz="800" dirty="0"/>
          </a:p>
        </p:txBody>
      </p:sp>
      <p:sp>
        <p:nvSpPr>
          <p:cNvPr id="37" name="Text 35"/>
          <p:cNvSpPr/>
          <p:nvPr/>
        </p:nvSpPr>
        <p:spPr>
          <a:xfrm>
            <a:off x="8613648" y="3236976"/>
            <a:ext cx="1207008" cy="219456"/>
          </a:xfrm>
          <a:prstGeom prst="rect">
            <a:avLst/>
          </a:prstGeom>
          <a:noFill/>
          <a:ln/>
        </p:spPr>
        <p:txBody>
          <a:bodyPr wrap="square" lIns="0" tIns="0" rIns="0" bIns="0" rtlCol="0" anchor="ctr">
            <a:normAutofit/>
          </a:bodyPr>
          <a:lstStyle/>
          <a:p>
            <a:pPr algn="l" indent="0" marL="0">
              <a:buNone/>
            </a:pPr>
            <a:r>
              <a:rPr lang="en-US" sz="1400" b="1" dirty="0">
                <a:solidFill>
                  <a:srgbClr val="101820"/>
                </a:solidFill>
                <a:latin typeface="Aptos Mono" pitchFamily="34" charset="0"/>
                <a:ea typeface="Aptos Mono" pitchFamily="34" charset="-122"/>
                <a:cs typeface="Aptos Mono" pitchFamily="34" charset="-120"/>
              </a:rPr>
              <a:t>type</a:t>
            </a:r>
            <a:endParaRPr lang="en-US" sz="1400" dirty="0"/>
          </a:p>
        </p:txBody>
      </p:sp>
      <p:sp>
        <p:nvSpPr>
          <p:cNvPr id="38" name="Text 36"/>
          <p:cNvSpPr/>
          <p:nvPr/>
        </p:nvSpPr>
        <p:spPr>
          <a:xfrm>
            <a:off x="8613648" y="3602736"/>
            <a:ext cx="1481328" cy="219456"/>
          </a:xfrm>
          <a:prstGeom prst="rect">
            <a:avLst/>
          </a:prstGeom>
          <a:noFill/>
          <a:ln/>
        </p:spPr>
        <p:txBody>
          <a:bodyPr wrap="square" lIns="0" tIns="0" rIns="0" bIns="0" rtlCol="0" anchor="ctr">
            <a:normAutofit/>
          </a:bodyPr>
          <a:lstStyle/>
          <a:p>
            <a:pPr algn="l" indent="0" marL="0">
              <a:buNone/>
            </a:pPr>
            <a:r>
              <a:rPr lang="en-US" sz="1400" b="1" dirty="0">
                <a:solidFill>
                  <a:srgbClr val="101820"/>
                </a:solidFill>
                <a:latin typeface="Aptos Mono" pitchFamily="34" charset="0"/>
                <a:ea typeface="Aptos Mono" pitchFamily="34" charset="-122"/>
                <a:cs typeface="Aptos Mono" pitchFamily="34" charset="-120"/>
              </a:rPr>
              <a:t>conformité</a:t>
            </a:r>
            <a:endParaRPr lang="en-US" sz="1400" dirty="0"/>
          </a:p>
        </p:txBody>
      </p:sp>
      <p:sp>
        <p:nvSpPr>
          <p:cNvPr id="39" name="Text 37"/>
          <p:cNvSpPr/>
          <p:nvPr/>
        </p:nvSpPr>
        <p:spPr>
          <a:xfrm>
            <a:off x="8613648" y="3968496"/>
            <a:ext cx="1207008" cy="219456"/>
          </a:xfrm>
          <a:prstGeom prst="rect">
            <a:avLst/>
          </a:prstGeom>
          <a:noFill/>
          <a:ln/>
        </p:spPr>
        <p:txBody>
          <a:bodyPr wrap="square" lIns="0" tIns="0" rIns="0" bIns="0" rtlCol="0" anchor="ctr">
            <a:normAutofit/>
          </a:bodyPr>
          <a:lstStyle/>
          <a:p>
            <a:pPr algn="l" indent="0" marL="0">
              <a:buNone/>
            </a:pPr>
            <a:r>
              <a:rPr lang="en-US" sz="1400" b="1" dirty="0">
                <a:solidFill>
                  <a:srgbClr val="101820"/>
                </a:solidFill>
                <a:latin typeface="Aptos Mono" pitchFamily="34" charset="0"/>
                <a:ea typeface="Aptos Mono" pitchFamily="34" charset="-122"/>
                <a:cs typeface="Aptos Mono" pitchFamily="34" charset="-120"/>
              </a:rPr>
              <a:t>build</a:t>
            </a:r>
            <a:endParaRPr lang="en-US" sz="1400" dirty="0"/>
          </a:p>
        </p:txBody>
      </p:sp>
      <p:sp>
        <p:nvSpPr>
          <p:cNvPr id="40" name="Shape 38"/>
          <p:cNvSpPr/>
          <p:nvPr/>
        </p:nvSpPr>
        <p:spPr>
          <a:xfrm>
            <a:off x="10607040" y="2852928"/>
            <a:ext cx="128016" cy="128016"/>
          </a:xfrm>
          <a:prstGeom prst="ellipse">
            <a:avLst/>
          </a:prstGeom>
          <a:solidFill>
            <a:srgbClr val="41D3AE"/>
          </a:solidFill>
          <a:ln w="12700">
            <a:solidFill>
              <a:srgbClr val="41D3AE">
                <a:alpha val="0"/>
              </a:srgbClr>
            </a:solidFill>
            <a:prstDash val="solid"/>
          </a:ln>
        </p:spPr>
      </p:sp>
      <p:sp>
        <p:nvSpPr>
          <p:cNvPr id="41" name="Shape 39"/>
          <p:cNvSpPr/>
          <p:nvPr/>
        </p:nvSpPr>
        <p:spPr>
          <a:xfrm>
            <a:off x="10607040" y="3218688"/>
            <a:ext cx="128016" cy="128016"/>
          </a:xfrm>
          <a:prstGeom prst="ellipse">
            <a:avLst/>
          </a:prstGeom>
          <a:solidFill>
            <a:srgbClr val="41D3AE"/>
          </a:solidFill>
          <a:ln w="12700">
            <a:solidFill>
              <a:srgbClr val="41D3AE">
                <a:alpha val="0"/>
              </a:srgbClr>
            </a:solidFill>
            <a:prstDash val="solid"/>
          </a:ln>
        </p:spPr>
      </p:sp>
      <p:sp>
        <p:nvSpPr>
          <p:cNvPr id="42" name="Shape 40"/>
          <p:cNvSpPr/>
          <p:nvPr/>
        </p:nvSpPr>
        <p:spPr>
          <a:xfrm>
            <a:off x="10607040" y="3584448"/>
            <a:ext cx="128016" cy="128016"/>
          </a:xfrm>
          <a:prstGeom prst="ellipse">
            <a:avLst/>
          </a:prstGeom>
          <a:solidFill>
            <a:srgbClr val="41D3AE"/>
          </a:solidFill>
          <a:ln w="12700">
            <a:solidFill>
              <a:srgbClr val="41D3AE">
                <a:alpha val="0"/>
              </a:srgbClr>
            </a:solidFill>
            <a:prstDash val="solid"/>
          </a:ln>
        </p:spPr>
      </p:sp>
      <p:sp>
        <p:nvSpPr>
          <p:cNvPr id="43" name="Text 41"/>
          <p:cNvSpPr/>
          <p:nvPr/>
        </p:nvSpPr>
        <p:spPr>
          <a:xfrm>
            <a:off x="8613648" y="4370832"/>
            <a:ext cx="1060704" cy="164592"/>
          </a:xfrm>
          <a:prstGeom prst="rect">
            <a:avLst/>
          </a:prstGeom>
          <a:noFill/>
          <a:ln/>
        </p:spPr>
        <p:txBody>
          <a:bodyPr wrap="square" lIns="0" tIns="0" rIns="0" bIns="0" rtlCol="0" anchor="ctr">
            <a:normAutofit/>
          </a:bodyPr>
          <a:lstStyle/>
          <a:p>
            <a:pPr algn="l" indent="0" marL="0">
              <a:buNone/>
            </a:pPr>
            <a:r>
              <a:rPr lang="en-US" sz="780" b="1" spc="85" kern="0" dirty="0">
                <a:solidFill>
                  <a:srgbClr val="41D3AE"/>
                </a:solidFill>
                <a:latin typeface="Aptos Mono" pitchFamily="34" charset="0"/>
                <a:ea typeface="Aptos Mono" pitchFamily="34" charset="-122"/>
                <a:cs typeface="Aptos Mono" pitchFamily="34" charset="-120"/>
              </a:rPr>
              <a:t>VALIDÉS</a:t>
            </a:r>
            <a:endParaRPr lang="en-US" sz="780" dirty="0"/>
          </a:p>
        </p:txBody>
      </p:sp>
      <p:sp>
        <p:nvSpPr>
          <p:cNvPr id="44" name="Shape 42"/>
          <p:cNvSpPr/>
          <p:nvPr/>
        </p:nvSpPr>
        <p:spPr>
          <a:xfrm>
            <a:off x="768096" y="5303520"/>
            <a:ext cx="10497312" cy="0"/>
          </a:xfrm>
          <a:prstGeom prst="line">
            <a:avLst/>
          </a:prstGeom>
          <a:noFill/>
          <a:ln w="10160">
            <a:solidFill>
              <a:srgbClr val="6C7F89">
                <a:alpha val="85000"/>
              </a:srgbClr>
            </a:solidFill>
            <a:prstDash val="solid"/>
          </a:ln>
        </p:spPr>
      </p:sp>
      <p:sp>
        <p:nvSpPr>
          <p:cNvPr id="45" name="Text 43"/>
          <p:cNvSpPr/>
          <p:nvPr/>
        </p:nvSpPr>
        <p:spPr>
          <a:xfrm>
            <a:off x="786384" y="5596128"/>
            <a:ext cx="932688" cy="164592"/>
          </a:xfrm>
          <a:prstGeom prst="rect">
            <a:avLst/>
          </a:prstGeom>
          <a:noFill/>
          <a:ln/>
        </p:spPr>
        <p:txBody>
          <a:bodyPr wrap="square" lIns="0" tIns="0" rIns="0" bIns="0" rtlCol="0" anchor="ctr">
            <a:normAutofit/>
          </a:bodyPr>
          <a:lstStyle/>
          <a:p>
            <a:pPr algn="l" indent="0" marL="0">
              <a:buNone/>
            </a:pPr>
            <a:r>
              <a:rPr lang="en-US" sz="780" b="1" spc="85" kern="0" dirty="0">
                <a:solidFill>
                  <a:srgbClr val="101820"/>
                </a:solidFill>
                <a:latin typeface="Aptos Mono" pitchFamily="34" charset="0"/>
                <a:ea typeface="Aptos Mono" pitchFamily="34" charset="-122"/>
                <a:cs typeface="Aptos Mono" pitchFamily="34" charset="-120"/>
              </a:rPr>
              <a:t>ANGULAR</a:t>
            </a:r>
            <a:endParaRPr lang="en-US" sz="780" dirty="0"/>
          </a:p>
        </p:txBody>
      </p:sp>
      <p:sp>
        <p:nvSpPr>
          <p:cNvPr id="46" name="Text 44"/>
          <p:cNvSpPr/>
          <p:nvPr/>
        </p:nvSpPr>
        <p:spPr>
          <a:xfrm>
            <a:off x="2011680" y="5559552"/>
            <a:ext cx="1005840" cy="201168"/>
          </a:xfrm>
          <a:prstGeom prst="rect">
            <a:avLst/>
          </a:prstGeom>
          <a:noFill/>
          <a:ln/>
        </p:spPr>
        <p:txBody>
          <a:bodyPr wrap="square" lIns="0" tIns="0" rIns="0" bIns="0" rtlCol="0" anchor="ctr">
            <a:normAutofit/>
          </a:bodyPr>
          <a:lstStyle/>
          <a:p>
            <a:pPr algn="l" indent="0" marL="0">
              <a:buNone/>
            </a:pPr>
            <a:r>
              <a:rPr lang="en-US" sz="1100" b="1" dirty="0">
                <a:solidFill>
                  <a:srgbClr val="101820"/>
                </a:solidFill>
                <a:latin typeface="Aptos Mono" pitchFamily="34" charset="0"/>
                <a:ea typeface="Aptos Mono" pitchFamily="34" charset="-122"/>
                <a:cs typeface="Aptos Mono" pitchFamily="34" charset="-120"/>
              </a:rPr>
              <a:t>18 → 19</a:t>
            </a:r>
            <a:endParaRPr lang="en-US" sz="1100" dirty="0"/>
          </a:p>
        </p:txBody>
      </p:sp>
      <p:sp>
        <p:nvSpPr>
          <p:cNvPr id="47" name="Text 45"/>
          <p:cNvSpPr/>
          <p:nvPr/>
        </p:nvSpPr>
        <p:spPr>
          <a:xfrm>
            <a:off x="3218688" y="5596128"/>
            <a:ext cx="768096" cy="164592"/>
          </a:xfrm>
          <a:prstGeom prst="rect">
            <a:avLst/>
          </a:prstGeom>
          <a:noFill/>
          <a:ln/>
        </p:spPr>
        <p:txBody>
          <a:bodyPr wrap="square" lIns="0" tIns="0" rIns="0" bIns="0" rtlCol="0" anchor="ctr">
            <a:normAutofit/>
          </a:bodyPr>
          <a:lstStyle/>
          <a:p>
            <a:pPr algn="l" indent="0" marL="0">
              <a:buNone/>
            </a:pPr>
            <a:r>
              <a:rPr lang="en-US" sz="780" b="1" spc="72" kern="0" dirty="0">
                <a:solidFill>
                  <a:srgbClr val="41D3AE"/>
                </a:solidFill>
                <a:latin typeface="Aptos Mono" pitchFamily="34" charset="0"/>
                <a:ea typeface="Aptos Mono" pitchFamily="34" charset="-122"/>
                <a:cs typeface="Aptos Mono" pitchFamily="34" charset="-120"/>
              </a:rPr>
              <a:t>SCELLÉE</a:t>
            </a:r>
            <a:endParaRPr lang="en-US" sz="780" dirty="0"/>
          </a:p>
        </p:txBody>
      </p:sp>
      <p:sp>
        <p:nvSpPr>
          <p:cNvPr id="48" name="Text 46"/>
          <p:cNvSpPr/>
          <p:nvPr/>
        </p:nvSpPr>
        <p:spPr>
          <a:xfrm>
            <a:off x="4626864" y="5559552"/>
            <a:ext cx="1005840" cy="201168"/>
          </a:xfrm>
          <a:prstGeom prst="rect">
            <a:avLst/>
          </a:prstGeom>
          <a:noFill/>
          <a:ln/>
        </p:spPr>
        <p:txBody>
          <a:bodyPr wrap="square" lIns="0" tIns="0" rIns="0" bIns="0" rtlCol="0" anchor="ctr">
            <a:normAutofit/>
          </a:bodyPr>
          <a:lstStyle/>
          <a:p>
            <a:pPr algn="l" indent="0" marL="0">
              <a:buNone/>
            </a:pPr>
            <a:r>
              <a:rPr lang="en-US" sz="1100" b="1" dirty="0">
                <a:solidFill>
                  <a:srgbClr val="101820"/>
                </a:solidFill>
                <a:latin typeface="Aptos Mono" pitchFamily="34" charset="0"/>
                <a:ea typeface="Aptos Mono" pitchFamily="34" charset="-122"/>
                <a:cs typeface="Aptos Mono" pitchFamily="34" charset="-120"/>
              </a:rPr>
              <a:t>19 → 20</a:t>
            </a:r>
            <a:endParaRPr lang="en-US" sz="1100" dirty="0"/>
          </a:p>
        </p:txBody>
      </p:sp>
      <p:sp>
        <p:nvSpPr>
          <p:cNvPr id="49" name="Text 47"/>
          <p:cNvSpPr/>
          <p:nvPr/>
        </p:nvSpPr>
        <p:spPr>
          <a:xfrm>
            <a:off x="5833872" y="5596128"/>
            <a:ext cx="768096" cy="164592"/>
          </a:xfrm>
          <a:prstGeom prst="rect">
            <a:avLst/>
          </a:prstGeom>
          <a:noFill/>
          <a:ln/>
        </p:spPr>
        <p:txBody>
          <a:bodyPr wrap="square" lIns="0" tIns="0" rIns="0" bIns="0" rtlCol="0" anchor="ctr">
            <a:normAutofit/>
          </a:bodyPr>
          <a:lstStyle/>
          <a:p>
            <a:pPr algn="l" indent="0" marL="0">
              <a:buNone/>
            </a:pPr>
            <a:r>
              <a:rPr lang="en-US" sz="780" b="1" spc="72" kern="0" dirty="0">
                <a:solidFill>
                  <a:srgbClr val="41D3AE"/>
                </a:solidFill>
                <a:latin typeface="Aptos Mono" pitchFamily="34" charset="0"/>
                <a:ea typeface="Aptos Mono" pitchFamily="34" charset="-122"/>
                <a:cs typeface="Aptos Mono" pitchFamily="34" charset="-120"/>
              </a:rPr>
              <a:t>SCELLÉE</a:t>
            </a:r>
            <a:endParaRPr lang="en-US" sz="780" dirty="0"/>
          </a:p>
        </p:txBody>
      </p:sp>
      <p:sp>
        <p:nvSpPr>
          <p:cNvPr id="50" name="Text 48"/>
          <p:cNvSpPr/>
          <p:nvPr/>
        </p:nvSpPr>
        <p:spPr>
          <a:xfrm>
            <a:off x="7242048" y="5559552"/>
            <a:ext cx="1005840" cy="201168"/>
          </a:xfrm>
          <a:prstGeom prst="rect">
            <a:avLst/>
          </a:prstGeom>
          <a:noFill/>
          <a:ln/>
        </p:spPr>
        <p:txBody>
          <a:bodyPr wrap="square" lIns="0" tIns="0" rIns="0" bIns="0" rtlCol="0" anchor="ctr">
            <a:normAutofit/>
          </a:bodyPr>
          <a:lstStyle/>
          <a:p>
            <a:pPr algn="l" indent="0" marL="0">
              <a:buNone/>
            </a:pPr>
            <a:r>
              <a:rPr lang="en-US" sz="1100" b="1" dirty="0">
                <a:solidFill>
                  <a:srgbClr val="101820"/>
                </a:solidFill>
                <a:latin typeface="Aptos Mono" pitchFamily="34" charset="0"/>
                <a:ea typeface="Aptos Mono" pitchFamily="34" charset="-122"/>
                <a:cs typeface="Aptos Mono" pitchFamily="34" charset="-120"/>
              </a:rPr>
              <a:t>20 → 21</a:t>
            </a:r>
            <a:endParaRPr lang="en-US" sz="1100" dirty="0"/>
          </a:p>
        </p:txBody>
      </p:sp>
      <p:sp>
        <p:nvSpPr>
          <p:cNvPr id="51" name="Text 49"/>
          <p:cNvSpPr/>
          <p:nvPr/>
        </p:nvSpPr>
        <p:spPr>
          <a:xfrm>
            <a:off x="8449056" y="5596128"/>
            <a:ext cx="877824" cy="164592"/>
          </a:xfrm>
          <a:prstGeom prst="rect">
            <a:avLst/>
          </a:prstGeom>
          <a:noFill/>
          <a:ln/>
        </p:spPr>
        <p:txBody>
          <a:bodyPr wrap="square" lIns="0" tIns="0" rIns="0" bIns="0" rtlCol="0" anchor="ctr">
            <a:normAutofit/>
          </a:bodyPr>
          <a:lstStyle/>
          <a:p>
            <a:pPr algn="l" indent="0" marL="0">
              <a:buNone/>
            </a:pPr>
            <a:r>
              <a:rPr lang="en-US" sz="780" b="1" spc="72" kern="0" dirty="0">
                <a:solidFill>
                  <a:srgbClr val="F4B84A"/>
                </a:solidFill>
                <a:latin typeface="Aptos Mono" pitchFamily="34" charset="0"/>
                <a:ea typeface="Aptos Mono" pitchFamily="34" charset="-122"/>
                <a:cs typeface="Aptos Mono" pitchFamily="34" charset="-120"/>
              </a:rPr>
              <a:t>PRÉPARÉE</a:t>
            </a:r>
            <a:endParaRPr lang="en-US" sz="780" dirty="0"/>
          </a:p>
        </p:txBody>
      </p:sp>
      <p:sp>
        <p:nvSpPr>
          <p:cNvPr id="52" name="Text 50"/>
          <p:cNvSpPr/>
          <p:nvPr/>
        </p:nvSpPr>
        <p:spPr>
          <a:xfrm>
            <a:off x="9674352" y="5559552"/>
            <a:ext cx="1298448" cy="201168"/>
          </a:xfrm>
          <a:prstGeom prst="rect">
            <a:avLst/>
          </a:prstGeom>
          <a:noFill/>
          <a:ln/>
        </p:spPr>
        <p:txBody>
          <a:bodyPr wrap="square" lIns="0" tIns="0" rIns="0" bIns="0" rtlCol="0" anchor="ctr">
            <a:normAutofit/>
          </a:bodyPr>
          <a:lstStyle/>
          <a:p>
            <a:pPr algn="r" indent="0" marL="0">
              <a:buNone/>
            </a:pPr>
            <a:r>
              <a:rPr lang="en-US" sz="980" b="1" dirty="0">
                <a:solidFill>
                  <a:srgbClr val="6C7F89"/>
                </a:solidFill>
                <a:latin typeface="Aptos Display" pitchFamily="34" charset="0"/>
                <a:ea typeface="Aptos Display" pitchFamily="34" charset="-122"/>
                <a:cs typeface="Aptos Display" pitchFamily="34" charset="-120"/>
              </a:rPr>
              <a:t>non démarrée</a:t>
            </a:r>
            <a:endParaRPr lang="en-US" sz="98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F1EA"/>
        </a:solidFill>
      </p:bgPr>
    </p:bg>
    <p:spTree>
      <p:nvGrpSpPr>
        <p:cNvPr id="1" name=""/>
        <p:cNvGrpSpPr/>
        <p:nvPr/>
      </p:nvGrpSpPr>
      <p:grpSpPr>
        <a:xfrm>
          <a:off x="0" y="0"/>
          <a:ext cx="0" cy="0"/>
          <a:chOff x="0" y="0"/>
          <a:chExt cx="0" cy="0"/>
        </a:xfrm>
      </p:grpSpPr>
      <p:sp>
        <p:nvSpPr>
          <p:cNvPr id="2" name="Shape 0"/>
          <p:cNvSpPr/>
          <p:nvPr/>
        </p:nvSpPr>
        <p:spPr>
          <a:xfrm>
            <a:off x="676656" y="411480"/>
            <a:ext cx="10735056" cy="0"/>
          </a:xfrm>
          <a:prstGeom prst="line">
            <a:avLst/>
          </a:prstGeom>
          <a:noFill/>
          <a:ln w="10160">
            <a:solidFill>
              <a:srgbClr val="6C7F89">
                <a:alpha val="85000"/>
              </a:srgbClr>
            </a:solidFill>
            <a:prstDash val="solid"/>
          </a:ln>
        </p:spPr>
      </p:sp>
      <p:sp>
        <p:nvSpPr>
          <p:cNvPr id="3" name="Shape 1"/>
          <p:cNvSpPr/>
          <p:nvPr/>
        </p:nvSpPr>
        <p:spPr>
          <a:xfrm>
            <a:off x="658368" y="356616"/>
            <a:ext cx="73152" cy="73152"/>
          </a:xfrm>
          <a:prstGeom prst="ellipse">
            <a:avLst/>
          </a:prstGeom>
          <a:solidFill>
            <a:srgbClr val="41D3AE"/>
          </a:solidFill>
          <a:ln w="12700">
            <a:solidFill>
              <a:srgbClr val="41D3AE">
                <a:alpha val="0"/>
              </a:srgbClr>
            </a:solidFill>
            <a:prstDash val="solid"/>
          </a:ln>
        </p:spPr>
      </p:sp>
      <p:sp>
        <p:nvSpPr>
          <p:cNvPr id="4" name="Text 2"/>
          <p:cNvSpPr/>
          <p:nvPr/>
        </p:nvSpPr>
        <p:spPr>
          <a:xfrm>
            <a:off x="822960" y="201168"/>
            <a:ext cx="1207008" cy="164592"/>
          </a:xfrm>
          <a:prstGeom prst="rect">
            <a:avLst/>
          </a:prstGeom>
          <a:noFill/>
          <a:ln/>
        </p:spPr>
        <p:txBody>
          <a:bodyPr wrap="square" lIns="0" tIns="0" rIns="0" bIns="0" rtlCol="0" anchor="ctr">
            <a:normAutofit/>
          </a:bodyPr>
          <a:lstStyle/>
          <a:p>
            <a:pPr algn="l" indent="0" marL="0">
              <a:buNone/>
            </a:pPr>
            <a:r>
              <a:rPr lang="en-US" sz="760" b="1" dirty="0">
                <a:solidFill>
                  <a:srgbClr val="41D3AE"/>
                </a:solidFill>
                <a:latin typeface="Aptos" pitchFamily="34" charset="0"/>
                <a:ea typeface="Aptos" pitchFamily="34" charset="-122"/>
                <a:cs typeface="Aptos" pitchFamily="34" charset="-120"/>
              </a:rPr>
              <a:t>Contexte</a:t>
            </a:r>
            <a:endParaRPr lang="en-US" sz="760" dirty="0"/>
          </a:p>
        </p:txBody>
      </p:sp>
      <p:sp>
        <p:nvSpPr>
          <p:cNvPr id="5" name="Shape 3"/>
          <p:cNvSpPr/>
          <p:nvPr/>
        </p:nvSpPr>
        <p:spPr>
          <a:xfrm>
            <a:off x="2130552" y="356616"/>
            <a:ext cx="73152" cy="73152"/>
          </a:xfrm>
          <a:prstGeom prst="ellipse">
            <a:avLst/>
          </a:prstGeom>
          <a:solidFill>
            <a:srgbClr val="41D3AE"/>
          </a:solidFill>
          <a:ln w="12700">
            <a:solidFill>
              <a:srgbClr val="41D3AE">
                <a:alpha val="0"/>
              </a:srgbClr>
            </a:solidFill>
            <a:prstDash val="solid"/>
          </a:ln>
        </p:spPr>
      </p:sp>
      <p:sp>
        <p:nvSpPr>
          <p:cNvPr id="6" name="Text 4"/>
          <p:cNvSpPr/>
          <p:nvPr/>
        </p:nvSpPr>
        <p:spPr>
          <a:xfrm>
            <a:off x="2295144" y="201168"/>
            <a:ext cx="1207008" cy="164592"/>
          </a:xfrm>
          <a:prstGeom prst="rect">
            <a:avLst/>
          </a:prstGeom>
          <a:noFill/>
          <a:ln/>
        </p:spPr>
        <p:txBody>
          <a:bodyPr wrap="square" lIns="0" tIns="0" rIns="0" bIns="0" rtlCol="0" anchor="ctr">
            <a:normAutofit/>
          </a:bodyPr>
          <a:lstStyle/>
          <a:p>
            <a:pPr algn="l" indent="0" marL="0">
              <a:buNone/>
            </a:pPr>
            <a:r>
              <a:rPr lang="en-US" sz="760" b="1" dirty="0">
                <a:solidFill>
                  <a:srgbClr val="41D3AE"/>
                </a:solidFill>
                <a:latin typeface="Aptos" pitchFamily="34" charset="0"/>
                <a:ea typeface="Aptos" pitchFamily="34" charset="-122"/>
                <a:cs typeface="Aptos" pitchFamily="34" charset="-120"/>
              </a:rPr>
              <a:t>Solution</a:t>
            </a:r>
            <a:endParaRPr lang="en-US" sz="760" dirty="0"/>
          </a:p>
        </p:txBody>
      </p:sp>
      <p:sp>
        <p:nvSpPr>
          <p:cNvPr id="7" name="Shape 5"/>
          <p:cNvSpPr/>
          <p:nvPr/>
        </p:nvSpPr>
        <p:spPr>
          <a:xfrm>
            <a:off x="3493008" y="356616"/>
            <a:ext cx="73152" cy="73152"/>
          </a:xfrm>
          <a:prstGeom prst="ellipse">
            <a:avLst/>
          </a:prstGeom>
          <a:solidFill>
            <a:srgbClr val="41D3AE"/>
          </a:solidFill>
          <a:ln w="12700">
            <a:solidFill>
              <a:srgbClr val="41D3AE">
                <a:alpha val="0"/>
              </a:srgbClr>
            </a:solidFill>
            <a:prstDash val="solid"/>
          </a:ln>
        </p:spPr>
      </p:sp>
      <p:sp>
        <p:nvSpPr>
          <p:cNvPr id="8" name="Text 6"/>
          <p:cNvSpPr/>
          <p:nvPr/>
        </p:nvSpPr>
        <p:spPr>
          <a:xfrm>
            <a:off x="3657600" y="201168"/>
            <a:ext cx="1207008" cy="164592"/>
          </a:xfrm>
          <a:prstGeom prst="rect">
            <a:avLst/>
          </a:prstGeom>
          <a:noFill/>
          <a:ln/>
        </p:spPr>
        <p:txBody>
          <a:bodyPr wrap="square" lIns="0" tIns="0" rIns="0" bIns="0" rtlCol="0" anchor="ctr">
            <a:normAutofit/>
          </a:bodyPr>
          <a:lstStyle/>
          <a:p>
            <a:pPr algn="l" indent="0" marL="0">
              <a:buNone/>
            </a:pPr>
            <a:r>
              <a:rPr lang="en-US" sz="760" b="1" dirty="0">
                <a:solidFill>
                  <a:srgbClr val="41D3AE"/>
                </a:solidFill>
                <a:latin typeface="Aptos" pitchFamily="34" charset="0"/>
                <a:ea typeface="Aptos" pitchFamily="34" charset="-122"/>
                <a:cs typeface="Aptos" pitchFamily="34" charset="-120"/>
              </a:rPr>
              <a:t>Architecture</a:t>
            </a:r>
            <a:endParaRPr lang="en-US" sz="760" dirty="0"/>
          </a:p>
        </p:txBody>
      </p:sp>
      <p:sp>
        <p:nvSpPr>
          <p:cNvPr id="9" name="Shape 7"/>
          <p:cNvSpPr/>
          <p:nvPr/>
        </p:nvSpPr>
        <p:spPr>
          <a:xfrm>
            <a:off x="5001768" y="356616"/>
            <a:ext cx="73152" cy="73152"/>
          </a:xfrm>
          <a:prstGeom prst="ellipse">
            <a:avLst/>
          </a:prstGeom>
          <a:solidFill>
            <a:srgbClr val="41D3AE"/>
          </a:solidFill>
          <a:ln w="12700">
            <a:solidFill>
              <a:srgbClr val="41D3AE">
                <a:alpha val="0"/>
              </a:srgbClr>
            </a:solidFill>
            <a:prstDash val="solid"/>
          </a:ln>
        </p:spPr>
      </p:sp>
      <p:sp>
        <p:nvSpPr>
          <p:cNvPr id="10" name="Text 8"/>
          <p:cNvSpPr/>
          <p:nvPr/>
        </p:nvSpPr>
        <p:spPr>
          <a:xfrm>
            <a:off x="5166360" y="201168"/>
            <a:ext cx="1097280" cy="164592"/>
          </a:xfrm>
          <a:prstGeom prst="rect">
            <a:avLst/>
          </a:prstGeom>
          <a:noFill/>
          <a:ln/>
        </p:spPr>
        <p:txBody>
          <a:bodyPr wrap="square" lIns="0" tIns="0" rIns="0" bIns="0" rtlCol="0" anchor="ctr">
            <a:normAutofit/>
          </a:bodyPr>
          <a:lstStyle/>
          <a:p>
            <a:pPr algn="l" indent="0" marL="0">
              <a:buNone/>
            </a:pPr>
            <a:r>
              <a:rPr lang="en-US" sz="760" b="1" dirty="0">
                <a:solidFill>
                  <a:srgbClr val="41D3AE"/>
                </a:solidFill>
                <a:latin typeface="Aptos" pitchFamily="34" charset="0"/>
                <a:ea typeface="Aptos" pitchFamily="34" charset="-122"/>
                <a:cs typeface="Aptos" pitchFamily="34" charset="-120"/>
              </a:rPr>
              <a:t>Réalisation</a:t>
            </a:r>
            <a:endParaRPr lang="en-US" sz="760" dirty="0"/>
          </a:p>
        </p:txBody>
      </p:sp>
      <p:sp>
        <p:nvSpPr>
          <p:cNvPr id="11" name="Shape 9"/>
          <p:cNvSpPr/>
          <p:nvPr/>
        </p:nvSpPr>
        <p:spPr>
          <a:xfrm>
            <a:off x="6583680" y="356616"/>
            <a:ext cx="73152" cy="73152"/>
          </a:xfrm>
          <a:prstGeom prst="ellipse">
            <a:avLst/>
          </a:prstGeom>
          <a:solidFill>
            <a:srgbClr val="41D3AE"/>
          </a:solidFill>
          <a:ln w="12700">
            <a:solidFill>
              <a:srgbClr val="41D3AE">
                <a:alpha val="0"/>
              </a:srgbClr>
            </a:solidFill>
            <a:prstDash val="solid"/>
          </a:ln>
        </p:spPr>
      </p:sp>
      <p:sp>
        <p:nvSpPr>
          <p:cNvPr id="12" name="Text 10"/>
          <p:cNvSpPr/>
          <p:nvPr/>
        </p:nvSpPr>
        <p:spPr>
          <a:xfrm>
            <a:off x="6748272" y="201168"/>
            <a:ext cx="1207008" cy="164592"/>
          </a:xfrm>
          <a:prstGeom prst="rect">
            <a:avLst/>
          </a:prstGeom>
          <a:noFill/>
          <a:ln/>
        </p:spPr>
        <p:txBody>
          <a:bodyPr wrap="square" lIns="0" tIns="0" rIns="0" bIns="0" rtlCol="0" anchor="ctr">
            <a:normAutofit/>
          </a:bodyPr>
          <a:lstStyle/>
          <a:p>
            <a:pPr algn="l" indent="0" marL="0">
              <a:buNone/>
            </a:pPr>
            <a:r>
              <a:rPr lang="en-US" sz="760" b="1" dirty="0">
                <a:solidFill>
                  <a:srgbClr val="41D3AE"/>
                </a:solidFill>
                <a:latin typeface="Aptos" pitchFamily="34" charset="0"/>
                <a:ea typeface="Aptos" pitchFamily="34" charset="-122"/>
                <a:cs typeface="Aptos" pitchFamily="34" charset="-120"/>
              </a:rPr>
              <a:t>Démo</a:t>
            </a:r>
            <a:endParaRPr lang="en-US" sz="760" dirty="0"/>
          </a:p>
        </p:txBody>
      </p:sp>
      <p:sp>
        <p:nvSpPr>
          <p:cNvPr id="13" name="Shape 11"/>
          <p:cNvSpPr/>
          <p:nvPr/>
        </p:nvSpPr>
        <p:spPr>
          <a:xfrm>
            <a:off x="8229600" y="356616"/>
            <a:ext cx="109728" cy="109728"/>
          </a:xfrm>
          <a:prstGeom prst="ellipse">
            <a:avLst/>
          </a:prstGeom>
          <a:solidFill>
            <a:srgbClr val="41D3AE"/>
          </a:solidFill>
          <a:ln w="12700">
            <a:solidFill>
              <a:srgbClr val="41D3AE">
                <a:alpha val="0"/>
              </a:srgbClr>
            </a:solidFill>
            <a:prstDash val="solid"/>
          </a:ln>
        </p:spPr>
      </p:sp>
      <p:sp>
        <p:nvSpPr>
          <p:cNvPr id="14" name="Text 12"/>
          <p:cNvSpPr/>
          <p:nvPr/>
        </p:nvSpPr>
        <p:spPr>
          <a:xfrm>
            <a:off x="8394192" y="201168"/>
            <a:ext cx="1207008" cy="164592"/>
          </a:xfrm>
          <a:prstGeom prst="rect">
            <a:avLst/>
          </a:prstGeom>
          <a:noFill/>
          <a:ln/>
        </p:spPr>
        <p:txBody>
          <a:bodyPr wrap="square" lIns="0" tIns="0" rIns="0" bIns="0" rtlCol="0" anchor="ctr">
            <a:normAutofit/>
          </a:bodyPr>
          <a:lstStyle/>
          <a:p>
            <a:pPr algn="l" indent="0" marL="0">
              <a:buNone/>
            </a:pPr>
            <a:r>
              <a:rPr lang="en-US" sz="810" b="1" dirty="0">
                <a:solidFill>
                  <a:srgbClr val="41D3AE"/>
                </a:solidFill>
                <a:latin typeface="Aptos" pitchFamily="34" charset="0"/>
                <a:ea typeface="Aptos" pitchFamily="34" charset="-122"/>
                <a:cs typeface="Aptos" pitchFamily="34" charset="-120"/>
              </a:rPr>
              <a:t>Résultats</a:t>
            </a:r>
            <a:endParaRPr lang="en-US" sz="810" dirty="0"/>
          </a:p>
        </p:txBody>
      </p:sp>
      <p:sp>
        <p:nvSpPr>
          <p:cNvPr id="15" name="Shape 13"/>
          <p:cNvSpPr/>
          <p:nvPr/>
        </p:nvSpPr>
        <p:spPr>
          <a:xfrm>
            <a:off x="8375904" y="521208"/>
            <a:ext cx="731520" cy="0"/>
          </a:xfrm>
          <a:prstGeom prst="line">
            <a:avLst/>
          </a:prstGeom>
          <a:noFill/>
          <a:ln w="22860">
            <a:solidFill>
              <a:srgbClr val="41D3AE"/>
            </a:solidFill>
            <a:prstDash val="solid"/>
          </a:ln>
        </p:spPr>
      </p:sp>
      <p:sp>
        <p:nvSpPr>
          <p:cNvPr id="16" name="Shape 14"/>
          <p:cNvSpPr/>
          <p:nvPr/>
        </p:nvSpPr>
        <p:spPr>
          <a:xfrm>
            <a:off x="9784080" y="356616"/>
            <a:ext cx="73152" cy="73152"/>
          </a:xfrm>
          <a:prstGeom prst="ellipse">
            <a:avLst/>
          </a:prstGeom>
          <a:solidFill>
            <a:srgbClr val="6C7F89">
              <a:alpha val="80000"/>
            </a:srgbClr>
          </a:solidFill>
          <a:ln w="12700">
            <a:solidFill>
              <a:srgbClr val="6C7F89">
                <a:alpha val="0"/>
              </a:srgbClr>
            </a:solidFill>
            <a:prstDash val="solid"/>
          </a:ln>
        </p:spPr>
      </p:sp>
      <p:sp>
        <p:nvSpPr>
          <p:cNvPr id="17" name="Text 15"/>
          <p:cNvSpPr/>
          <p:nvPr/>
        </p:nvSpPr>
        <p:spPr>
          <a:xfrm>
            <a:off x="9948672" y="201168"/>
            <a:ext cx="1207008" cy="164592"/>
          </a:xfrm>
          <a:prstGeom prst="rect">
            <a:avLst/>
          </a:prstGeom>
          <a:noFill/>
          <a:ln/>
        </p:spPr>
        <p:txBody>
          <a:bodyPr wrap="square" lIns="0" tIns="0" rIns="0" bIns="0" rtlCol="0" anchor="ctr">
            <a:normAutofit/>
          </a:bodyPr>
          <a:lstStyle/>
          <a:p>
            <a:pPr algn="l" indent="0" marL="0">
              <a:buNone/>
            </a:pPr>
            <a:r>
              <a:rPr lang="en-US" sz="760" dirty="0">
                <a:solidFill>
                  <a:srgbClr val="6C7F89"/>
                </a:solidFill>
                <a:latin typeface="Aptos" pitchFamily="34" charset="0"/>
                <a:ea typeface="Aptos" pitchFamily="34" charset="-122"/>
                <a:cs typeface="Aptos" pitchFamily="34" charset="-120"/>
              </a:rPr>
              <a:t>Conclusion</a:t>
            </a:r>
            <a:endParaRPr lang="en-US" sz="760" dirty="0"/>
          </a:p>
        </p:txBody>
      </p:sp>
      <p:sp>
        <p:nvSpPr>
          <p:cNvPr id="18" name="Shape 16"/>
          <p:cNvSpPr/>
          <p:nvPr/>
        </p:nvSpPr>
        <p:spPr>
          <a:xfrm>
            <a:off x="658368" y="6428232"/>
            <a:ext cx="10863072" cy="0"/>
          </a:xfrm>
          <a:prstGeom prst="line">
            <a:avLst/>
          </a:prstGeom>
          <a:noFill/>
          <a:ln w="8890">
            <a:solidFill>
              <a:srgbClr val="6C7F89">
                <a:alpha val="80000"/>
              </a:srgbClr>
            </a:solidFill>
            <a:prstDash val="solid"/>
          </a:ln>
        </p:spPr>
      </p:sp>
      <p:sp>
        <p:nvSpPr>
          <p:cNvPr id="19" name="Text 17"/>
          <p:cNvSpPr/>
          <p:nvPr/>
        </p:nvSpPr>
        <p:spPr>
          <a:xfrm>
            <a:off x="658368" y="6510528"/>
            <a:ext cx="2926080" cy="146304"/>
          </a:xfrm>
          <a:prstGeom prst="rect">
            <a:avLst/>
          </a:prstGeom>
          <a:noFill/>
          <a:ln/>
        </p:spPr>
        <p:txBody>
          <a:bodyPr wrap="square" lIns="0" tIns="0" rIns="0" bIns="0" rtlCol="0" anchor="ctr">
            <a:normAutofit/>
          </a:bodyPr>
          <a:lstStyle/>
          <a:p>
            <a:pPr algn="l" indent="0" marL="0">
              <a:buNone/>
            </a:pPr>
            <a:r>
              <a:rPr lang="en-US" sz="720" b="1" spc="120" kern="0" dirty="0">
                <a:solidFill>
                  <a:srgbClr val="6C7F89"/>
                </a:solidFill>
                <a:latin typeface="Aptos Mono" pitchFamily="34" charset="0"/>
                <a:ea typeface="Aptos Mono" pitchFamily="34" charset="-122"/>
                <a:cs typeface="Aptos Mono" pitchFamily="34" charset="-120"/>
              </a:rPr>
              <a:t>AGENTIC MIGRATION PLATFORM</a:t>
            </a:r>
            <a:endParaRPr lang="en-US" sz="720" dirty="0"/>
          </a:p>
        </p:txBody>
      </p:sp>
      <p:sp>
        <p:nvSpPr>
          <p:cNvPr id="20" name="Text 18"/>
          <p:cNvSpPr/>
          <p:nvPr/>
        </p:nvSpPr>
        <p:spPr>
          <a:xfrm>
            <a:off x="10561320" y="6501384"/>
            <a:ext cx="950976" cy="155448"/>
          </a:xfrm>
          <a:prstGeom prst="rect">
            <a:avLst/>
          </a:prstGeom>
          <a:noFill/>
          <a:ln/>
        </p:spPr>
        <p:txBody>
          <a:bodyPr wrap="square" lIns="0" tIns="0" rIns="0" bIns="0" rtlCol="0" anchor="ctr">
            <a:normAutofit/>
          </a:bodyPr>
          <a:lstStyle/>
          <a:p>
            <a:pPr algn="r" indent="0" marL="0">
              <a:buNone/>
            </a:pPr>
            <a:r>
              <a:rPr lang="en-US" sz="770" b="1" spc="80" kern="0" dirty="0">
                <a:solidFill>
                  <a:srgbClr val="6C7F89"/>
                </a:solidFill>
                <a:latin typeface="Aptos Mono" pitchFamily="34" charset="0"/>
                <a:ea typeface="Aptos Mono" pitchFamily="34" charset="-122"/>
                <a:cs typeface="Aptos Mono" pitchFamily="34" charset="-120"/>
              </a:rPr>
              <a:t>15 / 18</a:t>
            </a:r>
            <a:endParaRPr lang="en-US" sz="770" dirty="0"/>
          </a:p>
        </p:txBody>
      </p:sp>
      <p:sp>
        <p:nvSpPr>
          <p:cNvPr id="21" name="Text 19"/>
          <p:cNvSpPr/>
          <p:nvPr/>
        </p:nvSpPr>
        <p:spPr>
          <a:xfrm>
            <a:off x="658368" y="758952"/>
            <a:ext cx="3200400" cy="164592"/>
          </a:xfrm>
          <a:prstGeom prst="rect">
            <a:avLst/>
          </a:prstGeom>
          <a:noFill/>
          <a:ln/>
        </p:spPr>
        <p:txBody>
          <a:bodyPr wrap="square" lIns="0" tIns="0" rIns="0" bIns="0" rtlCol="0" anchor="ctr">
            <a:normAutofit/>
          </a:bodyPr>
          <a:lstStyle/>
          <a:p>
            <a:pPr algn="l" indent="0" marL="0">
              <a:buNone/>
            </a:pPr>
            <a:r>
              <a:rPr lang="en-US" sz="900" b="1" spc="135" kern="0" dirty="0">
                <a:solidFill>
                  <a:srgbClr val="101820"/>
                </a:solidFill>
                <a:latin typeface="Aptos Mono" pitchFamily="34" charset="0"/>
                <a:ea typeface="Aptos Mono" pitchFamily="34" charset="-122"/>
                <a:cs typeface="Aptos Mono" pitchFamily="34" charset="-120"/>
              </a:rPr>
              <a:t>RÉSULTATS</a:t>
            </a:r>
            <a:endParaRPr lang="en-US" sz="900" dirty="0"/>
          </a:p>
        </p:txBody>
      </p:sp>
      <p:sp>
        <p:nvSpPr>
          <p:cNvPr id="22" name="Text 20"/>
          <p:cNvSpPr/>
          <p:nvPr/>
        </p:nvSpPr>
        <p:spPr>
          <a:xfrm>
            <a:off x="658368" y="969264"/>
            <a:ext cx="10607040" cy="493776"/>
          </a:xfrm>
          <a:prstGeom prst="rect">
            <a:avLst/>
          </a:prstGeom>
          <a:noFill/>
          <a:ln/>
        </p:spPr>
        <p:txBody>
          <a:bodyPr wrap="square" lIns="0" tIns="0" rIns="0" bIns="0" rtlCol="0" anchor="t">
            <a:normAutofit/>
          </a:bodyPr>
          <a:lstStyle/>
          <a:p>
            <a:pPr algn="l" indent="0" marL="0">
              <a:buNone/>
            </a:pPr>
            <a:r>
              <a:rPr lang="en-US" sz="2900" b="1" dirty="0">
                <a:solidFill>
                  <a:srgbClr val="101820"/>
                </a:solidFill>
                <a:latin typeface="Aptos Display" pitchFamily="34" charset="0"/>
                <a:ea typeface="Aptos Display" pitchFamily="34" charset="-122"/>
                <a:cs typeface="Aptos Display" pitchFamily="34" charset="-120"/>
              </a:rPr>
              <a:t>Les difficultés ont renforcé l'architecture</a:t>
            </a:r>
            <a:endParaRPr lang="en-US" sz="2900" dirty="0"/>
          </a:p>
        </p:txBody>
      </p:sp>
      <p:sp>
        <p:nvSpPr>
          <p:cNvPr id="23" name="Text 21"/>
          <p:cNvSpPr/>
          <p:nvPr/>
        </p:nvSpPr>
        <p:spPr>
          <a:xfrm>
            <a:off x="658368" y="1499616"/>
            <a:ext cx="9966960" cy="256032"/>
          </a:xfrm>
          <a:prstGeom prst="rect">
            <a:avLst/>
          </a:prstGeom>
          <a:noFill/>
          <a:ln/>
        </p:spPr>
        <p:txBody>
          <a:bodyPr wrap="square" lIns="0" tIns="0" rIns="0" bIns="0" rtlCol="0" anchor="t">
            <a:normAutofit/>
          </a:bodyPr>
          <a:lstStyle/>
          <a:p>
            <a:pPr algn="l" indent="0" marL="0">
              <a:buNone/>
            </a:pPr>
            <a:r>
              <a:rPr lang="en-US" sz="1200" dirty="0">
                <a:solidFill>
                  <a:srgbClr val="6C7F89"/>
                </a:solidFill>
                <a:latin typeface="Aptos" pitchFamily="34" charset="0"/>
                <a:ea typeface="Aptos" pitchFamily="34" charset="-122"/>
                <a:cs typeface="Aptos" pitchFamily="34" charset="-120"/>
              </a:rPr>
              <a:t>Chaque friction a produit un contrat plus explicite pour transformer, exécuter ou persister.</a:t>
            </a:r>
            <a:endParaRPr lang="en-US" sz="1200" dirty="0"/>
          </a:p>
        </p:txBody>
      </p:sp>
      <p:sp>
        <p:nvSpPr>
          <p:cNvPr id="24" name="Text 22"/>
          <p:cNvSpPr/>
          <p:nvPr/>
        </p:nvSpPr>
        <p:spPr>
          <a:xfrm>
            <a:off x="768096" y="2103120"/>
            <a:ext cx="2066544" cy="164592"/>
          </a:xfrm>
          <a:prstGeom prst="rect">
            <a:avLst/>
          </a:prstGeom>
          <a:noFill/>
          <a:ln/>
        </p:spPr>
        <p:txBody>
          <a:bodyPr wrap="square" lIns="0" tIns="0" rIns="0" bIns="0" rtlCol="0" anchor="ctr">
            <a:normAutofit/>
          </a:bodyPr>
          <a:lstStyle/>
          <a:p>
            <a:pPr algn="l" indent="0" marL="0">
              <a:buNone/>
            </a:pPr>
            <a:r>
              <a:rPr lang="en-US" sz="820" b="1" spc="100" kern="0" dirty="0">
                <a:solidFill>
                  <a:srgbClr val="FF6F72"/>
                </a:solidFill>
                <a:latin typeface="Aptos Mono" pitchFamily="34" charset="0"/>
                <a:ea typeface="Aptos Mono" pitchFamily="34" charset="-122"/>
                <a:cs typeface="Aptos Mono" pitchFamily="34" charset="-120"/>
              </a:rPr>
              <a:t>FRICTION OBSERVÉE</a:t>
            </a:r>
            <a:endParaRPr lang="en-US" sz="820" dirty="0"/>
          </a:p>
        </p:txBody>
      </p:sp>
      <p:sp>
        <p:nvSpPr>
          <p:cNvPr id="25" name="Text 23"/>
          <p:cNvSpPr/>
          <p:nvPr/>
        </p:nvSpPr>
        <p:spPr>
          <a:xfrm>
            <a:off x="5559552" y="2103120"/>
            <a:ext cx="1993392" cy="164592"/>
          </a:xfrm>
          <a:prstGeom prst="rect">
            <a:avLst/>
          </a:prstGeom>
          <a:noFill/>
          <a:ln/>
        </p:spPr>
        <p:txBody>
          <a:bodyPr wrap="square" lIns="0" tIns="0" rIns="0" bIns="0" rtlCol="0" anchor="ctr">
            <a:normAutofit/>
          </a:bodyPr>
          <a:lstStyle/>
          <a:p>
            <a:pPr algn="l" indent="0" marL="0">
              <a:buNone/>
            </a:pPr>
            <a:r>
              <a:rPr lang="en-US" sz="820" b="1" spc="100" kern="0" dirty="0">
                <a:solidFill>
                  <a:srgbClr val="4E9DFF"/>
                </a:solidFill>
                <a:latin typeface="Aptos Mono" pitchFamily="34" charset="0"/>
                <a:ea typeface="Aptos Mono" pitchFamily="34" charset="-122"/>
                <a:cs typeface="Aptos Mono" pitchFamily="34" charset="-120"/>
              </a:rPr>
              <a:t>INVARIANT AJOUTÉ</a:t>
            </a:r>
            <a:endParaRPr lang="en-US" sz="820" dirty="0"/>
          </a:p>
        </p:txBody>
      </p:sp>
      <p:sp>
        <p:nvSpPr>
          <p:cNvPr id="26" name="Shape 24"/>
          <p:cNvSpPr/>
          <p:nvPr/>
        </p:nvSpPr>
        <p:spPr>
          <a:xfrm>
            <a:off x="768096" y="2450592"/>
            <a:ext cx="10515600" cy="0"/>
          </a:xfrm>
          <a:prstGeom prst="line">
            <a:avLst/>
          </a:prstGeom>
          <a:noFill/>
          <a:ln w="10160">
            <a:solidFill>
              <a:srgbClr val="6C7F89">
                <a:alpha val="80000"/>
              </a:srgbClr>
            </a:solidFill>
            <a:prstDash val="solid"/>
          </a:ln>
        </p:spPr>
      </p:sp>
      <p:sp>
        <p:nvSpPr>
          <p:cNvPr id="27" name="Shape 25"/>
          <p:cNvSpPr/>
          <p:nvPr/>
        </p:nvSpPr>
        <p:spPr>
          <a:xfrm>
            <a:off x="768096" y="2724912"/>
            <a:ext cx="4096512" cy="475488"/>
          </a:xfrm>
          <a:prstGeom prst="rect">
            <a:avLst/>
          </a:prstGeom>
          <a:solidFill>
            <a:srgbClr val="E9E7E1"/>
          </a:solidFill>
          <a:ln w="12700">
            <a:solidFill>
              <a:srgbClr val="E9E7E1">
                <a:alpha val="0"/>
              </a:srgbClr>
            </a:solidFill>
            <a:prstDash val="solid"/>
          </a:ln>
        </p:spPr>
      </p:sp>
      <p:sp>
        <p:nvSpPr>
          <p:cNvPr id="28" name="Shape 26"/>
          <p:cNvSpPr/>
          <p:nvPr/>
        </p:nvSpPr>
        <p:spPr>
          <a:xfrm>
            <a:off x="987552" y="2898648"/>
            <a:ext cx="128016" cy="128016"/>
          </a:xfrm>
          <a:prstGeom prst="ellipse">
            <a:avLst/>
          </a:prstGeom>
          <a:solidFill>
            <a:srgbClr val="FF6F72"/>
          </a:solidFill>
          <a:ln w="12700">
            <a:solidFill>
              <a:srgbClr val="FF6F72">
                <a:alpha val="0"/>
              </a:srgbClr>
            </a:solidFill>
            <a:prstDash val="solid"/>
          </a:ln>
        </p:spPr>
      </p:sp>
      <p:sp>
        <p:nvSpPr>
          <p:cNvPr id="29" name="Text 27"/>
          <p:cNvSpPr/>
          <p:nvPr/>
        </p:nvSpPr>
        <p:spPr>
          <a:xfrm>
            <a:off x="1335024" y="2843784"/>
            <a:ext cx="3182112" cy="182880"/>
          </a:xfrm>
          <a:prstGeom prst="rect">
            <a:avLst/>
          </a:prstGeom>
          <a:noFill/>
          <a:ln/>
        </p:spPr>
        <p:txBody>
          <a:bodyPr wrap="square" lIns="0" tIns="0" rIns="0" bIns="0" rtlCol="0" anchor="ctr">
            <a:normAutofit/>
          </a:bodyPr>
          <a:lstStyle/>
          <a:p>
            <a:pPr algn="l" indent="0" marL="0">
              <a:buNone/>
            </a:pPr>
            <a:r>
              <a:rPr lang="en-US" sz="1080" b="1" dirty="0">
                <a:solidFill>
                  <a:srgbClr val="101820"/>
                </a:solidFill>
                <a:latin typeface="Aptos Display" pitchFamily="34" charset="0"/>
                <a:ea typeface="Aptos Display" pitchFamily="34" charset="-122"/>
                <a:cs typeface="Aptos Display" pitchFamily="34" charset="-120"/>
              </a:rPr>
              <a:t>Patch non applicable</a:t>
            </a:r>
            <a:endParaRPr lang="en-US" sz="1080" dirty="0"/>
          </a:p>
        </p:txBody>
      </p:sp>
      <p:sp>
        <p:nvSpPr>
          <p:cNvPr id="30" name="Shape 28"/>
          <p:cNvSpPr/>
          <p:nvPr/>
        </p:nvSpPr>
        <p:spPr>
          <a:xfrm>
            <a:off x="5065776" y="2962656"/>
            <a:ext cx="310896" cy="0"/>
          </a:xfrm>
          <a:prstGeom prst="line">
            <a:avLst/>
          </a:prstGeom>
          <a:noFill/>
          <a:ln w="12700">
            <a:solidFill>
              <a:srgbClr val="6C7F89"/>
            </a:solidFill>
            <a:prstDash val="solid"/>
            <a:tailEnd type="triangle"/>
          </a:ln>
        </p:spPr>
      </p:sp>
      <p:sp>
        <p:nvSpPr>
          <p:cNvPr id="31" name="Shape 29"/>
          <p:cNvSpPr/>
          <p:nvPr/>
        </p:nvSpPr>
        <p:spPr>
          <a:xfrm>
            <a:off x="5559552" y="2724912"/>
            <a:ext cx="5212080" cy="475488"/>
          </a:xfrm>
          <a:prstGeom prst="rect">
            <a:avLst/>
          </a:prstGeom>
          <a:solidFill>
            <a:srgbClr val="E2F0EC"/>
          </a:solidFill>
          <a:ln w="12700">
            <a:solidFill>
              <a:srgbClr val="E2F0EC">
                <a:alpha val="0"/>
              </a:srgbClr>
            </a:solidFill>
            <a:prstDash val="solid"/>
          </a:ln>
        </p:spPr>
      </p:sp>
      <p:sp>
        <p:nvSpPr>
          <p:cNvPr id="32" name="Shape 30"/>
          <p:cNvSpPr/>
          <p:nvPr/>
        </p:nvSpPr>
        <p:spPr>
          <a:xfrm>
            <a:off x="5797296" y="2898648"/>
            <a:ext cx="128016" cy="128016"/>
          </a:xfrm>
          <a:prstGeom prst="ellipse">
            <a:avLst/>
          </a:prstGeom>
          <a:solidFill>
            <a:srgbClr val="4E9DFF"/>
          </a:solidFill>
          <a:ln w="12700">
            <a:solidFill>
              <a:srgbClr val="4E9DFF">
                <a:alpha val="0"/>
              </a:srgbClr>
            </a:solidFill>
            <a:prstDash val="solid"/>
          </a:ln>
        </p:spPr>
      </p:sp>
      <p:sp>
        <p:nvSpPr>
          <p:cNvPr id="33" name="Text 31"/>
          <p:cNvSpPr/>
          <p:nvPr/>
        </p:nvSpPr>
        <p:spPr>
          <a:xfrm>
            <a:off x="6144768" y="2843784"/>
            <a:ext cx="4206240" cy="182880"/>
          </a:xfrm>
          <a:prstGeom prst="rect">
            <a:avLst/>
          </a:prstGeom>
          <a:noFill/>
          <a:ln/>
        </p:spPr>
        <p:txBody>
          <a:bodyPr wrap="square" lIns="0" tIns="0" rIns="0" bIns="0" rtlCol="0" anchor="ctr">
            <a:normAutofit/>
          </a:bodyPr>
          <a:lstStyle/>
          <a:p>
            <a:pPr algn="l" indent="0" marL="0">
              <a:buNone/>
            </a:pPr>
            <a:r>
              <a:rPr lang="en-US" sz="1080" b="1" dirty="0">
                <a:solidFill>
                  <a:srgbClr val="101820"/>
                </a:solidFill>
                <a:latin typeface="Aptos Display" pitchFamily="34" charset="0"/>
                <a:ea typeface="Aptos Display" pitchFamily="34" charset="-122"/>
                <a:cs typeface="Aptos Display" pitchFamily="34" charset="-120"/>
              </a:rPr>
              <a:t>Diff structuré + validation</a:t>
            </a:r>
            <a:endParaRPr lang="en-US" sz="1080" dirty="0"/>
          </a:p>
        </p:txBody>
      </p:sp>
      <p:sp>
        <p:nvSpPr>
          <p:cNvPr id="34" name="Shape 32"/>
          <p:cNvSpPr/>
          <p:nvPr/>
        </p:nvSpPr>
        <p:spPr>
          <a:xfrm>
            <a:off x="768096" y="3383280"/>
            <a:ext cx="4096512" cy="475488"/>
          </a:xfrm>
          <a:prstGeom prst="rect">
            <a:avLst/>
          </a:prstGeom>
          <a:solidFill>
            <a:srgbClr val="E2E0DA"/>
          </a:solidFill>
          <a:ln w="12700">
            <a:solidFill>
              <a:srgbClr val="E2E0DA">
                <a:alpha val="0"/>
              </a:srgbClr>
            </a:solidFill>
            <a:prstDash val="solid"/>
          </a:ln>
        </p:spPr>
      </p:sp>
      <p:sp>
        <p:nvSpPr>
          <p:cNvPr id="35" name="Shape 33"/>
          <p:cNvSpPr/>
          <p:nvPr/>
        </p:nvSpPr>
        <p:spPr>
          <a:xfrm>
            <a:off x="987552" y="3557016"/>
            <a:ext cx="128016" cy="128016"/>
          </a:xfrm>
          <a:prstGeom prst="ellipse">
            <a:avLst/>
          </a:prstGeom>
          <a:solidFill>
            <a:srgbClr val="F4B84A"/>
          </a:solidFill>
          <a:ln w="12700">
            <a:solidFill>
              <a:srgbClr val="F4B84A">
                <a:alpha val="0"/>
              </a:srgbClr>
            </a:solidFill>
            <a:prstDash val="solid"/>
          </a:ln>
        </p:spPr>
      </p:sp>
      <p:sp>
        <p:nvSpPr>
          <p:cNvPr id="36" name="Text 34"/>
          <p:cNvSpPr/>
          <p:nvPr/>
        </p:nvSpPr>
        <p:spPr>
          <a:xfrm>
            <a:off x="1335024" y="3502152"/>
            <a:ext cx="3182112" cy="182880"/>
          </a:xfrm>
          <a:prstGeom prst="rect">
            <a:avLst/>
          </a:prstGeom>
          <a:noFill/>
          <a:ln/>
        </p:spPr>
        <p:txBody>
          <a:bodyPr wrap="square" lIns="0" tIns="0" rIns="0" bIns="0" rtlCol="0" anchor="ctr">
            <a:normAutofit/>
          </a:bodyPr>
          <a:lstStyle/>
          <a:p>
            <a:pPr algn="l" indent="0" marL="0">
              <a:buNone/>
            </a:pPr>
            <a:r>
              <a:rPr lang="en-US" sz="1080" b="1" dirty="0">
                <a:solidFill>
                  <a:srgbClr val="101820"/>
                </a:solidFill>
                <a:latin typeface="Aptos Display" pitchFamily="34" charset="0"/>
                <a:ea typeface="Aptos Display" pitchFamily="34" charset="-122"/>
                <a:cs typeface="Aptos Display" pitchFamily="34" charset="-120"/>
              </a:rPr>
              <a:t>Autorité de commande ambiguë</a:t>
            </a:r>
            <a:endParaRPr lang="en-US" sz="1080" dirty="0"/>
          </a:p>
        </p:txBody>
      </p:sp>
      <p:sp>
        <p:nvSpPr>
          <p:cNvPr id="37" name="Shape 35"/>
          <p:cNvSpPr/>
          <p:nvPr/>
        </p:nvSpPr>
        <p:spPr>
          <a:xfrm>
            <a:off x="5065776" y="3621024"/>
            <a:ext cx="310896" cy="0"/>
          </a:xfrm>
          <a:prstGeom prst="line">
            <a:avLst/>
          </a:prstGeom>
          <a:noFill/>
          <a:ln w="12700">
            <a:solidFill>
              <a:srgbClr val="6C7F89"/>
            </a:solidFill>
            <a:prstDash val="solid"/>
            <a:tailEnd type="triangle"/>
          </a:ln>
        </p:spPr>
      </p:sp>
      <p:sp>
        <p:nvSpPr>
          <p:cNvPr id="38" name="Shape 36"/>
          <p:cNvSpPr/>
          <p:nvPr/>
        </p:nvSpPr>
        <p:spPr>
          <a:xfrm>
            <a:off x="5559552" y="3383280"/>
            <a:ext cx="5212080" cy="475488"/>
          </a:xfrm>
          <a:prstGeom prst="rect">
            <a:avLst/>
          </a:prstGeom>
          <a:solidFill>
            <a:srgbClr val="E5EDF1"/>
          </a:solidFill>
          <a:ln w="12700">
            <a:solidFill>
              <a:srgbClr val="E5EDF1">
                <a:alpha val="0"/>
              </a:srgbClr>
            </a:solidFill>
            <a:prstDash val="solid"/>
          </a:ln>
        </p:spPr>
      </p:sp>
      <p:sp>
        <p:nvSpPr>
          <p:cNvPr id="39" name="Shape 37"/>
          <p:cNvSpPr/>
          <p:nvPr/>
        </p:nvSpPr>
        <p:spPr>
          <a:xfrm>
            <a:off x="5797296" y="3557016"/>
            <a:ext cx="128016" cy="128016"/>
          </a:xfrm>
          <a:prstGeom prst="ellipse">
            <a:avLst/>
          </a:prstGeom>
          <a:solidFill>
            <a:srgbClr val="68D6E8"/>
          </a:solidFill>
          <a:ln w="12700">
            <a:solidFill>
              <a:srgbClr val="68D6E8">
                <a:alpha val="0"/>
              </a:srgbClr>
            </a:solidFill>
            <a:prstDash val="solid"/>
          </a:ln>
        </p:spPr>
      </p:sp>
      <p:sp>
        <p:nvSpPr>
          <p:cNvPr id="40" name="Text 38"/>
          <p:cNvSpPr/>
          <p:nvPr/>
        </p:nvSpPr>
        <p:spPr>
          <a:xfrm>
            <a:off x="6144768" y="3502152"/>
            <a:ext cx="4206240" cy="182880"/>
          </a:xfrm>
          <a:prstGeom prst="rect">
            <a:avLst/>
          </a:prstGeom>
          <a:noFill/>
          <a:ln/>
        </p:spPr>
        <p:txBody>
          <a:bodyPr wrap="square" lIns="0" tIns="0" rIns="0" bIns="0" rtlCol="0" anchor="ctr">
            <a:normAutofit/>
          </a:bodyPr>
          <a:lstStyle/>
          <a:p>
            <a:pPr algn="l" indent="0" marL="0">
              <a:buNone/>
            </a:pPr>
            <a:r>
              <a:rPr lang="en-US" sz="1080" b="1" dirty="0">
                <a:solidFill>
                  <a:srgbClr val="101820"/>
                </a:solidFill>
                <a:latin typeface="Aptos Display" pitchFamily="34" charset="0"/>
                <a:ea typeface="Aptos Display" pitchFamily="34" charset="-122"/>
                <a:cs typeface="Aptos Display" pitchFamily="34" charset="-120"/>
              </a:rPr>
              <a:t>Manifeste backend</a:t>
            </a:r>
            <a:endParaRPr lang="en-US" sz="1080" dirty="0"/>
          </a:p>
        </p:txBody>
      </p:sp>
      <p:sp>
        <p:nvSpPr>
          <p:cNvPr id="41" name="Shape 39"/>
          <p:cNvSpPr/>
          <p:nvPr/>
        </p:nvSpPr>
        <p:spPr>
          <a:xfrm>
            <a:off x="768096" y="4041648"/>
            <a:ext cx="4096512" cy="475488"/>
          </a:xfrm>
          <a:prstGeom prst="rect">
            <a:avLst/>
          </a:prstGeom>
          <a:solidFill>
            <a:srgbClr val="E9E7E1"/>
          </a:solidFill>
          <a:ln w="12700">
            <a:solidFill>
              <a:srgbClr val="E9E7E1">
                <a:alpha val="0"/>
              </a:srgbClr>
            </a:solidFill>
            <a:prstDash val="solid"/>
          </a:ln>
        </p:spPr>
      </p:sp>
      <p:sp>
        <p:nvSpPr>
          <p:cNvPr id="42" name="Shape 40"/>
          <p:cNvSpPr/>
          <p:nvPr/>
        </p:nvSpPr>
        <p:spPr>
          <a:xfrm>
            <a:off x="987552" y="4215384"/>
            <a:ext cx="128016" cy="128016"/>
          </a:xfrm>
          <a:prstGeom prst="ellipse">
            <a:avLst/>
          </a:prstGeom>
          <a:solidFill>
            <a:srgbClr val="F4B84A"/>
          </a:solidFill>
          <a:ln w="12700">
            <a:solidFill>
              <a:srgbClr val="F4B84A">
                <a:alpha val="0"/>
              </a:srgbClr>
            </a:solidFill>
            <a:prstDash val="solid"/>
          </a:ln>
        </p:spPr>
      </p:sp>
      <p:sp>
        <p:nvSpPr>
          <p:cNvPr id="43" name="Text 41"/>
          <p:cNvSpPr/>
          <p:nvPr/>
        </p:nvSpPr>
        <p:spPr>
          <a:xfrm>
            <a:off x="1335024" y="4160520"/>
            <a:ext cx="3182112" cy="182880"/>
          </a:xfrm>
          <a:prstGeom prst="rect">
            <a:avLst/>
          </a:prstGeom>
          <a:noFill/>
          <a:ln/>
        </p:spPr>
        <p:txBody>
          <a:bodyPr wrap="square" lIns="0" tIns="0" rIns="0" bIns="0" rtlCol="0" anchor="ctr">
            <a:normAutofit/>
          </a:bodyPr>
          <a:lstStyle/>
          <a:p>
            <a:pPr algn="l" indent="0" marL="0">
              <a:buNone/>
            </a:pPr>
            <a:r>
              <a:rPr lang="en-US" sz="1080" b="1" dirty="0">
                <a:solidFill>
                  <a:srgbClr val="101820"/>
                </a:solidFill>
                <a:latin typeface="Aptos Display" pitchFamily="34" charset="0"/>
                <a:ea typeface="Aptos Display" pitchFamily="34" charset="-122"/>
                <a:cs typeface="Aptos Display" pitchFamily="34" charset="-120"/>
              </a:rPr>
              <a:t>Profil Angular incompatible</a:t>
            </a:r>
            <a:endParaRPr lang="en-US" sz="1080" dirty="0"/>
          </a:p>
        </p:txBody>
      </p:sp>
      <p:sp>
        <p:nvSpPr>
          <p:cNvPr id="44" name="Shape 42"/>
          <p:cNvSpPr/>
          <p:nvPr/>
        </p:nvSpPr>
        <p:spPr>
          <a:xfrm>
            <a:off x="5065776" y="4279392"/>
            <a:ext cx="310896" cy="0"/>
          </a:xfrm>
          <a:prstGeom prst="line">
            <a:avLst/>
          </a:prstGeom>
          <a:noFill/>
          <a:ln w="12700">
            <a:solidFill>
              <a:srgbClr val="6C7F89"/>
            </a:solidFill>
            <a:prstDash val="solid"/>
            <a:tailEnd type="triangle"/>
          </a:ln>
        </p:spPr>
      </p:sp>
      <p:sp>
        <p:nvSpPr>
          <p:cNvPr id="45" name="Shape 43"/>
          <p:cNvSpPr/>
          <p:nvPr/>
        </p:nvSpPr>
        <p:spPr>
          <a:xfrm>
            <a:off x="5559552" y="4041648"/>
            <a:ext cx="5212080" cy="475488"/>
          </a:xfrm>
          <a:prstGeom prst="rect">
            <a:avLst/>
          </a:prstGeom>
          <a:solidFill>
            <a:srgbClr val="E2F0EC"/>
          </a:solidFill>
          <a:ln w="12700">
            <a:solidFill>
              <a:srgbClr val="E2F0EC">
                <a:alpha val="0"/>
              </a:srgbClr>
            </a:solidFill>
            <a:prstDash val="solid"/>
          </a:ln>
        </p:spPr>
      </p:sp>
      <p:sp>
        <p:nvSpPr>
          <p:cNvPr id="46" name="Shape 44"/>
          <p:cNvSpPr/>
          <p:nvPr/>
        </p:nvSpPr>
        <p:spPr>
          <a:xfrm>
            <a:off x="5797296" y="4215384"/>
            <a:ext cx="128016" cy="128016"/>
          </a:xfrm>
          <a:prstGeom prst="ellipse">
            <a:avLst/>
          </a:prstGeom>
          <a:solidFill>
            <a:srgbClr val="4E9DFF"/>
          </a:solidFill>
          <a:ln w="12700">
            <a:solidFill>
              <a:srgbClr val="4E9DFF">
                <a:alpha val="0"/>
              </a:srgbClr>
            </a:solidFill>
            <a:prstDash val="solid"/>
          </a:ln>
        </p:spPr>
      </p:sp>
      <p:sp>
        <p:nvSpPr>
          <p:cNvPr id="47" name="Text 45"/>
          <p:cNvSpPr/>
          <p:nvPr/>
        </p:nvSpPr>
        <p:spPr>
          <a:xfrm>
            <a:off x="6144768" y="4160520"/>
            <a:ext cx="4206240" cy="182880"/>
          </a:xfrm>
          <a:prstGeom prst="rect">
            <a:avLst/>
          </a:prstGeom>
          <a:noFill/>
          <a:ln/>
        </p:spPr>
        <p:txBody>
          <a:bodyPr wrap="square" lIns="0" tIns="0" rIns="0" bIns="0" rtlCol="0" anchor="ctr">
            <a:normAutofit/>
          </a:bodyPr>
          <a:lstStyle/>
          <a:p>
            <a:pPr algn="l" indent="0" marL="0">
              <a:buNone/>
            </a:pPr>
            <a:r>
              <a:rPr lang="en-US" sz="1080" b="1" dirty="0">
                <a:solidFill>
                  <a:srgbClr val="101820"/>
                </a:solidFill>
                <a:latin typeface="Aptos Display" pitchFamily="34" charset="0"/>
                <a:ea typeface="Aptos Display" pitchFamily="34" charset="-122"/>
                <a:cs typeface="Aptos Display" pitchFamily="34" charset="-120"/>
              </a:rPr>
              <a:t>Catalogue versionné</a:t>
            </a:r>
            <a:endParaRPr lang="en-US" sz="1080" dirty="0"/>
          </a:p>
        </p:txBody>
      </p:sp>
      <p:sp>
        <p:nvSpPr>
          <p:cNvPr id="48" name="Shape 46"/>
          <p:cNvSpPr/>
          <p:nvPr/>
        </p:nvSpPr>
        <p:spPr>
          <a:xfrm>
            <a:off x="768096" y="4700016"/>
            <a:ext cx="4096512" cy="475488"/>
          </a:xfrm>
          <a:prstGeom prst="rect">
            <a:avLst/>
          </a:prstGeom>
          <a:solidFill>
            <a:srgbClr val="E2E0DA"/>
          </a:solidFill>
          <a:ln w="12700">
            <a:solidFill>
              <a:srgbClr val="E2E0DA">
                <a:alpha val="0"/>
              </a:srgbClr>
            </a:solidFill>
            <a:prstDash val="solid"/>
          </a:ln>
        </p:spPr>
      </p:sp>
      <p:sp>
        <p:nvSpPr>
          <p:cNvPr id="49" name="Shape 47"/>
          <p:cNvSpPr/>
          <p:nvPr/>
        </p:nvSpPr>
        <p:spPr>
          <a:xfrm>
            <a:off x="987552" y="4873752"/>
            <a:ext cx="128016" cy="128016"/>
          </a:xfrm>
          <a:prstGeom prst="ellipse">
            <a:avLst/>
          </a:prstGeom>
          <a:solidFill>
            <a:srgbClr val="FF6F72"/>
          </a:solidFill>
          <a:ln w="12700">
            <a:solidFill>
              <a:srgbClr val="FF6F72">
                <a:alpha val="0"/>
              </a:srgbClr>
            </a:solidFill>
            <a:prstDash val="solid"/>
          </a:ln>
        </p:spPr>
      </p:sp>
      <p:sp>
        <p:nvSpPr>
          <p:cNvPr id="50" name="Text 48"/>
          <p:cNvSpPr/>
          <p:nvPr/>
        </p:nvSpPr>
        <p:spPr>
          <a:xfrm>
            <a:off x="1335024" y="4818888"/>
            <a:ext cx="3182112" cy="182880"/>
          </a:xfrm>
          <a:prstGeom prst="rect">
            <a:avLst/>
          </a:prstGeom>
          <a:noFill/>
          <a:ln/>
        </p:spPr>
        <p:txBody>
          <a:bodyPr wrap="square" lIns="0" tIns="0" rIns="0" bIns="0" rtlCol="0" anchor="ctr">
            <a:normAutofit/>
          </a:bodyPr>
          <a:lstStyle/>
          <a:p>
            <a:pPr algn="l" indent="0" marL="0">
              <a:buNone/>
            </a:pPr>
            <a:r>
              <a:rPr lang="en-US" sz="1080" b="1" dirty="0">
                <a:solidFill>
                  <a:srgbClr val="101820"/>
                </a:solidFill>
                <a:latin typeface="Aptos Display" pitchFamily="34" charset="0"/>
                <a:ea typeface="Aptos Display" pitchFamily="34" charset="-122"/>
                <a:cs typeface="Aptos Display" pitchFamily="34" charset="-120"/>
              </a:rPr>
              <a:t>Cohérence SQLite</a:t>
            </a:r>
            <a:endParaRPr lang="en-US" sz="1080" dirty="0"/>
          </a:p>
        </p:txBody>
      </p:sp>
      <p:sp>
        <p:nvSpPr>
          <p:cNvPr id="51" name="Shape 49"/>
          <p:cNvSpPr/>
          <p:nvPr/>
        </p:nvSpPr>
        <p:spPr>
          <a:xfrm>
            <a:off x="5065776" y="4937760"/>
            <a:ext cx="310896" cy="0"/>
          </a:xfrm>
          <a:prstGeom prst="line">
            <a:avLst/>
          </a:prstGeom>
          <a:noFill/>
          <a:ln w="12700">
            <a:solidFill>
              <a:srgbClr val="6C7F89"/>
            </a:solidFill>
            <a:prstDash val="solid"/>
            <a:tailEnd type="triangle"/>
          </a:ln>
        </p:spPr>
      </p:sp>
      <p:sp>
        <p:nvSpPr>
          <p:cNvPr id="52" name="Shape 50"/>
          <p:cNvSpPr/>
          <p:nvPr/>
        </p:nvSpPr>
        <p:spPr>
          <a:xfrm>
            <a:off x="5559552" y="4700016"/>
            <a:ext cx="5212080" cy="475488"/>
          </a:xfrm>
          <a:prstGeom prst="rect">
            <a:avLst/>
          </a:prstGeom>
          <a:solidFill>
            <a:srgbClr val="E5EDF1"/>
          </a:solidFill>
          <a:ln w="12700">
            <a:solidFill>
              <a:srgbClr val="E5EDF1">
                <a:alpha val="0"/>
              </a:srgbClr>
            </a:solidFill>
            <a:prstDash val="solid"/>
          </a:ln>
        </p:spPr>
      </p:sp>
      <p:sp>
        <p:nvSpPr>
          <p:cNvPr id="53" name="Shape 51"/>
          <p:cNvSpPr/>
          <p:nvPr/>
        </p:nvSpPr>
        <p:spPr>
          <a:xfrm>
            <a:off x="5797296" y="4873752"/>
            <a:ext cx="128016" cy="128016"/>
          </a:xfrm>
          <a:prstGeom prst="ellipse">
            <a:avLst/>
          </a:prstGeom>
          <a:solidFill>
            <a:srgbClr val="41D3AE"/>
          </a:solidFill>
          <a:ln w="12700">
            <a:solidFill>
              <a:srgbClr val="41D3AE">
                <a:alpha val="0"/>
              </a:srgbClr>
            </a:solidFill>
            <a:prstDash val="solid"/>
          </a:ln>
        </p:spPr>
      </p:sp>
      <p:sp>
        <p:nvSpPr>
          <p:cNvPr id="54" name="Text 52"/>
          <p:cNvSpPr/>
          <p:nvPr/>
        </p:nvSpPr>
        <p:spPr>
          <a:xfrm>
            <a:off x="6144768" y="4818888"/>
            <a:ext cx="4206240" cy="182880"/>
          </a:xfrm>
          <a:prstGeom prst="rect">
            <a:avLst/>
          </a:prstGeom>
          <a:noFill/>
          <a:ln/>
        </p:spPr>
        <p:txBody>
          <a:bodyPr wrap="square" lIns="0" tIns="0" rIns="0" bIns="0" rtlCol="0" anchor="ctr">
            <a:normAutofit/>
          </a:bodyPr>
          <a:lstStyle/>
          <a:p>
            <a:pPr algn="l" indent="0" marL="0">
              <a:buNone/>
            </a:pPr>
            <a:r>
              <a:rPr lang="en-US" sz="1080" b="1" dirty="0">
                <a:solidFill>
                  <a:srgbClr val="101820"/>
                </a:solidFill>
                <a:latin typeface="Aptos Display" pitchFamily="34" charset="0"/>
                <a:ea typeface="Aptos Display" pitchFamily="34" charset="-122"/>
                <a:cs typeface="Aptos Display" pitchFamily="34" charset="-120"/>
              </a:rPr>
              <a:t>Base autoritaire réconciliée</a:t>
            </a:r>
            <a:endParaRPr lang="en-US" sz="1080" dirty="0"/>
          </a:p>
        </p:txBody>
      </p:sp>
      <p:sp>
        <p:nvSpPr>
          <p:cNvPr id="55" name="Shape 53"/>
          <p:cNvSpPr/>
          <p:nvPr/>
        </p:nvSpPr>
        <p:spPr>
          <a:xfrm>
            <a:off x="768096" y="5577840"/>
            <a:ext cx="10515600" cy="0"/>
          </a:xfrm>
          <a:prstGeom prst="line">
            <a:avLst/>
          </a:prstGeom>
          <a:noFill/>
          <a:ln w="10160">
            <a:solidFill>
              <a:srgbClr val="6C7F89">
                <a:alpha val="82000"/>
              </a:srgbClr>
            </a:solidFill>
            <a:prstDash val="solid"/>
          </a:ln>
        </p:spPr>
      </p:sp>
      <p:sp>
        <p:nvSpPr>
          <p:cNvPr id="56" name="Text 54"/>
          <p:cNvSpPr/>
          <p:nvPr/>
        </p:nvSpPr>
        <p:spPr>
          <a:xfrm>
            <a:off x="768096" y="5833872"/>
            <a:ext cx="1261872" cy="164592"/>
          </a:xfrm>
          <a:prstGeom prst="rect">
            <a:avLst/>
          </a:prstGeom>
          <a:noFill/>
          <a:ln/>
        </p:spPr>
        <p:txBody>
          <a:bodyPr wrap="square" lIns="0" tIns="0" rIns="0" bIns="0" rtlCol="0" anchor="ctr">
            <a:normAutofit/>
          </a:bodyPr>
          <a:lstStyle/>
          <a:p>
            <a:pPr algn="l" indent="0" marL="0">
              <a:buNone/>
            </a:pPr>
            <a:r>
              <a:rPr lang="en-US" sz="780" b="1" spc="80" kern="0" dirty="0">
                <a:solidFill>
                  <a:srgbClr val="101820"/>
                </a:solidFill>
                <a:latin typeface="Aptos Mono" pitchFamily="34" charset="0"/>
                <a:ea typeface="Aptos Mono" pitchFamily="34" charset="-122"/>
                <a:cs typeface="Aptos Mono" pitchFamily="34" charset="-120"/>
              </a:rPr>
              <a:t>ARCHITECTURE</a:t>
            </a:r>
            <a:endParaRPr lang="en-US" sz="780" dirty="0"/>
          </a:p>
        </p:txBody>
      </p:sp>
      <p:sp>
        <p:nvSpPr>
          <p:cNvPr id="57" name="Text 55"/>
          <p:cNvSpPr/>
          <p:nvPr/>
        </p:nvSpPr>
        <p:spPr>
          <a:xfrm>
            <a:off x="2304288" y="5797296"/>
            <a:ext cx="987552" cy="201168"/>
          </a:xfrm>
          <a:prstGeom prst="rect">
            <a:avLst/>
          </a:prstGeom>
          <a:noFill/>
          <a:ln/>
        </p:spPr>
        <p:txBody>
          <a:bodyPr wrap="square" lIns="0" tIns="0" rIns="0" bIns="0" rtlCol="0" anchor="ctr">
            <a:normAutofit/>
          </a:bodyPr>
          <a:lstStyle/>
          <a:p>
            <a:pPr algn="l" indent="0" marL="0">
              <a:buNone/>
            </a:pPr>
            <a:r>
              <a:rPr lang="en-US" sz="1100" b="1" dirty="0">
                <a:solidFill>
                  <a:srgbClr val="101820"/>
                </a:solidFill>
                <a:latin typeface="Aptos Mono" pitchFamily="34" charset="0"/>
                <a:ea typeface="Aptos Mono" pitchFamily="34" charset="-122"/>
                <a:cs typeface="Aptos Mono" pitchFamily="34" charset="-120"/>
              </a:rPr>
              <a:t>contrats</a:t>
            </a:r>
            <a:endParaRPr lang="en-US" sz="1100" dirty="0"/>
          </a:p>
        </p:txBody>
      </p:sp>
      <p:sp>
        <p:nvSpPr>
          <p:cNvPr id="58" name="Text 56"/>
          <p:cNvSpPr/>
          <p:nvPr/>
        </p:nvSpPr>
        <p:spPr>
          <a:xfrm>
            <a:off x="3877056" y="5797296"/>
            <a:ext cx="1426464" cy="201168"/>
          </a:xfrm>
          <a:prstGeom prst="rect">
            <a:avLst/>
          </a:prstGeom>
          <a:noFill/>
          <a:ln/>
        </p:spPr>
        <p:txBody>
          <a:bodyPr wrap="square" lIns="0" tIns="0" rIns="0" bIns="0" rtlCol="0" anchor="ctr">
            <a:normAutofit/>
          </a:bodyPr>
          <a:lstStyle/>
          <a:p>
            <a:pPr algn="l" indent="0" marL="0">
              <a:buNone/>
            </a:pPr>
            <a:r>
              <a:rPr lang="en-US" sz="1100" b="1" dirty="0">
                <a:solidFill>
                  <a:srgbClr val="101820"/>
                </a:solidFill>
                <a:latin typeface="Aptos Mono" pitchFamily="34" charset="0"/>
                <a:ea typeface="Aptos Mono" pitchFamily="34" charset="-122"/>
                <a:cs typeface="Aptos Mono" pitchFamily="34" charset="-120"/>
              </a:rPr>
              <a:t>orchestration</a:t>
            </a:r>
            <a:endParaRPr lang="en-US" sz="1100" dirty="0"/>
          </a:p>
        </p:txBody>
      </p:sp>
      <p:sp>
        <p:nvSpPr>
          <p:cNvPr id="59" name="Text 57"/>
          <p:cNvSpPr/>
          <p:nvPr/>
        </p:nvSpPr>
        <p:spPr>
          <a:xfrm>
            <a:off x="5870448" y="5797296"/>
            <a:ext cx="841248" cy="201168"/>
          </a:xfrm>
          <a:prstGeom prst="rect">
            <a:avLst/>
          </a:prstGeom>
          <a:noFill/>
          <a:ln/>
        </p:spPr>
        <p:txBody>
          <a:bodyPr wrap="square" lIns="0" tIns="0" rIns="0" bIns="0" rtlCol="0" anchor="ctr">
            <a:normAutofit/>
          </a:bodyPr>
          <a:lstStyle/>
          <a:p>
            <a:pPr algn="l" indent="0" marL="0">
              <a:buNone/>
            </a:pPr>
            <a:r>
              <a:rPr lang="en-US" sz="1100" b="1" dirty="0">
                <a:solidFill>
                  <a:srgbClr val="101820"/>
                </a:solidFill>
                <a:latin typeface="Aptos Mono" pitchFamily="34" charset="0"/>
                <a:ea typeface="Aptos Mono" pitchFamily="34" charset="-122"/>
                <a:cs typeface="Aptos Mono" pitchFamily="34" charset="-120"/>
              </a:rPr>
              <a:t>testing</a:t>
            </a:r>
            <a:endParaRPr lang="en-US" sz="1100" dirty="0"/>
          </a:p>
        </p:txBody>
      </p:sp>
      <p:sp>
        <p:nvSpPr>
          <p:cNvPr id="60" name="Text 58"/>
          <p:cNvSpPr/>
          <p:nvPr/>
        </p:nvSpPr>
        <p:spPr>
          <a:xfrm>
            <a:off x="7388352" y="5797296"/>
            <a:ext cx="1170432" cy="201168"/>
          </a:xfrm>
          <a:prstGeom prst="rect">
            <a:avLst/>
          </a:prstGeom>
          <a:noFill/>
          <a:ln/>
        </p:spPr>
        <p:txBody>
          <a:bodyPr wrap="square" lIns="0" tIns="0" rIns="0" bIns="0" rtlCol="0" anchor="ctr">
            <a:normAutofit/>
          </a:bodyPr>
          <a:lstStyle/>
          <a:p>
            <a:pPr algn="l" indent="0" marL="0">
              <a:buNone/>
            </a:pPr>
            <a:r>
              <a:rPr lang="en-US" sz="1100" b="1" dirty="0">
                <a:solidFill>
                  <a:srgbClr val="101820"/>
                </a:solidFill>
                <a:latin typeface="Aptos Mono" pitchFamily="34" charset="0"/>
                <a:ea typeface="Aptos Mono" pitchFamily="34" charset="-122"/>
                <a:cs typeface="Aptos Mono" pitchFamily="34" charset="-120"/>
              </a:rPr>
              <a:t>persistance</a:t>
            </a:r>
            <a:endParaRPr lang="en-US" sz="1100" dirty="0"/>
          </a:p>
        </p:txBody>
      </p:sp>
      <p:sp>
        <p:nvSpPr>
          <p:cNvPr id="61" name="Text 59"/>
          <p:cNvSpPr/>
          <p:nvPr/>
        </p:nvSpPr>
        <p:spPr>
          <a:xfrm>
            <a:off x="9272016" y="5797296"/>
            <a:ext cx="2011680" cy="201168"/>
          </a:xfrm>
          <a:prstGeom prst="rect">
            <a:avLst/>
          </a:prstGeom>
          <a:noFill/>
          <a:ln/>
        </p:spPr>
        <p:txBody>
          <a:bodyPr wrap="square" lIns="0" tIns="0" rIns="0" bIns="0" rtlCol="0" anchor="ctr">
            <a:normAutofit/>
          </a:bodyPr>
          <a:lstStyle/>
          <a:p>
            <a:pPr algn="r" indent="0" marL="0">
              <a:buNone/>
            </a:pPr>
            <a:r>
              <a:rPr lang="en-US" sz="1000" b="1" dirty="0">
                <a:solidFill>
                  <a:srgbClr val="6C7F89"/>
                </a:solidFill>
                <a:latin typeface="Aptos Display" pitchFamily="34" charset="0"/>
                <a:ea typeface="Aptos Display" pitchFamily="34" charset="-122"/>
                <a:cs typeface="Aptos Display" pitchFamily="34" charset="-120"/>
              </a:rPr>
              <a:t>compétences mobilisées</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F1EA"/>
        </a:solidFill>
      </p:bgPr>
    </p:bg>
    <p:spTree>
      <p:nvGrpSpPr>
        <p:cNvPr id="1" name=""/>
        <p:cNvGrpSpPr/>
        <p:nvPr/>
      </p:nvGrpSpPr>
      <p:grpSpPr>
        <a:xfrm>
          <a:off x="0" y="0"/>
          <a:ext cx="0" cy="0"/>
          <a:chOff x="0" y="0"/>
          <a:chExt cx="0" cy="0"/>
        </a:xfrm>
      </p:grpSpPr>
      <p:sp>
        <p:nvSpPr>
          <p:cNvPr id="2" name="Shape 0"/>
          <p:cNvSpPr/>
          <p:nvPr/>
        </p:nvSpPr>
        <p:spPr>
          <a:xfrm>
            <a:off x="676656" y="411480"/>
            <a:ext cx="10735056" cy="0"/>
          </a:xfrm>
          <a:prstGeom prst="line">
            <a:avLst/>
          </a:prstGeom>
          <a:noFill/>
          <a:ln w="10160">
            <a:solidFill>
              <a:srgbClr val="6C7F89">
                <a:alpha val="85000"/>
              </a:srgbClr>
            </a:solidFill>
            <a:prstDash val="solid"/>
          </a:ln>
        </p:spPr>
      </p:sp>
      <p:sp>
        <p:nvSpPr>
          <p:cNvPr id="3" name="Shape 1"/>
          <p:cNvSpPr/>
          <p:nvPr/>
        </p:nvSpPr>
        <p:spPr>
          <a:xfrm>
            <a:off x="658368" y="356616"/>
            <a:ext cx="73152" cy="73152"/>
          </a:xfrm>
          <a:prstGeom prst="ellipse">
            <a:avLst/>
          </a:prstGeom>
          <a:solidFill>
            <a:srgbClr val="41D3AE"/>
          </a:solidFill>
          <a:ln w="12700">
            <a:solidFill>
              <a:srgbClr val="41D3AE">
                <a:alpha val="0"/>
              </a:srgbClr>
            </a:solidFill>
            <a:prstDash val="solid"/>
          </a:ln>
        </p:spPr>
      </p:sp>
      <p:sp>
        <p:nvSpPr>
          <p:cNvPr id="4" name="Text 2"/>
          <p:cNvSpPr/>
          <p:nvPr/>
        </p:nvSpPr>
        <p:spPr>
          <a:xfrm>
            <a:off x="822960" y="201168"/>
            <a:ext cx="1207008" cy="164592"/>
          </a:xfrm>
          <a:prstGeom prst="rect">
            <a:avLst/>
          </a:prstGeom>
          <a:noFill/>
          <a:ln/>
        </p:spPr>
        <p:txBody>
          <a:bodyPr wrap="square" lIns="0" tIns="0" rIns="0" bIns="0" rtlCol="0" anchor="ctr">
            <a:normAutofit/>
          </a:bodyPr>
          <a:lstStyle/>
          <a:p>
            <a:pPr algn="l" indent="0" marL="0">
              <a:buNone/>
            </a:pPr>
            <a:r>
              <a:rPr lang="en-US" sz="760" b="1" dirty="0">
                <a:solidFill>
                  <a:srgbClr val="41D3AE"/>
                </a:solidFill>
                <a:latin typeface="Aptos" pitchFamily="34" charset="0"/>
                <a:ea typeface="Aptos" pitchFamily="34" charset="-122"/>
                <a:cs typeface="Aptos" pitchFamily="34" charset="-120"/>
              </a:rPr>
              <a:t>Contexte</a:t>
            </a:r>
            <a:endParaRPr lang="en-US" sz="760" dirty="0"/>
          </a:p>
        </p:txBody>
      </p:sp>
      <p:sp>
        <p:nvSpPr>
          <p:cNvPr id="5" name="Shape 3"/>
          <p:cNvSpPr/>
          <p:nvPr/>
        </p:nvSpPr>
        <p:spPr>
          <a:xfrm>
            <a:off x="2130552" y="356616"/>
            <a:ext cx="73152" cy="73152"/>
          </a:xfrm>
          <a:prstGeom prst="ellipse">
            <a:avLst/>
          </a:prstGeom>
          <a:solidFill>
            <a:srgbClr val="41D3AE"/>
          </a:solidFill>
          <a:ln w="12700">
            <a:solidFill>
              <a:srgbClr val="41D3AE">
                <a:alpha val="0"/>
              </a:srgbClr>
            </a:solidFill>
            <a:prstDash val="solid"/>
          </a:ln>
        </p:spPr>
      </p:sp>
      <p:sp>
        <p:nvSpPr>
          <p:cNvPr id="6" name="Text 4"/>
          <p:cNvSpPr/>
          <p:nvPr/>
        </p:nvSpPr>
        <p:spPr>
          <a:xfrm>
            <a:off x="2295144" y="201168"/>
            <a:ext cx="1207008" cy="164592"/>
          </a:xfrm>
          <a:prstGeom prst="rect">
            <a:avLst/>
          </a:prstGeom>
          <a:noFill/>
          <a:ln/>
        </p:spPr>
        <p:txBody>
          <a:bodyPr wrap="square" lIns="0" tIns="0" rIns="0" bIns="0" rtlCol="0" anchor="ctr">
            <a:normAutofit/>
          </a:bodyPr>
          <a:lstStyle/>
          <a:p>
            <a:pPr algn="l" indent="0" marL="0">
              <a:buNone/>
            </a:pPr>
            <a:r>
              <a:rPr lang="en-US" sz="760" b="1" dirty="0">
                <a:solidFill>
                  <a:srgbClr val="41D3AE"/>
                </a:solidFill>
                <a:latin typeface="Aptos" pitchFamily="34" charset="0"/>
                <a:ea typeface="Aptos" pitchFamily="34" charset="-122"/>
                <a:cs typeface="Aptos" pitchFamily="34" charset="-120"/>
              </a:rPr>
              <a:t>Solution</a:t>
            </a:r>
            <a:endParaRPr lang="en-US" sz="760" dirty="0"/>
          </a:p>
        </p:txBody>
      </p:sp>
      <p:sp>
        <p:nvSpPr>
          <p:cNvPr id="7" name="Shape 5"/>
          <p:cNvSpPr/>
          <p:nvPr/>
        </p:nvSpPr>
        <p:spPr>
          <a:xfrm>
            <a:off x="3493008" y="356616"/>
            <a:ext cx="73152" cy="73152"/>
          </a:xfrm>
          <a:prstGeom prst="ellipse">
            <a:avLst/>
          </a:prstGeom>
          <a:solidFill>
            <a:srgbClr val="41D3AE"/>
          </a:solidFill>
          <a:ln w="12700">
            <a:solidFill>
              <a:srgbClr val="41D3AE">
                <a:alpha val="0"/>
              </a:srgbClr>
            </a:solidFill>
            <a:prstDash val="solid"/>
          </a:ln>
        </p:spPr>
      </p:sp>
      <p:sp>
        <p:nvSpPr>
          <p:cNvPr id="8" name="Text 6"/>
          <p:cNvSpPr/>
          <p:nvPr/>
        </p:nvSpPr>
        <p:spPr>
          <a:xfrm>
            <a:off x="3657600" y="201168"/>
            <a:ext cx="1207008" cy="164592"/>
          </a:xfrm>
          <a:prstGeom prst="rect">
            <a:avLst/>
          </a:prstGeom>
          <a:noFill/>
          <a:ln/>
        </p:spPr>
        <p:txBody>
          <a:bodyPr wrap="square" lIns="0" tIns="0" rIns="0" bIns="0" rtlCol="0" anchor="ctr">
            <a:normAutofit/>
          </a:bodyPr>
          <a:lstStyle/>
          <a:p>
            <a:pPr algn="l" indent="0" marL="0">
              <a:buNone/>
            </a:pPr>
            <a:r>
              <a:rPr lang="en-US" sz="760" b="1" dirty="0">
                <a:solidFill>
                  <a:srgbClr val="41D3AE"/>
                </a:solidFill>
                <a:latin typeface="Aptos" pitchFamily="34" charset="0"/>
                <a:ea typeface="Aptos" pitchFamily="34" charset="-122"/>
                <a:cs typeface="Aptos" pitchFamily="34" charset="-120"/>
              </a:rPr>
              <a:t>Architecture</a:t>
            </a:r>
            <a:endParaRPr lang="en-US" sz="760" dirty="0"/>
          </a:p>
        </p:txBody>
      </p:sp>
      <p:sp>
        <p:nvSpPr>
          <p:cNvPr id="9" name="Shape 7"/>
          <p:cNvSpPr/>
          <p:nvPr/>
        </p:nvSpPr>
        <p:spPr>
          <a:xfrm>
            <a:off x="5001768" y="356616"/>
            <a:ext cx="73152" cy="73152"/>
          </a:xfrm>
          <a:prstGeom prst="ellipse">
            <a:avLst/>
          </a:prstGeom>
          <a:solidFill>
            <a:srgbClr val="41D3AE"/>
          </a:solidFill>
          <a:ln w="12700">
            <a:solidFill>
              <a:srgbClr val="41D3AE">
                <a:alpha val="0"/>
              </a:srgbClr>
            </a:solidFill>
            <a:prstDash val="solid"/>
          </a:ln>
        </p:spPr>
      </p:sp>
      <p:sp>
        <p:nvSpPr>
          <p:cNvPr id="10" name="Text 8"/>
          <p:cNvSpPr/>
          <p:nvPr/>
        </p:nvSpPr>
        <p:spPr>
          <a:xfrm>
            <a:off x="5166360" y="201168"/>
            <a:ext cx="1097280" cy="164592"/>
          </a:xfrm>
          <a:prstGeom prst="rect">
            <a:avLst/>
          </a:prstGeom>
          <a:noFill/>
          <a:ln/>
        </p:spPr>
        <p:txBody>
          <a:bodyPr wrap="square" lIns="0" tIns="0" rIns="0" bIns="0" rtlCol="0" anchor="ctr">
            <a:normAutofit/>
          </a:bodyPr>
          <a:lstStyle/>
          <a:p>
            <a:pPr algn="l" indent="0" marL="0">
              <a:buNone/>
            </a:pPr>
            <a:r>
              <a:rPr lang="en-US" sz="760" b="1" dirty="0">
                <a:solidFill>
                  <a:srgbClr val="41D3AE"/>
                </a:solidFill>
                <a:latin typeface="Aptos" pitchFamily="34" charset="0"/>
                <a:ea typeface="Aptos" pitchFamily="34" charset="-122"/>
                <a:cs typeface="Aptos" pitchFamily="34" charset="-120"/>
              </a:rPr>
              <a:t>Réalisation</a:t>
            </a:r>
            <a:endParaRPr lang="en-US" sz="760" dirty="0"/>
          </a:p>
        </p:txBody>
      </p:sp>
      <p:sp>
        <p:nvSpPr>
          <p:cNvPr id="11" name="Shape 9"/>
          <p:cNvSpPr/>
          <p:nvPr/>
        </p:nvSpPr>
        <p:spPr>
          <a:xfrm>
            <a:off x="6583680" y="356616"/>
            <a:ext cx="73152" cy="73152"/>
          </a:xfrm>
          <a:prstGeom prst="ellipse">
            <a:avLst/>
          </a:prstGeom>
          <a:solidFill>
            <a:srgbClr val="41D3AE"/>
          </a:solidFill>
          <a:ln w="12700">
            <a:solidFill>
              <a:srgbClr val="41D3AE">
                <a:alpha val="0"/>
              </a:srgbClr>
            </a:solidFill>
            <a:prstDash val="solid"/>
          </a:ln>
        </p:spPr>
      </p:sp>
      <p:sp>
        <p:nvSpPr>
          <p:cNvPr id="12" name="Text 10"/>
          <p:cNvSpPr/>
          <p:nvPr/>
        </p:nvSpPr>
        <p:spPr>
          <a:xfrm>
            <a:off x="6748272" y="201168"/>
            <a:ext cx="1207008" cy="164592"/>
          </a:xfrm>
          <a:prstGeom prst="rect">
            <a:avLst/>
          </a:prstGeom>
          <a:noFill/>
          <a:ln/>
        </p:spPr>
        <p:txBody>
          <a:bodyPr wrap="square" lIns="0" tIns="0" rIns="0" bIns="0" rtlCol="0" anchor="ctr">
            <a:normAutofit/>
          </a:bodyPr>
          <a:lstStyle/>
          <a:p>
            <a:pPr algn="l" indent="0" marL="0">
              <a:buNone/>
            </a:pPr>
            <a:r>
              <a:rPr lang="en-US" sz="760" b="1" dirty="0">
                <a:solidFill>
                  <a:srgbClr val="41D3AE"/>
                </a:solidFill>
                <a:latin typeface="Aptos" pitchFamily="34" charset="0"/>
                <a:ea typeface="Aptos" pitchFamily="34" charset="-122"/>
                <a:cs typeface="Aptos" pitchFamily="34" charset="-120"/>
              </a:rPr>
              <a:t>Démo</a:t>
            </a:r>
            <a:endParaRPr lang="en-US" sz="760" dirty="0"/>
          </a:p>
        </p:txBody>
      </p:sp>
      <p:sp>
        <p:nvSpPr>
          <p:cNvPr id="13" name="Shape 11"/>
          <p:cNvSpPr/>
          <p:nvPr/>
        </p:nvSpPr>
        <p:spPr>
          <a:xfrm>
            <a:off x="8229600" y="356616"/>
            <a:ext cx="109728" cy="109728"/>
          </a:xfrm>
          <a:prstGeom prst="ellipse">
            <a:avLst/>
          </a:prstGeom>
          <a:solidFill>
            <a:srgbClr val="41D3AE"/>
          </a:solidFill>
          <a:ln w="12700">
            <a:solidFill>
              <a:srgbClr val="41D3AE">
                <a:alpha val="0"/>
              </a:srgbClr>
            </a:solidFill>
            <a:prstDash val="solid"/>
          </a:ln>
        </p:spPr>
      </p:sp>
      <p:sp>
        <p:nvSpPr>
          <p:cNvPr id="14" name="Text 12"/>
          <p:cNvSpPr/>
          <p:nvPr/>
        </p:nvSpPr>
        <p:spPr>
          <a:xfrm>
            <a:off x="8394192" y="201168"/>
            <a:ext cx="1207008" cy="164592"/>
          </a:xfrm>
          <a:prstGeom prst="rect">
            <a:avLst/>
          </a:prstGeom>
          <a:noFill/>
          <a:ln/>
        </p:spPr>
        <p:txBody>
          <a:bodyPr wrap="square" lIns="0" tIns="0" rIns="0" bIns="0" rtlCol="0" anchor="ctr">
            <a:normAutofit/>
          </a:bodyPr>
          <a:lstStyle/>
          <a:p>
            <a:pPr algn="l" indent="0" marL="0">
              <a:buNone/>
            </a:pPr>
            <a:r>
              <a:rPr lang="en-US" sz="810" b="1" dirty="0">
                <a:solidFill>
                  <a:srgbClr val="41D3AE"/>
                </a:solidFill>
                <a:latin typeface="Aptos" pitchFamily="34" charset="0"/>
                <a:ea typeface="Aptos" pitchFamily="34" charset="-122"/>
                <a:cs typeface="Aptos" pitchFamily="34" charset="-120"/>
              </a:rPr>
              <a:t>Résultats</a:t>
            </a:r>
            <a:endParaRPr lang="en-US" sz="810" dirty="0"/>
          </a:p>
        </p:txBody>
      </p:sp>
      <p:sp>
        <p:nvSpPr>
          <p:cNvPr id="15" name="Shape 13"/>
          <p:cNvSpPr/>
          <p:nvPr/>
        </p:nvSpPr>
        <p:spPr>
          <a:xfrm>
            <a:off x="8375904" y="521208"/>
            <a:ext cx="731520" cy="0"/>
          </a:xfrm>
          <a:prstGeom prst="line">
            <a:avLst/>
          </a:prstGeom>
          <a:noFill/>
          <a:ln w="22860">
            <a:solidFill>
              <a:srgbClr val="41D3AE"/>
            </a:solidFill>
            <a:prstDash val="solid"/>
          </a:ln>
        </p:spPr>
      </p:sp>
      <p:sp>
        <p:nvSpPr>
          <p:cNvPr id="16" name="Shape 14"/>
          <p:cNvSpPr/>
          <p:nvPr/>
        </p:nvSpPr>
        <p:spPr>
          <a:xfrm>
            <a:off x="9784080" y="356616"/>
            <a:ext cx="73152" cy="73152"/>
          </a:xfrm>
          <a:prstGeom prst="ellipse">
            <a:avLst/>
          </a:prstGeom>
          <a:solidFill>
            <a:srgbClr val="6C7F89">
              <a:alpha val="80000"/>
            </a:srgbClr>
          </a:solidFill>
          <a:ln w="12700">
            <a:solidFill>
              <a:srgbClr val="6C7F89">
                <a:alpha val="0"/>
              </a:srgbClr>
            </a:solidFill>
            <a:prstDash val="solid"/>
          </a:ln>
        </p:spPr>
      </p:sp>
      <p:sp>
        <p:nvSpPr>
          <p:cNvPr id="17" name="Text 15"/>
          <p:cNvSpPr/>
          <p:nvPr/>
        </p:nvSpPr>
        <p:spPr>
          <a:xfrm>
            <a:off x="9948672" y="201168"/>
            <a:ext cx="1207008" cy="164592"/>
          </a:xfrm>
          <a:prstGeom prst="rect">
            <a:avLst/>
          </a:prstGeom>
          <a:noFill/>
          <a:ln/>
        </p:spPr>
        <p:txBody>
          <a:bodyPr wrap="square" lIns="0" tIns="0" rIns="0" bIns="0" rtlCol="0" anchor="ctr">
            <a:normAutofit/>
          </a:bodyPr>
          <a:lstStyle/>
          <a:p>
            <a:pPr algn="l" indent="0" marL="0">
              <a:buNone/>
            </a:pPr>
            <a:r>
              <a:rPr lang="en-US" sz="760" dirty="0">
                <a:solidFill>
                  <a:srgbClr val="6C7F89"/>
                </a:solidFill>
                <a:latin typeface="Aptos" pitchFamily="34" charset="0"/>
                <a:ea typeface="Aptos" pitchFamily="34" charset="-122"/>
                <a:cs typeface="Aptos" pitchFamily="34" charset="-120"/>
              </a:rPr>
              <a:t>Conclusion</a:t>
            </a:r>
            <a:endParaRPr lang="en-US" sz="760" dirty="0"/>
          </a:p>
        </p:txBody>
      </p:sp>
      <p:sp>
        <p:nvSpPr>
          <p:cNvPr id="18" name="Shape 16"/>
          <p:cNvSpPr/>
          <p:nvPr/>
        </p:nvSpPr>
        <p:spPr>
          <a:xfrm>
            <a:off x="658368" y="6428232"/>
            <a:ext cx="10863072" cy="0"/>
          </a:xfrm>
          <a:prstGeom prst="line">
            <a:avLst/>
          </a:prstGeom>
          <a:noFill/>
          <a:ln w="8890">
            <a:solidFill>
              <a:srgbClr val="6C7F89">
                <a:alpha val="80000"/>
              </a:srgbClr>
            </a:solidFill>
            <a:prstDash val="solid"/>
          </a:ln>
        </p:spPr>
      </p:sp>
      <p:sp>
        <p:nvSpPr>
          <p:cNvPr id="19" name="Text 17"/>
          <p:cNvSpPr/>
          <p:nvPr/>
        </p:nvSpPr>
        <p:spPr>
          <a:xfrm>
            <a:off x="658368" y="6510528"/>
            <a:ext cx="2926080" cy="146304"/>
          </a:xfrm>
          <a:prstGeom prst="rect">
            <a:avLst/>
          </a:prstGeom>
          <a:noFill/>
          <a:ln/>
        </p:spPr>
        <p:txBody>
          <a:bodyPr wrap="square" lIns="0" tIns="0" rIns="0" bIns="0" rtlCol="0" anchor="ctr">
            <a:normAutofit/>
          </a:bodyPr>
          <a:lstStyle/>
          <a:p>
            <a:pPr algn="l" indent="0" marL="0">
              <a:buNone/>
            </a:pPr>
            <a:r>
              <a:rPr lang="en-US" sz="720" b="1" spc="120" kern="0" dirty="0">
                <a:solidFill>
                  <a:srgbClr val="6C7F89"/>
                </a:solidFill>
                <a:latin typeface="Aptos Mono" pitchFamily="34" charset="0"/>
                <a:ea typeface="Aptos Mono" pitchFamily="34" charset="-122"/>
                <a:cs typeface="Aptos Mono" pitchFamily="34" charset="-120"/>
              </a:rPr>
              <a:t>AGENTIC MIGRATION PLATFORM</a:t>
            </a:r>
            <a:endParaRPr lang="en-US" sz="720" dirty="0"/>
          </a:p>
        </p:txBody>
      </p:sp>
      <p:sp>
        <p:nvSpPr>
          <p:cNvPr id="20" name="Text 18"/>
          <p:cNvSpPr/>
          <p:nvPr/>
        </p:nvSpPr>
        <p:spPr>
          <a:xfrm>
            <a:off x="10561320" y="6501384"/>
            <a:ext cx="950976" cy="155448"/>
          </a:xfrm>
          <a:prstGeom prst="rect">
            <a:avLst/>
          </a:prstGeom>
          <a:noFill/>
          <a:ln/>
        </p:spPr>
        <p:txBody>
          <a:bodyPr wrap="square" lIns="0" tIns="0" rIns="0" bIns="0" rtlCol="0" anchor="ctr">
            <a:normAutofit/>
          </a:bodyPr>
          <a:lstStyle/>
          <a:p>
            <a:pPr algn="r" indent="0" marL="0">
              <a:buNone/>
            </a:pPr>
            <a:r>
              <a:rPr lang="en-US" sz="770" b="1" spc="80" kern="0" dirty="0">
                <a:solidFill>
                  <a:srgbClr val="6C7F89"/>
                </a:solidFill>
                <a:latin typeface="Aptos Mono" pitchFamily="34" charset="0"/>
                <a:ea typeface="Aptos Mono" pitchFamily="34" charset="-122"/>
                <a:cs typeface="Aptos Mono" pitchFamily="34" charset="-120"/>
              </a:rPr>
              <a:t>16 / 18</a:t>
            </a:r>
            <a:endParaRPr lang="en-US" sz="770" dirty="0"/>
          </a:p>
        </p:txBody>
      </p:sp>
      <p:sp>
        <p:nvSpPr>
          <p:cNvPr id="21" name="Text 19"/>
          <p:cNvSpPr/>
          <p:nvPr/>
        </p:nvSpPr>
        <p:spPr>
          <a:xfrm>
            <a:off x="658368" y="758952"/>
            <a:ext cx="3200400" cy="164592"/>
          </a:xfrm>
          <a:prstGeom prst="rect">
            <a:avLst/>
          </a:prstGeom>
          <a:noFill/>
          <a:ln/>
        </p:spPr>
        <p:txBody>
          <a:bodyPr wrap="square" lIns="0" tIns="0" rIns="0" bIns="0" rtlCol="0" anchor="ctr">
            <a:normAutofit/>
          </a:bodyPr>
          <a:lstStyle/>
          <a:p>
            <a:pPr algn="l" indent="0" marL="0">
              <a:buNone/>
            </a:pPr>
            <a:r>
              <a:rPr lang="en-US" sz="900" b="1" spc="135" kern="0" dirty="0">
                <a:solidFill>
                  <a:srgbClr val="101820"/>
                </a:solidFill>
                <a:latin typeface="Aptos Mono" pitchFamily="34" charset="0"/>
                <a:ea typeface="Aptos Mono" pitchFamily="34" charset="-122"/>
                <a:cs typeface="Aptos Mono" pitchFamily="34" charset="-120"/>
              </a:rPr>
              <a:t>RÉSULTATS</a:t>
            </a:r>
            <a:endParaRPr lang="en-US" sz="900" dirty="0"/>
          </a:p>
        </p:txBody>
      </p:sp>
      <p:sp>
        <p:nvSpPr>
          <p:cNvPr id="22" name="Text 20"/>
          <p:cNvSpPr/>
          <p:nvPr/>
        </p:nvSpPr>
        <p:spPr>
          <a:xfrm>
            <a:off x="658368" y="969264"/>
            <a:ext cx="10607040" cy="493776"/>
          </a:xfrm>
          <a:prstGeom prst="rect">
            <a:avLst/>
          </a:prstGeom>
          <a:noFill/>
          <a:ln/>
        </p:spPr>
        <p:txBody>
          <a:bodyPr wrap="square" lIns="0" tIns="0" rIns="0" bIns="0" rtlCol="0" anchor="t">
            <a:normAutofit/>
          </a:bodyPr>
          <a:lstStyle/>
          <a:p>
            <a:pPr algn="l" indent="0" marL="0">
              <a:buNone/>
            </a:pPr>
            <a:r>
              <a:rPr lang="en-US" sz="2900" b="1" dirty="0">
                <a:solidFill>
                  <a:srgbClr val="101820"/>
                </a:solidFill>
                <a:latin typeface="Aptos Display" pitchFamily="34" charset="0"/>
                <a:ea typeface="Aptos Display" pitchFamily="34" charset="-122"/>
                <a:cs typeface="Aptos Display" pitchFamily="34" charset="-120"/>
              </a:rPr>
              <a:t>Industrialiser reste le prochain chantier</a:t>
            </a:r>
            <a:endParaRPr lang="en-US" sz="2900" dirty="0"/>
          </a:p>
        </p:txBody>
      </p:sp>
      <p:sp>
        <p:nvSpPr>
          <p:cNvPr id="23" name="Text 21"/>
          <p:cNvSpPr/>
          <p:nvPr/>
        </p:nvSpPr>
        <p:spPr>
          <a:xfrm>
            <a:off x="658368" y="1499616"/>
            <a:ext cx="9966960" cy="256032"/>
          </a:xfrm>
          <a:prstGeom prst="rect">
            <a:avLst/>
          </a:prstGeom>
          <a:noFill/>
          <a:ln/>
        </p:spPr>
        <p:txBody>
          <a:bodyPr wrap="square" lIns="0" tIns="0" rIns="0" bIns="0" rtlCol="0" anchor="t">
            <a:normAutofit/>
          </a:bodyPr>
          <a:lstStyle/>
          <a:p>
            <a:pPr algn="l" indent="0" marL="0">
              <a:buNone/>
            </a:pPr>
            <a:r>
              <a:rPr lang="en-US" sz="1200" dirty="0">
                <a:solidFill>
                  <a:srgbClr val="6C7F89"/>
                </a:solidFill>
                <a:latin typeface="Aptos" pitchFamily="34" charset="0"/>
                <a:ea typeface="Aptos" pitchFamily="34" charset="-122"/>
                <a:cs typeface="Aptos" pitchFamily="34" charset="-120"/>
              </a:rPr>
              <a:t>Le prototype est gouverné ; il ne se présente pas encore comme une plateforme production complète.</a:t>
            </a:r>
            <a:endParaRPr lang="en-US" sz="1200" dirty="0"/>
          </a:p>
        </p:txBody>
      </p:sp>
      <p:sp>
        <p:nvSpPr>
          <p:cNvPr id="24" name="Text 22"/>
          <p:cNvSpPr/>
          <p:nvPr/>
        </p:nvSpPr>
        <p:spPr>
          <a:xfrm>
            <a:off x="749808" y="2066544"/>
            <a:ext cx="1207008" cy="164592"/>
          </a:xfrm>
          <a:prstGeom prst="rect">
            <a:avLst/>
          </a:prstGeom>
          <a:noFill/>
          <a:ln/>
        </p:spPr>
        <p:txBody>
          <a:bodyPr wrap="square" lIns="0" tIns="0" rIns="0" bIns="0" rtlCol="0" anchor="ctr">
            <a:normAutofit/>
          </a:bodyPr>
          <a:lstStyle/>
          <a:p>
            <a:pPr algn="l" indent="0" marL="0">
              <a:buNone/>
            </a:pPr>
            <a:r>
              <a:rPr lang="en-US" sz="820" b="1" spc="100" kern="0" dirty="0">
                <a:solidFill>
                  <a:srgbClr val="101820"/>
                </a:solidFill>
                <a:latin typeface="Aptos Mono" pitchFamily="34" charset="0"/>
                <a:ea typeface="Aptos Mono" pitchFamily="34" charset="-122"/>
                <a:cs typeface="Aptos Mono" pitchFamily="34" charset="-120"/>
              </a:rPr>
              <a:t>NOW → NEXT</a:t>
            </a:r>
            <a:endParaRPr lang="en-US" sz="820" dirty="0"/>
          </a:p>
        </p:txBody>
      </p:sp>
      <p:sp>
        <p:nvSpPr>
          <p:cNvPr id="25" name="Shape 23"/>
          <p:cNvSpPr/>
          <p:nvPr/>
        </p:nvSpPr>
        <p:spPr>
          <a:xfrm>
            <a:off x="768096" y="3127248"/>
            <a:ext cx="10040112" cy="-658368"/>
          </a:xfrm>
          <a:prstGeom prst="line">
            <a:avLst/>
          </a:prstGeom>
          <a:noFill/>
          <a:ln w="12700">
            <a:solidFill>
              <a:srgbClr val="6C7F89"/>
            </a:solidFill>
            <a:prstDash val="solid"/>
            <a:tailEnd type="triangle"/>
          </a:ln>
        </p:spPr>
      </p:sp>
      <p:sp>
        <p:nvSpPr>
          <p:cNvPr id="26" name="Shape 24"/>
          <p:cNvSpPr/>
          <p:nvPr/>
        </p:nvSpPr>
        <p:spPr>
          <a:xfrm>
            <a:off x="950976" y="2971800"/>
            <a:ext cx="310896" cy="310896"/>
          </a:xfrm>
          <a:prstGeom prst="ellipse">
            <a:avLst/>
          </a:prstGeom>
          <a:solidFill>
            <a:srgbClr val="F4B84A"/>
          </a:solidFill>
          <a:ln w="12700">
            <a:solidFill>
              <a:srgbClr val="F4B84A">
                <a:alpha val="0"/>
              </a:srgbClr>
            </a:solidFill>
            <a:prstDash val="solid"/>
          </a:ln>
        </p:spPr>
      </p:sp>
      <p:sp>
        <p:nvSpPr>
          <p:cNvPr id="27" name="Shape 25"/>
          <p:cNvSpPr/>
          <p:nvPr/>
        </p:nvSpPr>
        <p:spPr>
          <a:xfrm>
            <a:off x="10497312" y="2322576"/>
            <a:ext cx="310896" cy="310896"/>
          </a:xfrm>
          <a:prstGeom prst="ellipse">
            <a:avLst/>
          </a:prstGeom>
          <a:solidFill>
            <a:srgbClr val="4E9DFF"/>
          </a:solidFill>
          <a:ln w="12700">
            <a:solidFill>
              <a:srgbClr val="4E9DFF">
                <a:alpha val="0"/>
              </a:srgbClr>
            </a:solidFill>
            <a:prstDash val="solid"/>
          </a:ln>
        </p:spPr>
      </p:sp>
      <p:sp>
        <p:nvSpPr>
          <p:cNvPr id="28" name="Text 26"/>
          <p:cNvSpPr/>
          <p:nvPr/>
        </p:nvSpPr>
        <p:spPr>
          <a:xfrm>
            <a:off x="768096" y="2505456"/>
            <a:ext cx="1572768" cy="164592"/>
          </a:xfrm>
          <a:prstGeom prst="rect">
            <a:avLst/>
          </a:prstGeom>
          <a:noFill/>
          <a:ln/>
        </p:spPr>
        <p:txBody>
          <a:bodyPr wrap="square" lIns="0" tIns="0" rIns="0" bIns="0" rtlCol="0" anchor="ctr">
            <a:normAutofit/>
          </a:bodyPr>
          <a:lstStyle/>
          <a:p>
            <a:pPr algn="l" indent="0" marL="0">
              <a:buNone/>
            </a:pPr>
            <a:r>
              <a:rPr lang="en-US" sz="800" b="1" spc="90" kern="0" dirty="0">
                <a:solidFill>
                  <a:srgbClr val="F4B84A"/>
                </a:solidFill>
                <a:latin typeface="Aptos Mono" pitchFamily="34" charset="0"/>
                <a:ea typeface="Aptos Mono" pitchFamily="34" charset="-122"/>
                <a:cs typeface="Aptos Mono" pitchFamily="34" charset="-120"/>
              </a:rPr>
              <a:t>AUJOURD'HUI</a:t>
            </a:r>
            <a:endParaRPr lang="en-US" sz="800" dirty="0"/>
          </a:p>
        </p:txBody>
      </p:sp>
      <p:sp>
        <p:nvSpPr>
          <p:cNvPr id="29" name="Text 27"/>
          <p:cNvSpPr/>
          <p:nvPr/>
        </p:nvSpPr>
        <p:spPr>
          <a:xfrm>
            <a:off x="768096" y="3438144"/>
            <a:ext cx="3145536" cy="274320"/>
          </a:xfrm>
          <a:prstGeom prst="rect">
            <a:avLst/>
          </a:prstGeom>
          <a:noFill/>
          <a:ln/>
        </p:spPr>
        <p:txBody>
          <a:bodyPr wrap="square" lIns="0" tIns="0" rIns="0" bIns="0" rtlCol="0" anchor="ctr">
            <a:normAutofit/>
          </a:bodyPr>
          <a:lstStyle/>
          <a:p>
            <a:pPr algn="l" indent="0" marL="0">
              <a:buNone/>
            </a:pPr>
            <a:r>
              <a:rPr lang="en-US" sz="2000" b="1" dirty="0">
                <a:solidFill>
                  <a:srgbClr val="101820"/>
                </a:solidFill>
                <a:latin typeface="Aptos Display" pitchFamily="34" charset="0"/>
                <a:ea typeface="Aptos Display" pitchFamily="34" charset="-122"/>
                <a:cs typeface="Aptos Display" pitchFamily="34" charset="-120"/>
              </a:rPr>
              <a:t>Prototype gouverné</a:t>
            </a:r>
            <a:endParaRPr lang="en-US" sz="2000" dirty="0"/>
          </a:p>
        </p:txBody>
      </p:sp>
      <p:sp>
        <p:nvSpPr>
          <p:cNvPr id="30" name="Shape 28"/>
          <p:cNvSpPr/>
          <p:nvPr/>
        </p:nvSpPr>
        <p:spPr>
          <a:xfrm>
            <a:off x="804672" y="4023360"/>
            <a:ext cx="91440" cy="91440"/>
          </a:xfrm>
          <a:prstGeom prst="ellipse">
            <a:avLst/>
          </a:prstGeom>
          <a:solidFill>
            <a:srgbClr val="F4B84A"/>
          </a:solidFill>
          <a:ln w="12700">
            <a:solidFill>
              <a:srgbClr val="F4B84A">
                <a:alpha val="0"/>
              </a:srgbClr>
            </a:solidFill>
            <a:prstDash val="solid"/>
          </a:ln>
        </p:spPr>
      </p:sp>
      <p:sp>
        <p:nvSpPr>
          <p:cNvPr id="31" name="Text 29"/>
          <p:cNvSpPr/>
          <p:nvPr/>
        </p:nvSpPr>
        <p:spPr>
          <a:xfrm>
            <a:off x="1042416" y="3968496"/>
            <a:ext cx="3858768" cy="164592"/>
          </a:xfrm>
          <a:prstGeom prst="rect">
            <a:avLst/>
          </a:prstGeom>
          <a:noFill/>
          <a:ln/>
        </p:spPr>
        <p:txBody>
          <a:bodyPr wrap="square" lIns="0" tIns="0" rIns="0" bIns="0" rtlCol="0" anchor="ctr">
            <a:normAutofit/>
          </a:bodyPr>
          <a:lstStyle/>
          <a:p>
            <a:pPr algn="l" indent="0" marL="0">
              <a:buNone/>
            </a:pPr>
            <a:r>
              <a:rPr lang="en-US" sz="960" b="1" dirty="0">
                <a:solidFill>
                  <a:srgbClr val="101820"/>
                </a:solidFill>
                <a:latin typeface="Aptos Display" pitchFamily="34" charset="0"/>
                <a:ea typeface="Aptos Display" pitchFamily="34" charset="-122"/>
                <a:cs typeface="Aptos Display" pitchFamily="34" charset="-120"/>
              </a:rPr>
              <a:t>authentification / rôles non livrés</a:t>
            </a:r>
            <a:endParaRPr lang="en-US" sz="960" dirty="0"/>
          </a:p>
        </p:txBody>
      </p:sp>
      <p:sp>
        <p:nvSpPr>
          <p:cNvPr id="32" name="Shape 30"/>
          <p:cNvSpPr/>
          <p:nvPr/>
        </p:nvSpPr>
        <p:spPr>
          <a:xfrm>
            <a:off x="804672" y="4315968"/>
            <a:ext cx="91440" cy="91440"/>
          </a:xfrm>
          <a:prstGeom prst="ellipse">
            <a:avLst/>
          </a:prstGeom>
          <a:solidFill>
            <a:srgbClr val="F4B84A"/>
          </a:solidFill>
          <a:ln w="12700">
            <a:solidFill>
              <a:srgbClr val="F4B84A">
                <a:alpha val="0"/>
              </a:srgbClr>
            </a:solidFill>
            <a:prstDash val="solid"/>
          </a:ln>
        </p:spPr>
      </p:sp>
      <p:sp>
        <p:nvSpPr>
          <p:cNvPr id="33" name="Text 31"/>
          <p:cNvSpPr/>
          <p:nvPr/>
        </p:nvSpPr>
        <p:spPr>
          <a:xfrm>
            <a:off x="1042416" y="4261104"/>
            <a:ext cx="3858768" cy="164592"/>
          </a:xfrm>
          <a:prstGeom prst="rect">
            <a:avLst/>
          </a:prstGeom>
          <a:noFill/>
          <a:ln/>
        </p:spPr>
        <p:txBody>
          <a:bodyPr wrap="square" lIns="0" tIns="0" rIns="0" bIns="0" rtlCol="0" anchor="ctr">
            <a:normAutofit/>
          </a:bodyPr>
          <a:lstStyle/>
          <a:p>
            <a:pPr algn="l" indent="0" marL="0">
              <a:buNone/>
            </a:pPr>
            <a:r>
              <a:rPr lang="en-US" sz="960" dirty="0">
                <a:solidFill>
                  <a:srgbClr val="101820"/>
                </a:solidFill>
                <a:latin typeface="Aptos Display" pitchFamily="34" charset="0"/>
                <a:ea typeface="Aptos Display" pitchFamily="34" charset="-122"/>
                <a:cs typeface="Aptos Display" pitchFamily="34" charset="-120"/>
              </a:rPr>
              <a:t>pas de benchmark manuel contrôlé</a:t>
            </a:r>
            <a:endParaRPr lang="en-US" sz="960" dirty="0"/>
          </a:p>
        </p:txBody>
      </p:sp>
      <p:sp>
        <p:nvSpPr>
          <p:cNvPr id="34" name="Shape 32"/>
          <p:cNvSpPr/>
          <p:nvPr/>
        </p:nvSpPr>
        <p:spPr>
          <a:xfrm>
            <a:off x="804672" y="4608576"/>
            <a:ext cx="91440" cy="91440"/>
          </a:xfrm>
          <a:prstGeom prst="ellipse">
            <a:avLst/>
          </a:prstGeom>
          <a:solidFill>
            <a:srgbClr val="F4B84A"/>
          </a:solidFill>
          <a:ln w="12700">
            <a:solidFill>
              <a:srgbClr val="F4B84A">
                <a:alpha val="0"/>
              </a:srgbClr>
            </a:solidFill>
            <a:prstDash val="solid"/>
          </a:ln>
        </p:spPr>
      </p:sp>
      <p:sp>
        <p:nvSpPr>
          <p:cNvPr id="35" name="Text 33"/>
          <p:cNvSpPr/>
          <p:nvPr/>
        </p:nvSpPr>
        <p:spPr>
          <a:xfrm>
            <a:off x="1042416" y="4553712"/>
            <a:ext cx="3858768" cy="164592"/>
          </a:xfrm>
          <a:prstGeom prst="rect">
            <a:avLst/>
          </a:prstGeom>
          <a:noFill/>
          <a:ln/>
        </p:spPr>
        <p:txBody>
          <a:bodyPr wrap="square" lIns="0" tIns="0" rIns="0" bIns="0" rtlCol="0" anchor="ctr">
            <a:normAutofit/>
          </a:bodyPr>
          <a:lstStyle/>
          <a:p>
            <a:pPr algn="l" indent="0" marL="0">
              <a:buNone/>
            </a:pPr>
            <a:r>
              <a:rPr lang="en-US" sz="960" dirty="0">
                <a:solidFill>
                  <a:srgbClr val="101820"/>
                </a:solidFill>
                <a:latin typeface="Aptos Display" pitchFamily="34" charset="0"/>
                <a:ea typeface="Aptos Display" pitchFamily="34" charset="-122"/>
                <a:cs typeface="Aptos Display" pitchFamily="34" charset="-120"/>
              </a:rPr>
              <a:t>pas de CI commune</a:t>
            </a:r>
            <a:endParaRPr lang="en-US" sz="960" dirty="0"/>
          </a:p>
        </p:txBody>
      </p:sp>
      <p:sp>
        <p:nvSpPr>
          <p:cNvPr id="36" name="Shape 34"/>
          <p:cNvSpPr/>
          <p:nvPr/>
        </p:nvSpPr>
        <p:spPr>
          <a:xfrm>
            <a:off x="804672" y="4901184"/>
            <a:ext cx="91440" cy="91440"/>
          </a:xfrm>
          <a:prstGeom prst="ellipse">
            <a:avLst/>
          </a:prstGeom>
          <a:solidFill>
            <a:srgbClr val="F4B84A"/>
          </a:solidFill>
          <a:ln w="12700">
            <a:solidFill>
              <a:srgbClr val="F4B84A">
                <a:alpha val="0"/>
              </a:srgbClr>
            </a:solidFill>
            <a:prstDash val="solid"/>
          </a:ln>
        </p:spPr>
      </p:sp>
      <p:sp>
        <p:nvSpPr>
          <p:cNvPr id="37" name="Text 35"/>
          <p:cNvSpPr/>
          <p:nvPr/>
        </p:nvSpPr>
        <p:spPr>
          <a:xfrm>
            <a:off x="1042416" y="4846320"/>
            <a:ext cx="3858768" cy="164592"/>
          </a:xfrm>
          <a:prstGeom prst="rect">
            <a:avLst/>
          </a:prstGeom>
          <a:noFill/>
          <a:ln/>
        </p:spPr>
        <p:txBody>
          <a:bodyPr wrap="square" lIns="0" tIns="0" rIns="0" bIns="0" rtlCol="0" anchor="ctr">
            <a:normAutofit/>
          </a:bodyPr>
          <a:lstStyle/>
          <a:p>
            <a:pPr algn="l" indent="0" marL="0">
              <a:buNone/>
            </a:pPr>
            <a:r>
              <a:rPr lang="en-US" sz="960" dirty="0">
                <a:solidFill>
                  <a:srgbClr val="101820"/>
                </a:solidFill>
                <a:latin typeface="Aptos Display" pitchFamily="34" charset="0"/>
                <a:ea typeface="Aptos Display" pitchFamily="34" charset="-122"/>
                <a:cs typeface="Aptos Display" pitchFamily="34" charset="-120"/>
              </a:rPr>
              <a:t>couverture Angular incomplète</a:t>
            </a:r>
            <a:endParaRPr lang="en-US" sz="960" dirty="0"/>
          </a:p>
        </p:txBody>
      </p:sp>
      <p:sp>
        <p:nvSpPr>
          <p:cNvPr id="38" name="Shape 36"/>
          <p:cNvSpPr/>
          <p:nvPr/>
        </p:nvSpPr>
        <p:spPr>
          <a:xfrm>
            <a:off x="804672" y="5193792"/>
            <a:ext cx="91440" cy="91440"/>
          </a:xfrm>
          <a:prstGeom prst="ellipse">
            <a:avLst/>
          </a:prstGeom>
          <a:solidFill>
            <a:srgbClr val="F4B84A"/>
          </a:solidFill>
          <a:ln w="12700">
            <a:solidFill>
              <a:srgbClr val="F4B84A">
                <a:alpha val="0"/>
              </a:srgbClr>
            </a:solidFill>
            <a:prstDash val="solid"/>
          </a:ln>
        </p:spPr>
      </p:sp>
      <p:sp>
        <p:nvSpPr>
          <p:cNvPr id="39" name="Text 37"/>
          <p:cNvSpPr/>
          <p:nvPr/>
        </p:nvSpPr>
        <p:spPr>
          <a:xfrm>
            <a:off x="1042416" y="5138928"/>
            <a:ext cx="3858768" cy="164592"/>
          </a:xfrm>
          <a:prstGeom prst="rect">
            <a:avLst/>
          </a:prstGeom>
          <a:noFill/>
          <a:ln/>
        </p:spPr>
        <p:txBody>
          <a:bodyPr wrap="square" lIns="0" tIns="0" rIns="0" bIns="0" rtlCol="0" anchor="ctr">
            <a:normAutofit/>
          </a:bodyPr>
          <a:lstStyle/>
          <a:p>
            <a:pPr algn="l" indent="0" marL="0">
              <a:buNone/>
            </a:pPr>
            <a:r>
              <a:rPr lang="en-US" sz="960" dirty="0">
                <a:solidFill>
                  <a:srgbClr val="101820"/>
                </a:solidFill>
                <a:latin typeface="Aptos Display" pitchFamily="34" charset="0"/>
                <a:ea typeface="Aptos Display" pitchFamily="34" charset="-122"/>
                <a:cs typeface="Aptos Display" pitchFamily="34" charset="-120"/>
              </a:rPr>
              <a:t>coûts / durées LLM non consolidés</a:t>
            </a:r>
            <a:endParaRPr lang="en-US" sz="960" dirty="0"/>
          </a:p>
        </p:txBody>
      </p:sp>
      <p:sp>
        <p:nvSpPr>
          <p:cNvPr id="40" name="Text 38"/>
          <p:cNvSpPr/>
          <p:nvPr/>
        </p:nvSpPr>
        <p:spPr>
          <a:xfrm>
            <a:off x="7845552" y="1901952"/>
            <a:ext cx="1005840" cy="164592"/>
          </a:xfrm>
          <a:prstGeom prst="rect">
            <a:avLst/>
          </a:prstGeom>
          <a:noFill/>
          <a:ln/>
        </p:spPr>
        <p:txBody>
          <a:bodyPr wrap="square" lIns="0" tIns="0" rIns="0" bIns="0" rtlCol="0" anchor="ctr">
            <a:normAutofit/>
          </a:bodyPr>
          <a:lstStyle/>
          <a:p>
            <a:pPr algn="l" indent="0" marL="0">
              <a:buNone/>
            </a:pPr>
            <a:r>
              <a:rPr lang="en-US" sz="800" b="1" spc="90" kern="0" dirty="0">
                <a:solidFill>
                  <a:srgbClr val="4E9DFF"/>
                </a:solidFill>
                <a:latin typeface="Aptos Mono" pitchFamily="34" charset="0"/>
                <a:ea typeface="Aptos Mono" pitchFamily="34" charset="-122"/>
                <a:cs typeface="Aptos Mono" pitchFamily="34" charset="-120"/>
              </a:rPr>
              <a:t>ENSUITE</a:t>
            </a:r>
            <a:endParaRPr lang="en-US" sz="800" dirty="0"/>
          </a:p>
        </p:txBody>
      </p:sp>
      <p:sp>
        <p:nvSpPr>
          <p:cNvPr id="41" name="Text 39"/>
          <p:cNvSpPr/>
          <p:nvPr/>
        </p:nvSpPr>
        <p:spPr>
          <a:xfrm>
            <a:off x="7845552" y="2249424"/>
            <a:ext cx="3163824" cy="274320"/>
          </a:xfrm>
          <a:prstGeom prst="rect">
            <a:avLst/>
          </a:prstGeom>
          <a:noFill/>
          <a:ln/>
        </p:spPr>
        <p:txBody>
          <a:bodyPr wrap="square" lIns="0" tIns="0" rIns="0" bIns="0" rtlCol="0" anchor="ctr">
            <a:normAutofit/>
          </a:bodyPr>
          <a:lstStyle/>
          <a:p>
            <a:pPr algn="l" indent="0" marL="0">
              <a:buNone/>
            </a:pPr>
            <a:r>
              <a:rPr lang="en-US" sz="2000" b="1" dirty="0">
                <a:solidFill>
                  <a:srgbClr val="101820"/>
                </a:solidFill>
                <a:latin typeface="Aptos Display" pitchFamily="34" charset="0"/>
                <a:ea typeface="Aptos Display" pitchFamily="34" charset="-122"/>
                <a:cs typeface="Aptos Display" pitchFamily="34" charset="-120"/>
              </a:rPr>
              <a:t>Industrialiser</a:t>
            </a:r>
            <a:endParaRPr lang="en-US" sz="2000" dirty="0"/>
          </a:p>
        </p:txBody>
      </p:sp>
      <p:sp>
        <p:nvSpPr>
          <p:cNvPr id="42" name="Shape 40"/>
          <p:cNvSpPr/>
          <p:nvPr/>
        </p:nvSpPr>
        <p:spPr>
          <a:xfrm>
            <a:off x="7882128" y="2852928"/>
            <a:ext cx="91440" cy="91440"/>
          </a:xfrm>
          <a:prstGeom prst="ellipse">
            <a:avLst/>
          </a:prstGeom>
          <a:solidFill>
            <a:srgbClr val="4E9DFF"/>
          </a:solidFill>
          <a:ln w="12700">
            <a:solidFill>
              <a:srgbClr val="4E9DFF">
                <a:alpha val="0"/>
              </a:srgbClr>
            </a:solidFill>
            <a:prstDash val="solid"/>
          </a:ln>
        </p:spPr>
      </p:sp>
      <p:sp>
        <p:nvSpPr>
          <p:cNvPr id="43" name="Text 41"/>
          <p:cNvSpPr/>
          <p:nvPr/>
        </p:nvSpPr>
        <p:spPr>
          <a:xfrm>
            <a:off x="8119872" y="2798064"/>
            <a:ext cx="3145536" cy="182880"/>
          </a:xfrm>
          <a:prstGeom prst="rect">
            <a:avLst/>
          </a:prstGeom>
          <a:noFill/>
          <a:ln/>
        </p:spPr>
        <p:txBody>
          <a:bodyPr wrap="square" lIns="0" tIns="0" rIns="0" bIns="0" rtlCol="0" anchor="ctr">
            <a:normAutofit/>
          </a:bodyPr>
          <a:lstStyle/>
          <a:p>
            <a:pPr algn="l" indent="0" marL="0">
              <a:buNone/>
            </a:pPr>
            <a:r>
              <a:rPr lang="en-US" sz="1020" b="1" dirty="0">
                <a:solidFill>
                  <a:srgbClr val="101820"/>
                </a:solidFill>
                <a:latin typeface="Aptos Display" pitchFamily="34" charset="0"/>
                <a:ea typeface="Aptos Display" pitchFamily="34" charset="-122"/>
                <a:cs typeface="Aptos Display" pitchFamily="34" charset="-120"/>
              </a:rPr>
              <a:t>sécurité et rôles</a:t>
            </a:r>
            <a:endParaRPr lang="en-US" sz="1020" dirty="0"/>
          </a:p>
        </p:txBody>
      </p:sp>
      <p:sp>
        <p:nvSpPr>
          <p:cNvPr id="44" name="Shape 42"/>
          <p:cNvSpPr/>
          <p:nvPr/>
        </p:nvSpPr>
        <p:spPr>
          <a:xfrm>
            <a:off x="7882128" y="3255264"/>
            <a:ext cx="91440" cy="91440"/>
          </a:xfrm>
          <a:prstGeom prst="ellipse">
            <a:avLst/>
          </a:prstGeom>
          <a:solidFill>
            <a:srgbClr val="4E9DFF"/>
          </a:solidFill>
          <a:ln w="12700">
            <a:solidFill>
              <a:srgbClr val="4E9DFF">
                <a:alpha val="0"/>
              </a:srgbClr>
            </a:solidFill>
            <a:prstDash val="solid"/>
          </a:ln>
        </p:spPr>
      </p:sp>
      <p:sp>
        <p:nvSpPr>
          <p:cNvPr id="45" name="Text 43"/>
          <p:cNvSpPr/>
          <p:nvPr/>
        </p:nvSpPr>
        <p:spPr>
          <a:xfrm>
            <a:off x="8119872" y="3200400"/>
            <a:ext cx="3145536" cy="182880"/>
          </a:xfrm>
          <a:prstGeom prst="rect">
            <a:avLst/>
          </a:prstGeom>
          <a:noFill/>
          <a:ln/>
        </p:spPr>
        <p:txBody>
          <a:bodyPr wrap="square" lIns="0" tIns="0" rIns="0" bIns="0" rtlCol="0" anchor="ctr">
            <a:normAutofit/>
          </a:bodyPr>
          <a:lstStyle/>
          <a:p>
            <a:pPr algn="l" indent="0" marL="0">
              <a:buNone/>
            </a:pPr>
            <a:r>
              <a:rPr lang="en-US" sz="1020" dirty="0">
                <a:solidFill>
                  <a:srgbClr val="101820"/>
                </a:solidFill>
                <a:latin typeface="Aptos Display" pitchFamily="34" charset="0"/>
                <a:ea typeface="Aptos Display" pitchFamily="34" charset="-122"/>
                <a:cs typeface="Aptos Display" pitchFamily="34" charset="-120"/>
              </a:rPr>
              <a:t>corpus de benchmark</a:t>
            </a:r>
            <a:endParaRPr lang="en-US" sz="1020" dirty="0"/>
          </a:p>
        </p:txBody>
      </p:sp>
      <p:sp>
        <p:nvSpPr>
          <p:cNvPr id="46" name="Shape 44"/>
          <p:cNvSpPr/>
          <p:nvPr/>
        </p:nvSpPr>
        <p:spPr>
          <a:xfrm>
            <a:off x="7882128" y="3657600"/>
            <a:ext cx="91440" cy="91440"/>
          </a:xfrm>
          <a:prstGeom prst="ellipse">
            <a:avLst/>
          </a:prstGeom>
          <a:solidFill>
            <a:srgbClr val="4E9DFF"/>
          </a:solidFill>
          <a:ln w="12700">
            <a:solidFill>
              <a:srgbClr val="4E9DFF">
                <a:alpha val="0"/>
              </a:srgbClr>
            </a:solidFill>
            <a:prstDash val="solid"/>
          </a:ln>
        </p:spPr>
      </p:sp>
      <p:sp>
        <p:nvSpPr>
          <p:cNvPr id="47" name="Text 45"/>
          <p:cNvSpPr/>
          <p:nvPr/>
        </p:nvSpPr>
        <p:spPr>
          <a:xfrm>
            <a:off x="8119872" y="3602736"/>
            <a:ext cx="3145536" cy="182880"/>
          </a:xfrm>
          <a:prstGeom prst="rect">
            <a:avLst/>
          </a:prstGeom>
          <a:noFill/>
          <a:ln/>
        </p:spPr>
        <p:txBody>
          <a:bodyPr wrap="square" lIns="0" tIns="0" rIns="0" bIns="0" rtlCol="0" anchor="ctr">
            <a:normAutofit/>
          </a:bodyPr>
          <a:lstStyle/>
          <a:p>
            <a:pPr algn="l" indent="0" marL="0">
              <a:buNone/>
            </a:pPr>
            <a:r>
              <a:rPr lang="en-US" sz="1020" dirty="0">
                <a:solidFill>
                  <a:srgbClr val="101820"/>
                </a:solidFill>
                <a:latin typeface="Aptos Display" pitchFamily="34" charset="0"/>
                <a:ea typeface="Aptos Display" pitchFamily="34" charset="-122"/>
                <a:cs typeface="Aptos Display" pitchFamily="34" charset="-120"/>
              </a:rPr>
              <a:t>instrumentation coût / durée</a:t>
            </a:r>
            <a:endParaRPr lang="en-US" sz="1020" dirty="0"/>
          </a:p>
        </p:txBody>
      </p:sp>
      <p:sp>
        <p:nvSpPr>
          <p:cNvPr id="48" name="Shape 46"/>
          <p:cNvSpPr/>
          <p:nvPr/>
        </p:nvSpPr>
        <p:spPr>
          <a:xfrm>
            <a:off x="7882128" y="4059936"/>
            <a:ext cx="91440" cy="91440"/>
          </a:xfrm>
          <a:prstGeom prst="ellipse">
            <a:avLst/>
          </a:prstGeom>
          <a:solidFill>
            <a:srgbClr val="4E9DFF"/>
          </a:solidFill>
          <a:ln w="12700">
            <a:solidFill>
              <a:srgbClr val="4E9DFF">
                <a:alpha val="0"/>
              </a:srgbClr>
            </a:solidFill>
            <a:prstDash val="solid"/>
          </a:ln>
        </p:spPr>
      </p:sp>
      <p:sp>
        <p:nvSpPr>
          <p:cNvPr id="49" name="Text 47"/>
          <p:cNvSpPr/>
          <p:nvPr/>
        </p:nvSpPr>
        <p:spPr>
          <a:xfrm>
            <a:off x="8119872" y="4005072"/>
            <a:ext cx="3145536" cy="182880"/>
          </a:xfrm>
          <a:prstGeom prst="rect">
            <a:avLst/>
          </a:prstGeom>
          <a:noFill/>
          <a:ln/>
        </p:spPr>
        <p:txBody>
          <a:bodyPr wrap="square" lIns="0" tIns="0" rIns="0" bIns="0" rtlCol="0" anchor="ctr">
            <a:normAutofit/>
          </a:bodyPr>
          <a:lstStyle/>
          <a:p>
            <a:pPr algn="l" indent="0" marL="0">
              <a:buNone/>
            </a:pPr>
            <a:r>
              <a:rPr lang="en-US" sz="1020" dirty="0">
                <a:solidFill>
                  <a:srgbClr val="101820"/>
                </a:solidFill>
                <a:latin typeface="Aptos Display" pitchFamily="34" charset="0"/>
                <a:ea typeface="Aptos Display" pitchFamily="34" charset="-122"/>
                <a:cs typeface="Aptos Display" pitchFamily="34" charset="-120"/>
              </a:rPr>
              <a:t>nouveaux écosystèmes et modes de migration</a:t>
            </a:r>
            <a:endParaRPr lang="en-US" sz="1020" dirty="0"/>
          </a:p>
        </p:txBody>
      </p:sp>
      <p:sp>
        <p:nvSpPr>
          <p:cNvPr id="50" name="Shape 48"/>
          <p:cNvSpPr/>
          <p:nvPr/>
        </p:nvSpPr>
        <p:spPr>
          <a:xfrm>
            <a:off x="7845552" y="4535424"/>
            <a:ext cx="3383280" cy="0"/>
          </a:xfrm>
          <a:prstGeom prst="line">
            <a:avLst/>
          </a:prstGeom>
          <a:noFill/>
          <a:ln w="17780">
            <a:solidFill>
              <a:srgbClr val="4E9DFF"/>
            </a:solidFill>
            <a:prstDash val="solid"/>
          </a:ln>
        </p:spPr>
      </p:sp>
      <p:sp>
        <p:nvSpPr>
          <p:cNvPr id="51" name="Text 49"/>
          <p:cNvSpPr/>
          <p:nvPr/>
        </p:nvSpPr>
        <p:spPr>
          <a:xfrm>
            <a:off x="7845552" y="4773168"/>
            <a:ext cx="1298448" cy="164592"/>
          </a:xfrm>
          <a:prstGeom prst="rect">
            <a:avLst/>
          </a:prstGeom>
          <a:noFill/>
          <a:ln/>
        </p:spPr>
        <p:txBody>
          <a:bodyPr wrap="square" lIns="0" tIns="0" rIns="0" bIns="0" rtlCol="0" anchor="ctr">
            <a:normAutofit/>
          </a:bodyPr>
          <a:lstStyle/>
          <a:p>
            <a:pPr algn="l" indent="0" marL="0">
              <a:buNone/>
            </a:pPr>
            <a:r>
              <a:rPr lang="en-US" sz="780" b="1" spc="80" kern="0" dirty="0">
                <a:solidFill>
                  <a:srgbClr val="4E9DFF"/>
                </a:solidFill>
                <a:latin typeface="Aptos Mono" pitchFamily="34" charset="0"/>
                <a:ea typeface="Aptos Mono" pitchFamily="34" charset="-122"/>
                <a:cs typeface="Aptos Mono" pitchFamily="34" charset="-120"/>
              </a:rPr>
              <a:t>VISION CIBLE</a:t>
            </a:r>
            <a:endParaRPr lang="en-US" sz="780" dirty="0"/>
          </a:p>
        </p:txBody>
      </p:sp>
      <p:sp>
        <p:nvSpPr>
          <p:cNvPr id="52" name="Text 50"/>
          <p:cNvSpPr/>
          <p:nvPr/>
        </p:nvSpPr>
        <p:spPr>
          <a:xfrm>
            <a:off x="7845552" y="5084064"/>
            <a:ext cx="3328416" cy="347472"/>
          </a:xfrm>
          <a:prstGeom prst="rect">
            <a:avLst/>
          </a:prstGeom>
          <a:noFill/>
          <a:ln/>
        </p:spPr>
        <p:txBody>
          <a:bodyPr wrap="square" lIns="0" tIns="0" rIns="0" bIns="0" rtlCol="0" anchor="t">
            <a:normAutofit/>
          </a:bodyPr>
          <a:lstStyle/>
          <a:p>
            <a:pPr algn="l" indent="0" marL="0">
              <a:buNone/>
            </a:pPr>
            <a:r>
              <a:rPr lang="en-US" sz="960" b="1" dirty="0">
                <a:solidFill>
                  <a:srgbClr val="6C7F89"/>
                </a:solidFill>
                <a:latin typeface="Aptos Mono" pitchFamily="34" charset="0"/>
                <a:ea typeface="Aptos Mono" pitchFamily="34" charset="-122"/>
                <a:cs typeface="Aptos Mono" pitchFamily="34" charset="-120"/>
              </a:rPr>
              <a:t>.NET · PHP · Python · React · cloud · refactoring</a:t>
            </a:r>
            <a:endParaRPr lang="en-US" sz="96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117"/>
        </a:solidFill>
      </p:bgPr>
    </p:bg>
    <p:spTree>
      <p:nvGrpSpPr>
        <p:cNvPr id="1" name=""/>
        <p:cNvGrpSpPr/>
        <p:nvPr/>
      </p:nvGrpSpPr>
      <p:grpSpPr>
        <a:xfrm>
          <a:off x="0" y="0"/>
          <a:ext cx="0" cy="0"/>
          <a:chOff x="0" y="0"/>
          <a:chExt cx="0" cy="0"/>
        </a:xfrm>
      </p:grpSpPr>
      <p:sp>
        <p:nvSpPr>
          <p:cNvPr id="2" name="Shape 0"/>
          <p:cNvSpPr/>
          <p:nvPr/>
        </p:nvSpPr>
        <p:spPr>
          <a:xfrm>
            <a:off x="676656" y="411480"/>
            <a:ext cx="10735056" cy="0"/>
          </a:xfrm>
          <a:prstGeom prst="line">
            <a:avLst/>
          </a:prstGeom>
          <a:noFill/>
          <a:ln w="10160">
            <a:solidFill>
              <a:srgbClr val="344653">
                <a:alpha val="85000"/>
              </a:srgbClr>
            </a:solidFill>
            <a:prstDash val="solid"/>
          </a:ln>
        </p:spPr>
      </p:sp>
      <p:sp>
        <p:nvSpPr>
          <p:cNvPr id="3" name="Shape 1"/>
          <p:cNvSpPr/>
          <p:nvPr/>
        </p:nvSpPr>
        <p:spPr>
          <a:xfrm>
            <a:off x="658368" y="356616"/>
            <a:ext cx="73152" cy="73152"/>
          </a:xfrm>
          <a:prstGeom prst="ellipse">
            <a:avLst/>
          </a:prstGeom>
          <a:solidFill>
            <a:srgbClr val="41D3AE"/>
          </a:solidFill>
          <a:ln w="12700">
            <a:solidFill>
              <a:srgbClr val="41D3AE">
                <a:alpha val="0"/>
              </a:srgbClr>
            </a:solidFill>
            <a:prstDash val="solid"/>
          </a:ln>
        </p:spPr>
      </p:sp>
      <p:sp>
        <p:nvSpPr>
          <p:cNvPr id="4" name="Text 2"/>
          <p:cNvSpPr/>
          <p:nvPr/>
        </p:nvSpPr>
        <p:spPr>
          <a:xfrm>
            <a:off x="822960" y="201168"/>
            <a:ext cx="1207008" cy="164592"/>
          </a:xfrm>
          <a:prstGeom prst="rect">
            <a:avLst/>
          </a:prstGeom>
          <a:noFill/>
          <a:ln/>
        </p:spPr>
        <p:txBody>
          <a:bodyPr wrap="square" lIns="0" tIns="0" rIns="0" bIns="0" rtlCol="0" anchor="ctr">
            <a:normAutofit/>
          </a:bodyPr>
          <a:lstStyle/>
          <a:p>
            <a:pPr algn="l" indent="0" marL="0">
              <a:buNone/>
            </a:pPr>
            <a:r>
              <a:rPr lang="en-US" sz="760" b="1" dirty="0">
                <a:solidFill>
                  <a:srgbClr val="9EADB8"/>
                </a:solidFill>
                <a:latin typeface="Aptos" pitchFamily="34" charset="0"/>
                <a:ea typeface="Aptos" pitchFamily="34" charset="-122"/>
                <a:cs typeface="Aptos" pitchFamily="34" charset="-120"/>
              </a:rPr>
              <a:t>Contexte</a:t>
            </a:r>
            <a:endParaRPr lang="en-US" sz="760" dirty="0"/>
          </a:p>
        </p:txBody>
      </p:sp>
      <p:sp>
        <p:nvSpPr>
          <p:cNvPr id="5" name="Shape 3"/>
          <p:cNvSpPr/>
          <p:nvPr/>
        </p:nvSpPr>
        <p:spPr>
          <a:xfrm>
            <a:off x="2130552" y="356616"/>
            <a:ext cx="73152" cy="73152"/>
          </a:xfrm>
          <a:prstGeom prst="ellipse">
            <a:avLst/>
          </a:prstGeom>
          <a:solidFill>
            <a:srgbClr val="41D3AE"/>
          </a:solidFill>
          <a:ln w="12700">
            <a:solidFill>
              <a:srgbClr val="41D3AE">
                <a:alpha val="0"/>
              </a:srgbClr>
            </a:solidFill>
            <a:prstDash val="solid"/>
          </a:ln>
        </p:spPr>
      </p:sp>
      <p:sp>
        <p:nvSpPr>
          <p:cNvPr id="6" name="Text 4"/>
          <p:cNvSpPr/>
          <p:nvPr/>
        </p:nvSpPr>
        <p:spPr>
          <a:xfrm>
            <a:off x="2295144" y="201168"/>
            <a:ext cx="1207008" cy="164592"/>
          </a:xfrm>
          <a:prstGeom prst="rect">
            <a:avLst/>
          </a:prstGeom>
          <a:noFill/>
          <a:ln/>
        </p:spPr>
        <p:txBody>
          <a:bodyPr wrap="square" lIns="0" tIns="0" rIns="0" bIns="0" rtlCol="0" anchor="ctr">
            <a:normAutofit/>
          </a:bodyPr>
          <a:lstStyle/>
          <a:p>
            <a:pPr algn="l" indent="0" marL="0">
              <a:buNone/>
            </a:pPr>
            <a:r>
              <a:rPr lang="en-US" sz="760" b="1" dirty="0">
                <a:solidFill>
                  <a:srgbClr val="9EADB8"/>
                </a:solidFill>
                <a:latin typeface="Aptos" pitchFamily="34" charset="0"/>
                <a:ea typeface="Aptos" pitchFamily="34" charset="-122"/>
                <a:cs typeface="Aptos" pitchFamily="34" charset="-120"/>
              </a:rPr>
              <a:t>Solution</a:t>
            </a:r>
            <a:endParaRPr lang="en-US" sz="760" dirty="0"/>
          </a:p>
        </p:txBody>
      </p:sp>
      <p:sp>
        <p:nvSpPr>
          <p:cNvPr id="7" name="Shape 5"/>
          <p:cNvSpPr/>
          <p:nvPr/>
        </p:nvSpPr>
        <p:spPr>
          <a:xfrm>
            <a:off x="3493008" y="356616"/>
            <a:ext cx="73152" cy="73152"/>
          </a:xfrm>
          <a:prstGeom prst="ellipse">
            <a:avLst/>
          </a:prstGeom>
          <a:solidFill>
            <a:srgbClr val="41D3AE"/>
          </a:solidFill>
          <a:ln w="12700">
            <a:solidFill>
              <a:srgbClr val="41D3AE">
                <a:alpha val="0"/>
              </a:srgbClr>
            </a:solidFill>
            <a:prstDash val="solid"/>
          </a:ln>
        </p:spPr>
      </p:sp>
      <p:sp>
        <p:nvSpPr>
          <p:cNvPr id="8" name="Text 6"/>
          <p:cNvSpPr/>
          <p:nvPr/>
        </p:nvSpPr>
        <p:spPr>
          <a:xfrm>
            <a:off x="3657600" y="201168"/>
            <a:ext cx="1207008" cy="164592"/>
          </a:xfrm>
          <a:prstGeom prst="rect">
            <a:avLst/>
          </a:prstGeom>
          <a:noFill/>
          <a:ln/>
        </p:spPr>
        <p:txBody>
          <a:bodyPr wrap="square" lIns="0" tIns="0" rIns="0" bIns="0" rtlCol="0" anchor="ctr">
            <a:normAutofit/>
          </a:bodyPr>
          <a:lstStyle/>
          <a:p>
            <a:pPr algn="l" indent="0" marL="0">
              <a:buNone/>
            </a:pPr>
            <a:r>
              <a:rPr lang="en-US" sz="760" b="1" dirty="0">
                <a:solidFill>
                  <a:srgbClr val="9EADB8"/>
                </a:solidFill>
                <a:latin typeface="Aptos" pitchFamily="34" charset="0"/>
                <a:ea typeface="Aptos" pitchFamily="34" charset="-122"/>
                <a:cs typeface="Aptos" pitchFamily="34" charset="-120"/>
              </a:rPr>
              <a:t>Architecture</a:t>
            </a:r>
            <a:endParaRPr lang="en-US" sz="760" dirty="0"/>
          </a:p>
        </p:txBody>
      </p:sp>
      <p:sp>
        <p:nvSpPr>
          <p:cNvPr id="9" name="Shape 7"/>
          <p:cNvSpPr/>
          <p:nvPr/>
        </p:nvSpPr>
        <p:spPr>
          <a:xfrm>
            <a:off x="5001768" y="356616"/>
            <a:ext cx="73152" cy="73152"/>
          </a:xfrm>
          <a:prstGeom prst="ellipse">
            <a:avLst/>
          </a:prstGeom>
          <a:solidFill>
            <a:srgbClr val="41D3AE"/>
          </a:solidFill>
          <a:ln w="12700">
            <a:solidFill>
              <a:srgbClr val="41D3AE">
                <a:alpha val="0"/>
              </a:srgbClr>
            </a:solidFill>
            <a:prstDash val="solid"/>
          </a:ln>
        </p:spPr>
      </p:sp>
      <p:sp>
        <p:nvSpPr>
          <p:cNvPr id="10" name="Text 8"/>
          <p:cNvSpPr/>
          <p:nvPr/>
        </p:nvSpPr>
        <p:spPr>
          <a:xfrm>
            <a:off x="5166360" y="201168"/>
            <a:ext cx="1097280" cy="164592"/>
          </a:xfrm>
          <a:prstGeom prst="rect">
            <a:avLst/>
          </a:prstGeom>
          <a:noFill/>
          <a:ln/>
        </p:spPr>
        <p:txBody>
          <a:bodyPr wrap="square" lIns="0" tIns="0" rIns="0" bIns="0" rtlCol="0" anchor="ctr">
            <a:normAutofit/>
          </a:bodyPr>
          <a:lstStyle/>
          <a:p>
            <a:pPr algn="l" indent="0" marL="0">
              <a:buNone/>
            </a:pPr>
            <a:r>
              <a:rPr lang="en-US" sz="760" b="1" dirty="0">
                <a:solidFill>
                  <a:srgbClr val="9EADB8"/>
                </a:solidFill>
                <a:latin typeface="Aptos" pitchFamily="34" charset="0"/>
                <a:ea typeface="Aptos" pitchFamily="34" charset="-122"/>
                <a:cs typeface="Aptos" pitchFamily="34" charset="-120"/>
              </a:rPr>
              <a:t>Réalisation</a:t>
            </a:r>
            <a:endParaRPr lang="en-US" sz="760" dirty="0"/>
          </a:p>
        </p:txBody>
      </p:sp>
      <p:sp>
        <p:nvSpPr>
          <p:cNvPr id="11" name="Shape 9"/>
          <p:cNvSpPr/>
          <p:nvPr/>
        </p:nvSpPr>
        <p:spPr>
          <a:xfrm>
            <a:off x="6583680" y="356616"/>
            <a:ext cx="73152" cy="73152"/>
          </a:xfrm>
          <a:prstGeom prst="ellipse">
            <a:avLst/>
          </a:prstGeom>
          <a:solidFill>
            <a:srgbClr val="41D3AE"/>
          </a:solidFill>
          <a:ln w="12700">
            <a:solidFill>
              <a:srgbClr val="41D3AE">
                <a:alpha val="0"/>
              </a:srgbClr>
            </a:solidFill>
            <a:prstDash val="solid"/>
          </a:ln>
        </p:spPr>
      </p:sp>
      <p:sp>
        <p:nvSpPr>
          <p:cNvPr id="12" name="Text 10"/>
          <p:cNvSpPr/>
          <p:nvPr/>
        </p:nvSpPr>
        <p:spPr>
          <a:xfrm>
            <a:off x="6748272" y="201168"/>
            <a:ext cx="1207008" cy="164592"/>
          </a:xfrm>
          <a:prstGeom prst="rect">
            <a:avLst/>
          </a:prstGeom>
          <a:noFill/>
          <a:ln/>
        </p:spPr>
        <p:txBody>
          <a:bodyPr wrap="square" lIns="0" tIns="0" rIns="0" bIns="0" rtlCol="0" anchor="ctr">
            <a:normAutofit/>
          </a:bodyPr>
          <a:lstStyle/>
          <a:p>
            <a:pPr algn="l" indent="0" marL="0">
              <a:buNone/>
            </a:pPr>
            <a:r>
              <a:rPr lang="en-US" sz="760" b="1" dirty="0">
                <a:solidFill>
                  <a:srgbClr val="9EADB8"/>
                </a:solidFill>
                <a:latin typeface="Aptos" pitchFamily="34" charset="0"/>
                <a:ea typeface="Aptos" pitchFamily="34" charset="-122"/>
                <a:cs typeface="Aptos" pitchFamily="34" charset="-120"/>
              </a:rPr>
              <a:t>Démo</a:t>
            </a:r>
            <a:endParaRPr lang="en-US" sz="760" dirty="0"/>
          </a:p>
        </p:txBody>
      </p:sp>
      <p:sp>
        <p:nvSpPr>
          <p:cNvPr id="13" name="Shape 11"/>
          <p:cNvSpPr/>
          <p:nvPr/>
        </p:nvSpPr>
        <p:spPr>
          <a:xfrm>
            <a:off x="8229600" y="356616"/>
            <a:ext cx="73152" cy="73152"/>
          </a:xfrm>
          <a:prstGeom prst="ellipse">
            <a:avLst/>
          </a:prstGeom>
          <a:solidFill>
            <a:srgbClr val="41D3AE"/>
          </a:solidFill>
          <a:ln w="12700">
            <a:solidFill>
              <a:srgbClr val="41D3AE">
                <a:alpha val="0"/>
              </a:srgbClr>
            </a:solidFill>
            <a:prstDash val="solid"/>
          </a:ln>
        </p:spPr>
      </p:sp>
      <p:sp>
        <p:nvSpPr>
          <p:cNvPr id="14" name="Text 12"/>
          <p:cNvSpPr/>
          <p:nvPr/>
        </p:nvSpPr>
        <p:spPr>
          <a:xfrm>
            <a:off x="8394192" y="201168"/>
            <a:ext cx="1207008" cy="164592"/>
          </a:xfrm>
          <a:prstGeom prst="rect">
            <a:avLst/>
          </a:prstGeom>
          <a:noFill/>
          <a:ln/>
        </p:spPr>
        <p:txBody>
          <a:bodyPr wrap="square" lIns="0" tIns="0" rIns="0" bIns="0" rtlCol="0" anchor="ctr">
            <a:normAutofit/>
          </a:bodyPr>
          <a:lstStyle/>
          <a:p>
            <a:pPr algn="l" indent="0" marL="0">
              <a:buNone/>
            </a:pPr>
            <a:r>
              <a:rPr lang="en-US" sz="760" b="1" dirty="0">
                <a:solidFill>
                  <a:srgbClr val="9EADB8"/>
                </a:solidFill>
                <a:latin typeface="Aptos" pitchFamily="34" charset="0"/>
                <a:ea typeface="Aptos" pitchFamily="34" charset="-122"/>
                <a:cs typeface="Aptos" pitchFamily="34" charset="-120"/>
              </a:rPr>
              <a:t>Résultats</a:t>
            </a:r>
            <a:endParaRPr lang="en-US" sz="760" dirty="0"/>
          </a:p>
        </p:txBody>
      </p:sp>
      <p:sp>
        <p:nvSpPr>
          <p:cNvPr id="15" name="Shape 13"/>
          <p:cNvSpPr/>
          <p:nvPr/>
        </p:nvSpPr>
        <p:spPr>
          <a:xfrm>
            <a:off x="9784080" y="356616"/>
            <a:ext cx="109728" cy="109728"/>
          </a:xfrm>
          <a:prstGeom prst="ellipse">
            <a:avLst/>
          </a:prstGeom>
          <a:solidFill>
            <a:srgbClr val="68D6E8"/>
          </a:solidFill>
          <a:ln w="12700">
            <a:solidFill>
              <a:srgbClr val="68D6E8">
                <a:alpha val="0"/>
              </a:srgbClr>
            </a:solidFill>
            <a:prstDash val="solid"/>
          </a:ln>
        </p:spPr>
      </p:sp>
      <p:sp>
        <p:nvSpPr>
          <p:cNvPr id="16" name="Text 14"/>
          <p:cNvSpPr/>
          <p:nvPr/>
        </p:nvSpPr>
        <p:spPr>
          <a:xfrm>
            <a:off x="9948672" y="201168"/>
            <a:ext cx="1207008" cy="164592"/>
          </a:xfrm>
          <a:prstGeom prst="rect">
            <a:avLst/>
          </a:prstGeom>
          <a:noFill/>
          <a:ln/>
        </p:spPr>
        <p:txBody>
          <a:bodyPr wrap="square" lIns="0" tIns="0" rIns="0" bIns="0" rtlCol="0" anchor="ctr">
            <a:normAutofit/>
          </a:bodyPr>
          <a:lstStyle/>
          <a:p>
            <a:pPr algn="l" indent="0" marL="0">
              <a:buNone/>
            </a:pPr>
            <a:r>
              <a:rPr lang="en-US" sz="810" b="1" dirty="0">
                <a:solidFill>
                  <a:srgbClr val="68D6E8"/>
                </a:solidFill>
                <a:latin typeface="Aptos" pitchFamily="34" charset="0"/>
                <a:ea typeface="Aptos" pitchFamily="34" charset="-122"/>
                <a:cs typeface="Aptos" pitchFamily="34" charset="-120"/>
              </a:rPr>
              <a:t>Conclusion</a:t>
            </a:r>
            <a:endParaRPr lang="en-US" sz="810" dirty="0"/>
          </a:p>
        </p:txBody>
      </p:sp>
      <p:sp>
        <p:nvSpPr>
          <p:cNvPr id="17" name="Shape 15"/>
          <p:cNvSpPr/>
          <p:nvPr/>
        </p:nvSpPr>
        <p:spPr>
          <a:xfrm>
            <a:off x="9930384" y="521208"/>
            <a:ext cx="731520" cy="0"/>
          </a:xfrm>
          <a:prstGeom prst="line">
            <a:avLst/>
          </a:prstGeom>
          <a:noFill/>
          <a:ln w="22860">
            <a:solidFill>
              <a:srgbClr val="68D6E8"/>
            </a:solidFill>
            <a:prstDash val="solid"/>
          </a:ln>
        </p:spPr>
      </p:sp>
      <p:sp>
        <p:nvSpPr>
          <p:cNvPr id="18" name="Shape 16"/>
          <p:cNvSpPr/>
          <p:nvPr/>
        </p:nvSpPr>
        <p:spPr>
          <a:xfrm>
            <a:off x="658368" y="6428232"/>
            <a:ext cx="10863072" cy="0"/>
          </a:xfrm>
          <a:prstGeom prst="line">
            <a:avLst/>
          </a:prstGeom>
          <a:noFill/>
          <a:ln w="8890">
            <a:solidFill>
              <a:srgbClr val="344653">
                <a:alpha val="80000"/>
              </a:srgbClr>
            </a:solidFill>
            <a:prstDash val="solid"/>
          </a:ln>
        </p:spPr>
      </p:sp>
      <p:sp>
        <p:nvSpPr>
          <p:cNvPr id="19" name="Text 17"/>
          <p:cNvSpPr/>
          <p:nvPr/>
        </p:nvSpPr>
        <p:spPr>
          <a:xfrm>
            <a:off x="658368" y="6510528"/>
            <a:ext cx="2926080" cy="146304"/>
          </a:xfrm>
          <a:prstGeom prst="rect">
            <a:avLst/>
          </a:prstGeom>
          <a:noFill/>
          <a:ln/>
        </p:spPr>
        <p:txBody>
          <a:bodyPr wrap="square" lIns="0" tIns="0" rIns="0" bIns="0" rtlCol="0" anchor="ctr">
            <a:normAutofit/>
          </a:bodyPr>
          <a:lstStyle/>
          <a:p>
            <a:pPr algn="l" indent="0" marL="0">
              <a:buNone/>
            </a:pPr>
            <a:r>
              <a:rPr lang="en-US" sz="720" b="1" spc="120" kern="0" dirty="0">
                <a:solidFill>
                  <a:srgbClr val="6C7F89"/>
                </a:solidFill>
                <a:latin typeface="Aptos Mono" pitchFamily="34" charset="0"/>
                <a:ea typeface="Aptos Mono" pitchFamily="34" charset="-122"/>
                <a:cs typeface="Aptos Mono" pitchFamily="34" charset="-120"/>
              </a:rPr>
              <a:t>AGENTIC MIGRATION PLATFORM</a:t>
            </a:r>
            <a:endParaRPr lang="en-US" sz="720" dirty="0"/>
          </a:p>
        </p:txBody>
      </p:sp>
      <p:sp>
        <p:nvSpPr>
          <p:cNvPr id="20" name="Text 18"/>
          <p:cNvSpPr/>
          <p:nvPr/>
        </p:nvSpPr>
        <p:spPr>
          <a:xfrm>
            <a:off x="10561320" y="6501384"/>
            <a:ext cx="950976" cy="155448"/>
          </a:xfrm>
          <a:prstGeom prst="rect">
            <a:avLst/>
          </a:prstGeom>
          <a:noFill/>
          <a:ln/>
        </p:spPr>
        <p:txBody>
          <a:bodyPr wrap="square" lIns="0" tIns="0" rIns="0" bIns="0" rtlCol="0" anchor="ctr">
            <a:normAutofit/>
          </a:bodyPr>
          <a:lstStyle/>
          <a:p>
            <a:pPr algn="r" indent="0" marL="0">
              <a:buNone/>
            </a:pPr>
            <a:r>
              <a:rPr lang="en-US" sz="770" b="1" spc="80" kern="0" dirty="0">
                <a:solidFill>
                  <a:srgbClr val="6C7F89"/>
                </a:solidFill>
                <a:latin typeface="Aptos Mono" pitchFamily="34" charset="0"/>
                <a:ea typeface="Aptos Mono" pitchFamily="34" charset="-122"/>
                <a:cs typeface="Aptos Mono" pitchFamily="34" charset="-120"/>
              </a:rPr>
              <a:t>17 / 18</a:t>
            </a:r>
            <a:endParaRPr lang="en-US" sz="770" dirty="0"/>
          </a:p>
        </p:txBody>
      </p:sp>
      <p:sp>
        <p:nvSpPr>
          <p:cNvPr id="21" name="Text 19"/>
          <p:cNvSpPr/>
          <p:nvPr/>
        </p:nvSpPr>
        <p:spPr>
          <a:xfrm>
            <a:off x="658368" y="758952"/>
            <a:ext cx="3200400" cy="164592"/>
          </a:xfrm>
          <a:prstGeom prst="rect">
            <a:avLst/>
          </a:prstGeom>
          <a:noFill/>
          <a:ln/>
        </p:spPr>
        <p:txBody>
          <a:bodyPr wrap="square" lIns="0" tIns="0" rIns="0" bIns="0" rtlCol="0" anchor="ctr">
            <a:normAutofit/>
          </a:bodyPr>
          <a:lstStyle/>
          <a:p>
            <a:pPr algn="l" indent="0" marL="0">
              <a:buNone/>
            </a:pPr>
            <a:r>
              <a:rPr lang="en-US" sz="900" b="1" spc="135" kern="0" dirty="0">
                <a:solidFill>
                  <a:srgbClr val="68D6E8"/>
                </a:solidFill>
                <a:latin typeface="Aptos Mono" pitchFamily="34" charset="0"/>
                <a:ea typeface="Aptos Mono" pitchFamily="34" charset="-122"/>
                <a:cs typeface="Aptos Mono" pitchFamily="34" charset="-120"/>
              </a:rPr>
              <a:t>CONCLUSION</a:t>
            </a:r>
            <a:endParaRPr lang="en-US" sz="900" dirty="0"/>
          </a:p>
        </p:txBody>
      </p:sp>
      <p:sp>
        <p:nvSpPr>
          <p:cNvPr id="22" name="Text 20"/>
          <p:cNvSpPr/>
          <p:nvPr/>
        </p:nvSpPr>
        <p:spPr>
          <a:xfrm>
            <a:off x="658368" y="969264"/>
            <a:ext cx="10607040" cy="493776"/>
          </a:xfrm>
          <a:prstGeom prst="rect">
            <a:avLst/>
          </a:prstGeom>
          <a:noFill/>
          <a:ln/>
        </p:spPr>
        <p:txBody>
          <a:bodyPr wrap="square" lIns="0" tIns="0" rIns="0" bIns="0" rtlCol="0" anchor="t">
            <a:normAutofit/>
          </a:bodyPr>
          <a:lstStyle/>
          <a:p>
            <a:pPr algn="l" indent="0" marL="0">
              <a:buNone/>
            </a:pPr>
            <a:r>
              <a:rPr lang="en-US" sz="2900" b="1" dirty="0">
                <a:solidFill>
                  <a:srgbClr val="F5F7F8"/>
                </a:solidFill>
                <a:latin typeface="Aptos Display" pitchFamily="34" charset="0"/>
                <a:ea typeface="Aptos Display" pitchFamily="34" charset="-122"/>
                <a:cs typeface="Aptos Display" pitchFamily="34" charset="-120"/>
              </a:rPr>
              <a:t>Le principe d'architecture</a:t>
            </a:r>
            <a:endParaRPr lang="en-US" sz="2900" dirty="0"/>
          </a:p>
        </p:txBody>
      </p:sp>
      <p:sp>
        <p:nvSpPr>
          <p:cNvPr id="23" name="Text 21"/>
          <p:cNvSpPr/>
          <p:nvPr/>
        </p:nvSpPr>
        <p:spPr>
          <a:xfrm>
            <a:off x="658368" y="1499616"/>
            <a:ext cx="9966960" cy="256032"/>
          </a:xfrm>
          <a:prstGeom prst="rect">
            <a:avLst/>
          </a:prstGeom>
          <a:noFill/>
          <a:ln/>
        </p:spPr>
        <p:txBody>
          <a:bodyPr wrap="square" lIns="0" tIns="0" rIns="0" bIns="0" rtlCol="0" anchor="t">
            <a:normAutofit/>
          </a:bodyPr>
          <a:lstStyle/>
          <a:p>
            <a:pPr algn="l" indent="0" marL="0">
              <a:buNone/>
            </a:pPr>
            <a:r>
              <a:rPr lang="en-US" sz="1200" dirty="0">
                <a:solidFill>
                  <a:srgbClr val="9EADB8"/>
                </a:solidFill>
                <a:latin typeface="Aptos" pitchFamily="34" charset="0"/>
                <a:ea typeface="Aptos" pitchFamily="34" charset="-122"/>
                <a:cs typeface="Aptos" pitchFamily="34" charset="-120"/>
              </a:rPr>
              <a:t>La contribution est une automatisation gouvernée, traçable et revalidable.</a:t>
            </a:r>
            <a:endParaRPr lang="en-US" sz="1200" dirty="0"/>
          </a:p>
        </p:txBody>
      </p:sp>
      <p:sp>
        <p:nvSpPr>
          <p:cNvPr id="24" name="Text 22"/>
          <p:cNvSpPr/>
          <p:nvPr/>
        </p:nvSpPr>
        <p:spPr>
          <a:xfrm>
            <a:off x="768096" y="2286000"/>
            <a:ext cx="6949440" cy="859536"/>
          </a:xfrm>
          <a:prstGeom prst="rect">
            <a:avLst/>
          </a:prstGeom>
          <a:noFill/>
          <a:ln/>
        </p:spPr>
        <p:txBody>
          <a:bodyPr wrap="square" lIns="0" tIns="0" rIns="0" bIns="0" rtlCol="0" anchor="t">
            <a:normAutofit/>
          </a:bodyPr>
          <a:lstStyle/>
          <a:p>
            <a:pPr algn="l" indent="0" marL="0">
              <a:buNone/>
            </a:pPr>
            <a:r>
              <a:rPr lang="en-US" sz="2800" b="1" dirty="0">
                <a:solidFill>
                  <a:srgbClr val="F5F7F8"/>
                </a:solidFill>
                <a:latin typeface="Aptos Display" pitchFamily="34" charset="0"/>
                <a:ea typeface="Aptos Display" pitchFamily="34" charset="-122"/>
                <a:cs typeface="Aptos Display" pitchFamily="34" charset="-120"/>
              </a:rPr>
              <a:t>La migration devient gouvernable</a:t>
            </a:r>
            <a:endParaRPr lang="en-US" sz="2800" dirty="0"/>
          </a:p>
          <a:p>
            <a:pPr algn="l" indent="0" marL="0">
              <a:buNone/>
            </a:pPr>
            <a:r>
              <a:rPr lang="en-US" sz="2800" b="1" dirty="0">
                <a:solidFill>
                  <a:srgbClr val="F5F7F8"/>
                </a:solidFill>
                <a:latin typeface="Aptos Display" pitchFamily="34" charset="0"/>
                <a:ea typeface="Aptos Display" pitchFamily="34" charset="-122"/>
                <a:cs typeface="Aptos Display" pitchFamily="34" charset="-120"/>
              </a:rPr>
              <a:t>quand la décision laisse une preuve.</a:t>
            </a:r>
            <a:endParaRPr lang="en-US" sz="2800" dirty="0"/>
          </a:p>
        </p:txBody>
      </p:sp>
      <p:sp>
        <p:nvSpPr>
          <p:cNvPr id="25" name="Shape 23"/>
          <p:cNvSpPr/>
          <p:nvPr/>
        </p:nvSpPr>
        <p:spPr>
          <a:xfrm>
            <a:off x="786384" y="3493008"/>
            <a:ext cx="6327648" cy="0"/>
          </a:xfrm>
          <a:prstGeom prst="line">
            <a:avLst/>
          </a:prstGeom>
          <a:noFill/>
          <a:ln w="25400">
            <a:solidFill>
              <a:srgbClr val="68D6E8"/>
            </a:solidFill>
            <a:prstDash val="solid"/>
          </a:ln>
        </p:spPr>
      </p:sp>
      <p:sp>
        <p:nvSpPr>
          <p:cNvPr id="26" name="Text 24"/>
          <p:cNvSpPr/>
          <p:nvPr/>
        </p:nvSpPr>
        <p:spPr>
          <a:xfrm>
            <a:off x="786384" y="3749040"/>
            <a:ext cx="6309360" cy="292608"/>
          </a:xfrm>
          <a:prstGeom prst="rect">
            <a:avLst/>
          </a:prstGeom>
          <a:noFill/>
          <a:ln/>
        </p:spPr>
        <p:txBody>
          <a:bodyPr wrap="square" lIns="0" tIns="0" rIns="0" bIns="0" rtlCol="0" anchor="t">
            <a:normAutofit/>
          </a:bodyPr>
          <a:lstStyle/>
          <a:p>
            <a:pPr algn="l" indent="0" marL="0">
              <a:buNone/>
            </a:pPr>
            <a:r>
              <a:rPr lang="en-US" sz="1220" b="1" dirty="0">
                <a:solidFill>
                  <a:srgbClr val="9EADB8"/>
                </a:solidFill>
                <a:latin typeface="Aptos Display" pitchFamily="34" charset="0"/>
                <a:ea typeface="Aptos Display" pitchFamily="34" charset="-122"/>
                <a:cs typeface="Aptos Display" pitchFamily="34" charset="-120"/>
              </a:rPr>
              <a:t>Les agents accélèrent le raisonnement ; ils ne remplacent pas l'autorité.</a:t>
            </a:r>
            <a:endParaRPr lang="en-US" sz="1220" dirty="0"/>
          </a:p>
        </p:txBody>
      </p:sp>
      <p:sp>
        <p:nvSpPr>
          <p:cNvPr id="27" name="Shape 25"/>
          <p:cNvSpPr/>
          <p:nvPr/>
        </p:nvSpPr>
        <p:spPr>
          <a:xfrm>
            <a:off x="7973568" y="3218688"/>
            <a:ext cx="2633472" cy="0"/>
          </a:xfrm>
          <a:prstGeom prst="line">
            <a:avLst/>
          </a:prstGeom>
          <a:noFill/>
          <a:ln w="12700">
            <a:solidFill>
              <a:srgbClr val="6C7F89"/>
            </a:solidFill>
            <a:prstDash val="solid"/>
          </a:ln>
        </p:spPr>
      </p:sp>
      <p:sp>
        <p:nvSpPr>
          <p:cNvPr id="28" name="Shape 26"/>
          <p:cNvSpPr/>
          <p:nvPr/>
        </p:nvSpPr>
        <p:spPr>
          <a:xfrm>
            <a:off x="7699248" y="2944368"/>
            <a:ext cx="566928" cy="566928"/>
          </a:xfrm>
          <a:prstGeom prst="ellipse">
            <a:avLst/>
          </a:prstGeom>
          <a:solidFill>
            <a:srgbClr val="1B2A35"/>
          </a:solidFill>
          <a:ln w="19050">
            <a:solidFill>
              <a:srgbClr val="68D6E8"/>
            </a:solidFill>
            <a:prstDash val="solid"/>
          </a:ln>
        </p:spPr>
      </p:sp>
      <p:sp>
        <p:nvSpPr>
          <p:cNvPr id="29" name="Text 27"/>
          <p:cNvSpPr/>
          <p:nvPr/>
        </p:nvSpPr>
        <p:spPr>
          <a:xfrm>
            <a:off x="7863840" y="3154680"/>
            <a:ext cx="237744" cy="91440"/>
          </a:xfrm>
          <a:prstGeom prst="rect">
            <a:avLst/>
          </a:prstGeom>
          <a:noFill/>
          <a:ln/>
        </p:spPr>
        <p:txBody>
          <a:bodyPr wrap="square" lIns="0" tIns="0" rIns="0" bIns="0" rtlCol="0" anchor="ctr">
            <a:normAutofit/>
          </a:bodyPr>
          <a:lstStyle/>
          <a:p>
            <a:pPr algn="ctr" indent="0" marL="0">
              <a:buNone/>
            </a:pPr>
            <a:r>
              <a:rPr lang="en-US" sz="680" b="1" dirty="0">
                <a:solidFill>
                  <a:srgbClr val="68D6E8"/>
                </a:solidFill>
                <a:latin typeface="Aptos Mono" pitchFamily="34" charset="0"/>
                <a:ea typeface="Aptos Mono" pitchFamily="34" charset="-122"/>
                <a:cs typeface="Aptos Mono" pitchFamily="34" charset="-120"/>
              </a:rPr>
              <a:t>01</a:t>
            </a:r>
            <a:endParaRPr lang="en-US" sz="680" dirty="0"/>
          </a:p>
        </p:txBody>
      </p:sp>
      <p:sp>
        <p:nvSpPr>
          <p:cNvPr id="30" name="Text 28"/>
          <p:cNvSpPr/>
          <p:nvPr/>
        </p:nvSpPr>
        <p:spPr>
          <a:xfrm>
            <a:off x="7388352" y="3767328"/>
            <a:ext cx="1170432" cy="164592"/>
          </a:xfrm>
          <a:prstGeom prst="rect">
            <a:avLst/>
          </a:prstGeom>
          <a:noFill/>
          <a:ln/>
        </p:spPr>
        <p:txBody>
          <a:bodyPr wrap="square" lIns="0" tIns="0" rIns="0" bIns="0" rtlCol="0" anchor="ctr">
            <a:normAutofit/>
          </a:bodyPr>
          <a:lstStyle/>
          <a:p>
            <a:pPr algn="ctr" indent="0" marL="0">
              <a:buNone/>
            </a:pPr>
            <a:r>
              <a:rPr lang="en-US" sz="760" b="1" spc="65" kern="0" dirty="0">
                <a:solidFill>
                  <a:srgbClr val="68D6E8"/>
                </a:solidFill>
                <a:latin typeface="Aptos Mono" pitchFamily="34" charset="0"/>
                <a:ea typeface="Aptos Mono" pitchFamily="34" charset="-122"/>
                <a:cs typeface="Aptos Mono" pitchFamily="34" charset="-120"/>
              </a:rPr>
              <a:t>RAISONNER</a:t>
            </a:r>
            <a:endParaRPr lang="en-US" sz="760" dirty="0"/>
          </a:p>
        </p:txBody>
      </p:sp>
      <p:sp>
        <p:nvSpPr>
          <p:cNvPr id="31" name="Text 29"/>
          <p:cNvSpPr/>
          <p:nvPr/>
        </p:nvSpPr>
        <p:spPr>
          <a:xfrm>
            <a:off x="7388352" y="4096512"/>
            <a:ext cx="1170432" cy="384048"/>
          </a:xfrm>
          <a:prstGeom prst="rect">
            <a:avLst/>
          </a:prstGeom>
          <a:noFill/>
          <a:ln/>
        </p:spPr>
        <p:txBody>
          <a:bodyPr wrap="square" lIns="0" tIns="0" rIns="0" bIns="0" rtlCol="0" anchor="t">
            <a:normAutofit/>
          </a:bodyPr>
          <a:lstStyle/>
          <a:p>
            <a:pPr algn="ctr" indent="0" marL="0">
              <a:buNone/>
            </a:pPr>
            <a:r>
              <a:rPr lang="en-US" sz="1050" b="1" dirty="0">
                <a:solidFill>
                  <a:srgbClr val="F5F7F8"/>
                </a:solidFill>
                <a:latin typeface="Aptos Display" pitchFamily="34" charset="0"/>
                <a:ea typeface="Aptos Display" pitchFamily="34" charset="-122"/>
                <a:cs typeface="Aptos Display" pitchFamily="34" charset="-120"/>
              </a:rPr>
              <a:t>agents</a:t>
            </a:r>
            <a:endParaRPr lang="en-US" sz="1050" dirty="0"/>
          </a:p>
          <a:p>
            <a:pPr algn="ctr" indent="0" marL="0">
              <a:buNone/>
            </a:pPr>
            <a:r>
              <a:rPr lang="en-US" sz="1050" b="1" dirty="0">
                <a:solidFill>
                  <a:srgbClr val="F5F7F8"/>
                </a:solidFill>
                <a:latin typeface="Aptos Display" pitchFamily="34" charset="0"/>
                <a:ea typeface="Aptos Display" pitchFamily="34" charset="-122"/>
                <a:cs typeface="Aptos Display" pitchFamily="34" charset="-120"/>
              </a:rPr>
              <a:t>proposent</a:t>
            </a:r>
            <a:endParaRPr lang="en-US" sz="1050" dirty="0"/>
          </a:p>
        </p:txBody>
      </p:sp>
      <p:sp>
        <p:nvSpPr>
          <p:cNvPr id="32" name="Shape 30"/>
          <p:cNvSpPr/>
          <p:nvPr/>
        </p:nvSpPr>
        <p:spPr>
          <a:xfrm>
            <a:off x="9034272" y="2944368"/>
            <a:ext cx="566928" cy="566928"/>
          </a:xfrm>
          <a:prstGeom prst="ellipse">
            <a:avLst/>
          </a:prstGeom>
          <a:solidFill>
            <a:srgbClr val="1B2A35"/>
          </a:solidFill>
          <a:ln w="19050">
            <a:solidFill>
              <a:srgbClr val="4E9DFF"/>
            </a:solidFill>
            <a:prstDash val="solid"/>
          </a:ln>
        </p:spPr>
      </p:sp>
      <p:sp>
        <p:nvSpPr>
          <p:cNvPr id="33" name="Text 31"/>
          <p:cNvSpPr/>
          <p:nvPr/>
        </p:nvSpPr>
        <p:spPr>
          <a:xfrm>
            <a:off x="9198864" y="3154680"/>
            <a:ext cx="237744" cy="91440"/>
          </a:xfrm>
          <a:prstGeom prst="rect">
            <a:avLst/>
          </a:prstGeom>
          <a:noFill/>
          <a:ln/>
        </p:spPr>
        <p:txBody>
          <a:bodyPr wrap="square" lIns="0" tIns="0" rIns="0" bIns="0" rtlCol="0" anchor="ctr">
            <a:normAutofit/>
          </a:bodyPr>
          <a:lstStyle/>
          <a:p>
            <a:pPr algn="ctr" indent="0" marL="0">
              <a:buNone/>
            </a:pPr>
            <a:r>
              <a:rPr lang="en-US" sz="680" b="1" dirty="0">
                <a:solidFill>
                  <a:srgbClr val="4E9DFF"/>
                </a:solidFill>
                <a:latin typeface="Aptos Mono" pitchFamily="34" charset="0"/>
                <a:ea typeface="Aptos Mono" pitchFamily="34" charset="-122"/>
                <a:cs typeface="Aptos Mono" pitchFamily="34" charset="-120"/>
              </a:rPr>
              <a:t>02</a:t>
            </a:r>
            <a:endParaRPr lang="en-US" sz="680" dirty="0"/>
          </a:p>
        </p:txBody>
      </p:sp>
      <p:sp>
        <p:nvSpPr>
          <p:cNvPr id="34" name="Text 32"/>
          <p:cNvSpPr/>
          <p:nvPr/>
        </p:nvSpPr>
        <p:spPr>
          <a:xfrm>
            <a:off x="8723376" y="3767328"/>
            <a:ext cx="1170432" cy="164592"/>
          </a:xfrm>
          <a:prstGeom prst="rect">
            <a:avLst/>
          </a:prstGeom>
          <a:noFill/>
          <a:ln/>
        </p:spPr>
        <p:txBody>
          <a:bodyPr wrap="square" lIns="0" tIns="0" rIns="0" bIns="0" rtlCol="0" anchor="ctr">
            <a:normAutofit/>
          </a:bodyPr>
          <a:lstStyle/>
          <a:p>
            <a:pPr algn="ctr" indent="0" marL="0">
              <a:buNone/>
            </a:pPr>
            <a:r>
              <a:rPr lang="en-US" sz="760" b="1" spc="65" kern="0" dirty="0">
                <a:solidFill>
                  <a:srgbClr val="4E9DFF"/>
                </a:solidFill>
                <a:latin typeface="Aptos Mono" pitchFamily="34" charset="0"/>
                <a:ea typeface="Aptos Mono" pitchFamily="34" charset="-122"/>
                <a:cs typeface="Aptos Mono" pitchFamily="34" charset="-120"/>
              </a:rPr>
              <a:t>CONTRÔLER</a:t>
            </a:r>
            <a:endParaRPr lang="en-US" sz="760" dirty="0"/>
          </a:p>
        </p:txBody>
      </p:sp>
      <p:sp>
        <p:nvSpPr>
          <p:cNvPr id="35" name="Text 33"/>
          <p:cNvSpPr/>
          <p:nvPr/>
        </p:nvSpPr>
        <p:spPr>
          <a:xfrm>
            <a:off x="8723376" y="4096512"/>
            <a:ext cx="1170432" cy="384048"/>
          </a:xfrm>
          <a:prstGeom prst="rect">
            <a:avLst/>
          </a:prstGeom>
          <a:noFill/>
          <a:ln/>
        </p:spPr>
        <p:txBody>
          <a:bodyPr wrap="square" lIns="0" tIns="0" rIns="0" bIns="0" rtlCol="0" anchor="t">
            <a:normAutofit/>
          </a:bodyPr>
          <a:lstStyle/>
          <a:p>
            <a:pPr algn="ctr" indent="0" marL="0">
              <a:buNone/>
            </a:pPr>
            <a:r>
              <a:rPr lang="en-US" sz="1050" b="1" dirty="0">
                <a:solidFill>
                  <a:srgbClr val="F5F7F8"/>
                </a:solidFill>
                <a:latin typeface="Aptos Display" pitchFamily="34" charset="0"/>
                <a:ea typeface="Aptos Display" pitchFamily="34" charset="-122"/>
                <a:cs typeface="Aptos Display" pitchFamily="34" charset="-120"/>
              </a:rPr>
              <a:t>services</a:t>
            </a:r>
            <a:endParaRPr lang="en-US" sz="1050" dirty="0"/>
          </a:p>
          <a:p>
            <a:pPr algn="ctr" indent="0" marL="0">
              <a:buNone/>
            </a:pPr>
            <a:r>
              <a:rPr lang="en-US" sz="1050" b="1" dirty="0">
                <a:solidFill>
                  <a:srgbClr val="F5F7F8"/>
                </a:solidFill>
                <a:latin typeface="Aptos Display" pitchFamily="34" charset="0"/>
                <a:ea typeface="Aptos Display" pitchFamily="34" charset="-122"/>
                <a:cs typeface="Aptos Display" pitchFamily="34" charset="-120"/>
              </a:rPr>
              <a:t>exécutent</a:t>
            </a:r>
            <a:endParaRPr lang="en-US" sz="1050" dirty="0"/>
          </a:p>
        </p:txBody>
      </p:sp>
      <p:sp>
        <p:nvSpPr>
          <p:cNvPr id="36" name="Shape 34"/>
          <p:cNvSpPr/>
          <p:nvPr/>
        </p:nvSpPr>
        <p:spPr>
          <a:xfrm>
            <a:off x="10369296" y="2944368"/>
            <a:ext cx="566928" cy="566928"/>
          </a:xfrm>
          <a:prstGeom prst="ellipse">
            <a:avLst/>
          </a:prstGeom>
          <a:solidFill>
            <a:srgbClr val="1B2A35"/>
          </a:solidFill>
          <a:ln w="19050">
            <a:solidFill>
              <a:srgbClr val="F4B84A"/>
            </a:solidFill>
            <a:prstDash val="solid"/>
          </a:ln>
        </p:spPr>
      </p:sp>
      <p:sp>
        <p:nvSpPr>
          <p:cNvPr id="37" name="Text 35"/>
          <p:cNvSpPr/>
          <p:nvPr/>
        </p:nvSpPr>
        <p:spPr>
          <a:xfrm>
            <a:off x="10533888" y="3154680"/>
            <a:ext cx="237744" cy="91440"/>
          </a:xfrm>
          <a:prstGeom prst="rect">
            <a:avLst/>
          </a:prstGeom>
          <a:noFill/>
          <a:ln/>
        </p:spPr>
        <p:txBody>
          <a:bodyPr wrap="square" lIns="0" tIns="0" rIns="0" bIns="0" rtlCol="0" anchor="ctr">
            <a:normAutofit/>
          </a:bodyPr>
          <a:lstStyle/>
          <a:p>
            <a:pPr algn="ctr" indent="0" marL="0">
              <a:buNone/>
            </a:pPr>
            <a:r>
              <a:rPr lang="en-US" sz="680" b="1" dirty="0">
                <a:solidFill>
                  <a:srgbClr val="F4B84A"/>
                </a:solidFill>
                <a:latin typeface="Aptos Mono" pitchFamily="34" charset="0"/>
                <a:ea typeface="Aptos Mono" pitchFamily="34" charset="-122"/>
                <a:cs typeface="Aptos Mono" pitchFamily="34" charset="-120"/>
              </a:rPr>
              <a:t>03</a:t>
            </a:r>
            <a:endParaRPr lang="en-US" sz="680" dirty="0"/>
          </a:p>
        </p:txBody>
      </p:sp>
      <p:sp>
        <p:nvSpPr>
          <p:cNvPr id="38" name="Text 36"/>
          <p:cNvSpPr/>
          <p:nvPr/>
        </p:nvSpPr>
        <p:spPr>
          <a:xfrm>
            <a:off x="10058400" y="3767328"/>
            <a:ext cx="1170432" cy="164592"/>
          </a:xfrm>
          <a:prstGeom prst="rect">
            <a:avLst/>
          </a:prstGeom>
          <a:noFill/>
          <a:ln/>
        </p:spPr>
        <p:txBody>
          <a:bodyPr wrap="square" lIns="0" tIns="0" rIns="0" bIns="0" rtlCol="0" anchor="ctr">
            <a:normAutofit/>
          </a:bodyPr>
          <a:lstStyle/>
          <a:p>
            <a:pPr algn="ctr" indent="0" marL="0">
              <a:buNone/>
            </a:pPr>
            <a:r>
              <a:rPr lang="en-US" sz="760" b="1" spc="65" kern="0" dirty="0">
                <a:solidFill>
                  <a:srgbClr val="F4B84A"/>
                </a:solidFill>
                <a:latin typeface="Aptos Mono" pitchFamily="34" charset="0"/>
                <a:ea typeface="Aptos Mono" pitchFamily="34" charset="-122"/>
                <a:cs typeface="Aptos Mono" pitchFamily="34" charset="-120"/>
              </a:rPr>
              <a:t>PROUVER</a:t>
            </a:r>
            <a:endParaRPr lang="en-US" sz="760" dirty="0"/>
          </a:p>
        </p:txBody>
      </p:sp>
      <p:sp>
        <p:nvSpPr>
          <p:cNvPr id="39" name="Text 37"/>
          <p:cNvSpPr/>
          <p:nvPr/>
        </p:nvSpPr>
        <p:spPr>
          <a:xfrm>
            <a:off x="10058400" y="4096512"/>
            <a:ext cx="1170432" cy="384048"/>
          </a:xfrm>
          <a:prstGeom prst="rect">
            <a:avLst/>
          </a:prstGeom>
          <a:noFill/>
          <a:ln/>
        </p:spPr>
        <p:txBody>
          <a:bodyPr wrap="square" lIns="0" tIns="0" rIns="0" bIns="0" rtlCol="0" anchor="t">
            <a:normAutofit/>
          </a:bodyPr>
          <a:lstStyle/>
          <a:p>
            <a:pPr algn="ctr" indent="0" marL="0">
              <a:buNone/>
            </a:pPr>
            <a:r>
              <a:rPr lang="en-US" sz="1050" b="1" dirty="0">
                <a:solidFill>
                  <a:srgbClr val="F5F7F8"/>
                </a:solidFill>
                <a:latin typeface="Aptos Display" pitchFamily="34" charset="0"/>
                <a:ea typeface="Aptos Display" pitchFamily="34" charset="-122"/>
                <a:cs typeface="Aptos Display" pitchFamily="34" charset="-120"/>
              </a:rPr>
              <a:t>humain</a:t>
            </a:r>
            <a:endParaRPr lang="en-US" sz="1050" dirty="0"/>
          </a:p>
          <a:p>
            <a:pPr algn="ctr" indent="0" marL="0">
              <a:buNone/>
            </a:pPr>
            <a:r>
              <a:rPr lang="en-US" sz="1050" b="1" dirty="0">
                <a:solidFill>
                  <a:srgbClr val="F5F7F8"/>
                </a:solidFill>
                <a:latin typeface="Aptos Display" pitchFamily="34" charset="0"/>
                <a:ea typeface="Aptos Display" pitchFamily="34" charset="-122"/>
                <a:cs typeface="Aptos Display" pitchFamily="34" charset="-120"/>
              </a:rPr>
              <a:t>décide</a:t>
            </a:r>
            <a:endParaRPr lang="en-US" sz="1050" dirty="0"/>
          </a:p>
        </p:txBody>
      </p:sp>
      <p:sp>
        <p:nvSpPr>
          <p:cNvPr id="40" name="Text 38"/>
          <p:cNvSpPr/>
          <p:nvPr/>
        </p:nvSpPr>
        <p:spPr>
          <a:xfrm>
            <a:off x="786384" y="5833872"/>
            <a:ext cx="3108960" cy="164592"/>
          </a:xfrm>
          <a:prstGeom prst="rect">
            <a:avLst/>
          </a:prstGeom>
          <a:noFill/>
          <a:ln/>
        </p:spPr>
        <p:txBody>
          <a:bodyPr wrap="square" lIns="0" tIns="0" rIns="0" bIns="0" rtlCol="0" anchor="ctr">
            <a:normAutofit/>
          </a:bodyPr>
          <a:lstStyle/>
          <a:p>
            <a:pPr algn="l" indent="0" marL="0">
              <a:buNone/>
            </a:pPr>
            <a:r>
              <a:rPr lang="en-US" sz="780" b="1" spc="100" kern="0" dirty="0">
                <a:solidFill>
                  <a:srgbClr val="6C7F89"/>
                </a:solidFill>
                <a:latin typeface="Aptos Mono" pitchFamily="34" charset="0"/>
                <a:ea typeface="Aptos Mono" pitchFamily="34" charset="-122"/>
                <a:cs typeface="Aptos Mono" pitchFamily="34" charset="-120"/>
              </a:rPr>
              <a:t>AGENTIC MIGRATION PLATFORM</a:t>
            </a:r>
            <a:endParaRPr lang="en-US" sz="780" dirty="0"/>
          </a:p>
        </p:txBody>
      </p:sp>
      <p:sp>
        <p:nvSpPr>
          <p:cNvPr id="41" name="Text 39"/>
          <p:cNvSpPr/>
          <p:nvPr/>
        </p:nvSpPr>
        <p:spPr>
          <a:xfrm>
            <a:off x="7626096" y="5833872"/>
            <a:ext cx="3584448" cy="164592"/>
          </a:xfrm>
          <a:prstGeom prst="rect">
            <a:avLst/>
          </a:prstGeom>
          <a:noFill/>
          <a:ln/>
        </p:spPr>
        <p:txBody>
          <a:bodyPr wrap="square" lIns="0" tIns="0" rIns="0" bIns="0" rtlCol="0" anchor="ctr">
            <a:normAutofit/>
          </a:bodyPr>
          <a:lstStyle/>
          <a:p>
            <a:pPr algn="r" indent="0" marL="0">
              <a:buNone/>
            </a:pPr>
            <a:r>
              <a:rPr lang="en-US" sz="780" b="1" spc="85" kern="0" dirty="0">
                <a:solidFill>
                  <a:srgbClr val="68D6E8"/>
                </a:solidFill>
                <a:latin typeface="Aptos Mono" pitchFamily="34" charset="0"/>
                <a:ea typeface="Aptos Mono" pitchFamily="34" charset="-122"/>
                <a:cs typeface="Aptos Mono" pitchFamily="34" charset="-120"/>
              </a:rPr>
              <a:t>REASONING · CONTROL · EVIDENCE</a:t>
            </a:r>
            <a:endParaRPr lang="en-US" sz="78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1117"/>
        </a:solidFill>
      </p:bgPr>
    </p:bg>
    <p:spTree>
      <p:nvGrpSpPr>
        <p:cNvPr id="1" name=""/>
        <p:cNvGrpSpPr/>
        <p:nvPr/>
      </p:nvGrpSpPr>
      <p:grpSpPr>
        <a:xfrm>
          <a:off x="0" y="0"/>
          <a:ext cx="0" cy="0"/>
          <a:chOff x="0" y="0"/>
          <a:chExt cx="0" cy="0"/>
        </a:xfrm>
      </p:grpSpPr>
      <p:sp>
        <p:nvSpPr>
          <p:cNvPr id="2" name="Shape 0"/>
          <p:cNvSpPr/>
          <p:nvPr/>
        </p:nvSpPr>
        <p:spPr>
          <a:xfrm>
            <a:off x="676656" y="411480"/>
            <a:ext cx="10735056" cy="0"/>
          </a:xfrm>
          <a:prstGeom prst="line">
            <a:avLst/>
          </a:prstGeom>
          <a:noFill/>
          <a:ln w="10160">
            <a:solidFill>
              <a:srgbClr val="344653">
                <a:alpha val="85000"/>
              </a:srgbClr>
            </a:solidFill>
            <a:prstDash val="solid"/>
          </a:ln>
        </p:spPr>
      </p:sp>
      <p:sp>
        <p:nvSpPr>
          <p:cNvPr id="3" name="Shape 1"/>
          <p:cNvSpPr/>
          <p:nvPr/>
        </p:nvSpPr>
        <p:spPr>
          <a:xfrm>
            <a:off x="658368" y="356616"/>
            <a:ext cx="73152" cy="73152"/>
          </a:xfrm>
          <a:prstGeom prst="ellipse">
            <a:avLst/>
          </a:prstGeom>
          <a:solidFill>
            <a:srgbClr val="41D3AE"/>
          </a:solidFill>
          <a:ln w="12700">
            <a:solidFill>
              <a:srgbClr val="41D3AE">
                <a:alpha val="0"/>
              </a:srgbClr>
            </a:solidFill>
            <a:prstDash val="solid"/>
          </a:ln>
        </p:spPr>
      </p:sp>
      <p:sp>
        <p:nvSpPr>
          <p:cNvPr id="4" name="Text 2"/>
          <p:cNvSpPr/>
          <p:nvPr/>
        </p:nvSpPr>
        <p:spPr>
          <a:xfrm>
            <a:off x="822960" y="201168"/>
            <a:ext cx="1207008" cy="164592"/>
          </a:xfrm>
          <a:prstGeom prst="rect">
            <a:avLst/>
          </a:prstGeom>
          <a:noFill/>
          <a:ln/>
        </p:spPr>
        <p:txBody>
          <a:bodyPr wrap="square" lIns="0" tIns="0" rIns="0" bIns="0" rtlCol="0" anchor="ctr">
            <a:normAutofit/>
          </a:bodyPr>
          <a:lstStyle/>
          <a:p>
            <a:pPr algn="l" indent="0" marL="0">
              <a:buNone/>
            </a:pPr>
            <a:r>
              <a:rPr lang="en-US" sz="760" b="1" dirty="0">
                <a:solidFill>
                  <a:srgbClr val="9EADB8"/>
                </a:solidFill>
                <a:latin typeface="Aptos" pitchFamily="34" charset="0"/>
                <a:ea typeface="Aptos" pitchFamily="34" charset="-122"/>
                <a:cs typeface="Aptos" pitchFamily="34" charset="-120"/>
              </a:rPr>
              <a:t>Contexte</a:t>
            </a:r>
            <a:endParaRPr lang="en-US" sz="760" dirty="0"/>
          </a:p>
        </p:txBody>
      </p:sp>
      <p:sp>
        <p:nvSpPr>
          <p:cNvPr id="5" name="Shape 3"/>
          <p:cNvSpPr/>
          <p:nvPr/>
        </p:nvSpPr>
        <p:spPr>
          <a:xfrm>
            <a:off x="2130552" y="356616"/>
            <a:ext cx="73152" cy="73152"/>
          </a:xfrm>
          <a:prstGeom prst="ellipse">
            <a:avLst/>
          </a:prstGeom>
          <a:solidFill>
            <a:srgbClr val="41D3AE"/>
          </a:solidFill>
          <a:ln w="12700">
            <a:solidFill>
              <a:srgbClr val="41D3AE">
                <a:alpha val="0"/>
              </a:srgbClr>
            </a:solidFill>
            <a:prstDash val="solid"/>
          </a:ln>
        </p:spPr>
      </p:sp>
      <p:sp>
        <p:nvSpPr>
          <p:cNvPr id="6" name="Text 4"/>
          <p:cNvSpPr/>
          <p:nvPr/>
        </p:nvSpPr>
        <p:spPr>
          <a:xfrm>
            <a:off x="2295144" y="201168"/>
            <a:ext cx="1207008" cy="164592"/>
          </a:xfrm>
          <a:prstGeom prst="rect">
            <a:avLst/>
          </a:prstGeom>
          <a:noFill/>
          <a:ln/>
        </p:spPr>
        <p:txBody>
          <a:bodyPr wrap="square" lIns="0" tIns="0" rIns="0" bIns="0" rtlCol="0" anchor="ctr">
            <a:normAutofit/>
          </a:bodyPr>
          <a:lstStyle/>
          <a:p>
            <a:pPr algn="l" indent="0" marL="0">
              <a:buNone/>
            </a:pPr>
            <a:r>
              <a:rPr lang="en-US" sz="760" b="1" dirty="0">
                <a:solidFill>
                  <a:srgbClr val="9EADB8"/>
                </a:solidFill>
                <a:latin typeface="Aptos" pitchFamily="34" charset="0"/>
                <a:ea typeface="Aptos" pitchFamily="34" charset="-122"/>
                <a:cs typeface="Aptos" pitchFamily="34" charset="-120"/>
              </a:rPr>
              <a:t>Solution</a:t>
            </a:r>
            <a:endParaRPr lang="en-US" sz="760" dirty="0"/>
          </a:p>
        </p:txBody>
      </p:sp>
      <p:sp>
        <p:nvSpPr>
          <p:cNvPr id="7" name="Shape 5"/>
          <p:cNvSpPr/>
          <p:nvPr/>
        </p:nvSpPr>
        <p:spPr>
          <a:xfrm>
            <a:off x="3493008" y="356616"/>
            <a:ext cx="73152" cy="73152"/>
          </a:xfrm>
          <a:prstGeom prst="ellipse">
            <a:avLst/>
          </a:prstGeom>
          <a:solidFill>
            <a:srgbClr val="41D3AE"/>
          </a:solidFill>
          <a:ln w="12700">
            <a:solidFill>
              <a:srgbClr val="41D3AE">
                <a:alpha val="0"/>
              </a:srgbClr>
            </a:solidFill>
            <a:prstDash val="solid"/>
          </a:ln>
        </p:spPr>
      </p:sp>
      <p:sp>
        <p:nvSpPr>
          <p:cNvPr id="8" name="Text 6"/>
          <p:cNvSpPr/>
          <p:nvPr/>
        </p:nvSpPr>
        <p:spPr>
          <a:xfrm>
            <a:off x="3657600" y="201168"/>
            <a:ext cx="1207008" cy="164592"/>
          </a:xfrm>
          <a:prstGeom prst="rect">
            <a:avLst/>
          </a:prstGeom>
          <a:noFill/>
          <a:ln/>
        </p:spPr>
        <p:txBody>
          <a:bodyPr wrap="square" lIns="0" tIns="0" rIns="0" bIns="0" rtlCol="0" anchor="ctr">
            <a:normAutofit/>
          </a:bodyPr>
          <a:lstStyle/>
          <a:p>
            <a:pPr algn="l" indent="0" marL="0">
              <a:buNone/>
            </a:pPr>
            <a:r>
              <a:rPr lang="en-US" sz="760" b="1" dirty="0">
                <a:solidFill>
                  <a:srgbClr val="9EADB8"/>
                </a:solidFill>
                <a:latin typeface="Aptos" pitchFamily="34" charset="0"/>
                <a:ea typeface="Aptos" pitchFamily="34" charset="-122"/>
                <a:cs typeface="Aptos" pitchFamily="34" charset="-120"/>
              </a:rPr>
              <a:t>Architecture</a:t>
            </a:r>
            <a:endParaRPr lang="en-US" sz="760" dirty="0"/>
          </a:p>
        </p:txBody>
      </p:sp>
      <p:sp>
        <p:nvSpPr>
          <p:cNvPr id="9" name="Shape 7"/>
          <p:cNvSpPr/>
          <p:nvPr/>
        </p:nvSpPr>
        <p:spPr>
          <a:xfrm>
            <a:off x="5001768" y="356616"/>
            <a:ext cx="73152" cy="73152"/>
          </a:xfrm>
          <a:prstGeom prst="ellipse">
            <a:avLst/>
          </a:prstGeom>
          <a:solidFill>
            <a:srgbClr val="41D3AE"/>
          </a:solidFill>
          <a:ln w="12700">
            <a:solidFill>
              <a:srgbClr val="41D3AE">
                <a:alpha val="0"/>
              </a:srgbClr>
            </a:solidFill>
            <a:prstDash val="solid"/>
          </a:ln>
        </p:spPr>
      </p:sp>
      <p:sp>
        <p:nvSpPr>
          <p:cNvPr id="10" name="Text 8"/>
          <p:cNvSpPr/>
          <p:nvPr/>
        </p:nvSpPr>
        <p:spPr>
          <a:xfrm>
            <a:off x="5166360" y="201168"/>
            <a:ext cx="1097280" cy="164592"/>
          </a:xfrm>
          <a:prstGeom prst="rect">
            <a:avLst/>
          </a:prstGeom>
          <a:noFill/>
          <a:ln/>
        </p:spPr>
        <p:txBody>
          <a:bodyPr wrap="square" lIns="0" tIns="0" rIns="0" bIns="0" rtlCol="0" anchor="ctr">
            <a:normAutofit/>
          </a:bodyPr>
          <a:lstStyle/>
          <a:p>
            <a:pPr algn="l" indent="0" marL="0">
              <a:buNone/>
            </a:pPr>
            <a:r>
              <a:rPr lang="en-US" sz="760" b="1" dirty="0">
                <a:solidFill>
                  <a:srgbClr val="9EADB8"/>
                </a:solidFill>
                <a:latin typeface="Aptos" pitchFamily="34" charset="0"/>
                <a:ea typeface="Aptos" pitchFamily="34" charset="-122"/>
                <a:cs typeface="Aptos" pitchFamily="34" charset="-120"/>
              </a:rPr>
              <a:t>Réalisation</a:t>
            </a:r>
            <a:endParaRPr lang="en-US" sz="760" dirty="0"/>
          </a:p>
        </p:txBody>
      </p:sp>
      <p:sp>
        <p:nvSpPr>
          <p:cNvPr id="11" name="Shape 9"/>
          <p:cNvSpPr/>
          <p:nvPr/>
        </p:nvSpPr>
        <p:spPr>
          <a:xfrm>
            <a:off x="6583680" y="356616"/>
            <a:ext cx="73152" cy="73152"/>
          </a:xfrm>
          <a:prstGeom prst="ellipse">
            <a:avLst/>
          </a:prstGeom>
          <a:solidFill>
            <a:srgbClr val="41D3AE"/>
          </a:solidFill>
          <a:ln w="12700">
            <a:solidFill>
              <a:srgbClr val="41D3AE">
                <a:alpha val="0"/>
              </a:srgbClr>
            </a:solidFill>
            <a:prstDash val="solid"/>
          </a:ln>
        </p:spPr>
      </p:sp>
      <p:sp>
        <p:nvSpPr>
          <p:cNvPr id="12" name="Text 10"/>
          <p:cNvSpPr/>
          <p:nvPr/>
        </p:nvSpPr>
        <p:spPr>
          <a:xfrm>
            <a:off x="6748272" y="201168"/>
            <a:ext cx="1207008" cy="164592"/>
          </a:xfrm>
          <a:prstGeom prst="rect">
            <a:avLst/>
          </a:prstGeom>
          <a:noFill/>
          <a:ln/>
        </p:spPr>
        <p:txBody>
          <a:bodyPr wrap="square" lIns="0" tIns="0" rIns="0" bIns="0" rtlCol="0" anchor="ctr">
            <a:normAutofit/>
          </a:bodyPr>
          <a:lstStyle/>
          <a:p>
            <a:pPr algn="l" indent="0" marL="0">
              <a:buNone/>
            </a:pPr>
            <a:r>
              <a:rPr lang="en-US" sz="760" b="1" dirty="0">
                <a:solidFill>
                  <a:srgbClr val="9EADB8"/>
                </a:solidFill>
                <a:latin typeface="Aptos" pitchFamily="34" charset="0"/>
                <a:ea typeface="Aptos" pitchFamily="34" charset="-122"/>
                <a:cs typeface="Aptos" pitchFamily="34" charset="-120"/>
              </a:rPr>
              <a:t>Démo</a:t>
            </a:r>
            <a:endParaRPr lang="en-US" sz="760" dirty="0"/>
          </a:p>
        </p:txBody>
      </p:sp>
      <p:sp>
        <p:nvSpPr>
          <p:cNvPr id="13" name="Shape 11"/>
          <p:cNvSpPr/>
          <p:nvPr/>
        </p:nvSpPr>
        <p:spPr>
          <a:xfrm>
            <a:off x="8229600" y="356616"/>
            <a:ext cx="73152" cy="73152"/>
          </a:xfrm>
          <a:prstGeom prst="ellipse">
            <a:avLst/>
          </a:prstGeom>
          <a:solidFill>
            <a:srgbClr val="41D3AE"/>
          </a:solidFill>
          <a:ln w="12700">
            <a:solidFill>
              <a:srgbClr val="41D3AE">
                <a:alpha val="0"/>
              </a:srgbClr>
            </a:solidFill>
            <a:prstDash val="solid"/>
          </a:ln>
        </p:spPr>
      </p:sp>
      <p:sp>
        <p:nvSpPr>
          <p:cNvPr id="14" name="Text 12"/>
          <p:cNvSpPr/>
          <p:nvPr/>
        </p:nvSpPr>
        <p:spPr>
          <a:xfrm>
            <a:off x="8394192" y="201168"/>
            <a:ext cx="1207008" cy="164592"/>
          </a:xfrm>
          <a:prstGeom prst="rect">
            <a:avLst/>
          </a:prstGeom>
          <a:noFill/>
          <a:ln/>
        </p:spPr>
        <p:txBody>
          <a:bodyPr wrap="square" lIns="0" tIns="0" rIns="0" bIns="0" rtlCol="0" anchor="ctr">
            <a:normAutofit/>
          </a:bodyPr>
          <a:lstStyle/>
          <a:p>
            <a:pPr algn="l" indent="0" marL="0">
              <a:buNone/>
            </a:pPr>
            <a:r>
              <a:rPr lang="en-US" sz="760" b="1" dirty="0">
                <a:solidFill>
                  <a:srgbClr val="9EADB8"/>
                </a:solidFill>
                <a:latin typeface="Aptos" pitchFamily="34" charset="0"/>
                <a:ea typeface="Aptos" pitchFamily="34" charset="-122"/>
                <a:cs typeface="Aptos" pitchFamily="34" charset="-120"/>
              </a:rPr>
              <a:t>Résultats</a:t>
            </a:r>
            <a:endParaRPr lang="en-US" sz="760" dirty="0"/>
          </a:p>
        </p:txBody>
      </p:sp>
      <p:sp>
        <p:nvSpPr>
          <p:cNvPr id="15" name="Shape 13"/>
          <p:cNvSpPr/>
          <p:nvPr/>
        </p:nvSpPr>
        <p:spPr>
          <a:xfrm>
            <a:off x="9784080" y="356616"/>
            <a:ext cx="109728" cy="109728"/>
          </a:xfrm>
          <a:prstGeom prst="ellipse">
            <a:avLst/>
          </a:prstGeom>
          <a:solidFill>
            <a:srgbClr val="68D6E8"/>
          </a:solidFill>
          <a:ln w="12700">
            <a:solidFill>
              <a:srgbClr val="68D6E8">
                <a:alpha val="0"/>
              </a:srgbClr>
            </a:solidFill>
            <a:prstDash val="solid"/>
          </a:ln>
        </p:spPr>
      </p:sp>
      <p:sp>
        <p:nvSpPr>
          <p:cNvPr id="16" name="Text 14"/>
          <p:cNvSpPr/>
          <p:nvPr/>
        </p:nvSpPr>
        <p:spPr>
          <a:xfrm>
            <a:off x="9948672" y="201168"/>
            <a:ext cx="1207008" cy="164592"/>
          </a:xfrm>
          <a:prstGeom prst="rect">
            <a:avLst/>
          </a:prstGeom>
          <a:noFill/>
          <a:ln/>
        </p:spPr>
        <p:txBody>
          <a:bodyPr wrap="square" lIns="0" tIns="0" rIns="0" bIns="0" rtlCol="0" anchor="ctr">
            <a:normAutofit/>
          </a:bodyPr>
          <a:lstStyle/>
          <a:p>
            <a:pPr algn="l" indent="0" marL="0">
              <a:buNone/>
            </a:pPr>
            <a:r>
              <a:rPr lang="en-US" sz="810" b="1" dirty="0">
                <a:solidFill>
                  <a:srgbClr val="68D6E8"/>
                </a:solidFill>
                <a:latin typeface="Aptos" pitchFamily="34" charset="0"/>
                <a:ea typeface="Aptos" pitchFamily="34" charset="-122"/>
                <a:cs typeface="Aptos" pitchFamily="34" charset="-120"/>
              </a:rPr>
              <a:t>Conclusion</a:t>
            </a:r>
            <a:endParaRPr lang="en-US" sz="810" dirty="0"/>
          </a:p>
        </p:txBody>
      </p:sp>
      <p:sp>
        <p:nvSpPr>
          <p:cNvPr id="17" name="Shape 15"/>
          <p:cNvSpPr/>
          <p:nvPr/>
        </p:nvSpPr>
        <p:spPr>
          <a:xfrm>
            <a:off x="9930384" y="521208"/>
            <a:ext cx="731520" cy="0"/>
          </a:xfrm>
          <a:prstGeom prst="line">
            <a:avLst/>
          </a:prstGeom>
          <a:noFill/>
          <a:ln w="22860">
            <a:solidFill>
              <a:srgbClr val="68D6E8"/>
            </a:solidFill>
            <a:prstDash val="solid"/>
          </a:ln>
        </p:spPr>
      </p:sp>
      <p:sp>
        <p:nvSpPr>
          <p:cNvPr id="18" name="Shape 16"/>
          <p:cNvSpPr/>
          <p:nvPr/>
        </p:nvSpPr>
        <p:spPr>
          <a:xfrm>
            <a:off x="658368" y="6428232"/>
            <a:ext cx="10863072" cy="0"/>
          </a:xfrm>
          <a:prstGeom prst="line">
            <a:avLst/>
          </a:prstGeom>
          <a:noFill/>
          <a:ln w="8890">
            <a:solidFill>
              <a:srgbClr val="344653">
                <a:alpha val="80000"/>
              </a:srgbClr>
            </a:solidFill>
            <a:prstDash val="solid"/>
          </a:ln>
        </p:spPr>
      </p:sp>
      <p:sp>
        <p:nvSpPr>
          <p:cNvPr id="19" name="Text 17"/>
          <p:cNvSpPr/>
          <p:nvPr/>
        </p:nvSpPr>
        <p:spPr>
          <a:xfrm>
            <a:off x="658368" y="6510528"/>
            <a:ext cx="2926080" cy="146304"/>
          </a:xfrm>
          <a:prstGeom prst="rect">
            <a:avLst/>
          </a:prstGeom>
          <a:noFill/>
          <a:ln/>
        </p:spPr>
        <p:txBody>
          <a:bodyPr wrap="square" lIns="0" tIns="0" rIns="0" bIns="0" rtlCol="0" anchor="ctr">
            <a:normAutofit/>
          </a:bodyPr>
          <a:lstStyle/>
          <a:p>
            <a:pPr algn="l" indent="0" marL="0">
              <a:buNone/>
            </a:pPr>
            <a:r>
              <a:rPr lang="en-US" sz="720" b="1" spc="120" kern="0" dirty="0">
                <a:solidFill>
                  <a:srgbClr val="6C7F89"/>
                </a:solidFill>
                <a:latin typeface="Aptos Mono" pitchFamily="34" charset="0"/>
                <a:ea typeface="Aptos Mono" pitchFamily="34" charset="-122"/>
                <a:cs typeface="Aptos Mono" pitchFamily="34" charset="-120"/>
              </a:rPr>
              <a:t>AGENTIC MIGRATION PLATFORM</a:t>
            </a:r>
            <a:endParaRPr lang="en-US" sz="720" dirty="0"/>
          </a:p>
        </p:txBody>
      </p:sp>
      <p:sp>
        <p:nvSpPr>
          <p:cNvPr id="20" name="Text 18"/>
          <p:cNvSpPr/>
          <p:nvPr/>
        </p:nvSpPr>
        <p:spPr>
          <a:xfrm>
            <a:off x="10561320" y="6501384"/>
            <a:ext cx="950976" cy="155448"/>
          </a:xfrm>
          <a:prstGeom prst="rect">
            <a:avLst/>
          </a:prstGeom>
          <a:noFill/>
          <a:ln/>
        </p:spPr>
        <p:txBody>
          <a:bodyPr wrap="square" lIns="0" tIns="0" rIns="0" bIns="0" rtlCol="0" anchor="ctr">
            <a:normAutofit/>
          </a:bodyPr>
          <a:lstStyle/>
          <a:p>
            <a:pPr algn="r" indent="0" marL="0">
              <a:buNone/>
            </a:pPr>
            <a:r>
              <a:rPr lang="en-US" sz="770" b="1" spc="80" kern="0" dirty="0">
                <a:solidFill>
                  <a:srgbClr val="6C7F89"/>
                </a:solidFill>
                <a:latin typeface="Aptos Mono" pitchFamily="34" charset="0"/>
                <a:ea typeface="Aptos Mono" pitchFamily="34" charset="-122"/>
                <a:cs typeface="Aptos Mono" pitchFamily="34" charset="-120"/>
              </a:rPr>
              <a:t>18 / 18</a:t>
            </a:r>
            <a:endParaRPr lang="en-US" sz="770" dirty="0"/>
          </a:p>
        </p:txBody>
      </p:sp>
      <p:sp>
        <p:nvSpPr>
          <p:cNvPr id="21" name="Shape 19"/>
          <p:cNvSpPr/>
          <p:nvPr/>
        </p:nvSpPr>
        <p:spPr>
          <a:xfrm>
            <a:off x="658368" y="621792"/>
            <a:ext cx="548640" cy="0"/>
          </a:xfrm>
          <a:prstGeom prst="line">
            <a:avLst/>
          </a:prstGeom>
          <a:noFill/>
          <a:ln w="27940">
            <a:solidFill>
              <a:srgbClr val="68D6E8"/>
            </a:solidFill>
            <a:prstDash val="solid"/>
          </a:ln>
        </p:spPr>
      </p:sp>
      <p:sp>
        <p:nvSpPr>
          <p:cNvPr id="22" name="Text 20"/>
          <p:cNvSpPr/>
          <p:nvPr/>
        </p:nvSpPr>
        <p:spPr>
          <a:xfrm>
            <a:off x="1353312" y="512064"/>
            <a:ext cx="1645920" cy="182880"/>
          </a:xfrm>
          <a:prstGeom prst="rect">
            <a:avLst/>
          </a:prstGeom>
          <a:noFill/>
          <a:ln/>
        </p:spPr>
        <p:txBody>
          <a:bodyPr wrap="square" lIns="0" tIns="0" rIns="0" bIns="0" rtlCol="0" anchor="ctr">
            <a:normAutofit/>
          </a:bodyPr>
          <a:lstStyle/>
          <a:p>
            <a:pPr algn="l" indent="0" marL="0">
              <a:buNone/>
            </a:pPr>
            <a:r>
              <a:rPr lang="en-US" sz="900" b="1" spc="125" kern="0" dirty="0">
                <a:solidFill>
                  <a:srgbClr val="68D6E8"/>
                </a:solidFill>
                <a:latin typeface="Aptos Mono" pitchFamily="34" charset="0"/>
                <a:ea typeface="Aptos Mono" pitchFamily="34" charset="-122"/>
                <a:cs typeface="Aptos Mono" pitchFamily="34" charset="-120"/>
              </a:rPr>
              <a:t>ÉCHANGE</a:t>
            </a:r>
            <a:endParaRPr lang="en-US" sz="900" dirty="0"/>
          </a:p>
        </p:txBody>
      </p:sp>
      <p:sp>
        <p:nvSpPr>
          <p:cNvPr id="23" name="Text 21"/>
          <p:cNvSpPr/>
          <p:nvPr/>
        </p:nvSpPr>
        <p:spPr>
          <a:xfrm>
            <a:off x="658368" y="1316736"/>
            <a:ext cx="8046720" cy="585216"/>
          </a:xfrm>
          <a:prstGeom prst="rect">
            <a:avLst/>
          </a:prstGeom>
          <a:noFill/>
          <a:ln/>
        </p:spPr>
        <p:txBody>
          <a:bodyPr wrap="square" lIns="0" tIns="0" rIns="0" bIns="0" rtlCol="0" anchor="ctr">
            <a:normAutofit/>
          </a:bodyPr>
          <a:lstStyle/>
          <a:p>
            <a:pPr algn="l" indent="0" marL="0">
              <a:buNone/>
            </a:pPr>
            <a:r>
              <a:rPr lang="en-US" sz="3800" b="1" dirty="0">
                <a:solidFill>
                  <a:srgbClr val="F5F7F8"/>
                </a:solidFill>
                <a:latin typeface="Aptos Display" pitchFamily="34" charset="0"/>
                <a:ea typeface="Aptos Display" pitchFamily="34" charset="-122"/>
                <a:cs typeface="Aptos Display" pitchFamily="34" charset="-120"/>
              </a:rPr>
              <a:t>Questions / Discussion</a:t>
            </a:r>
            <a:endParaRPr lang="en-US" sz="3800" dirty="0"/>
          </a:p>
        </p:txBody>
      </p:sp>
      <p:sp>
        <p:nvSpPr>
          <p:cNvPr id="24" name="Text 22"/>
          <p:cNvSpPr/>
          <p:nvPr/>
        </p:nvSpPr>
        <p:spPr>
          <a:xfrm>
            <a:off x="694944" y="2139696"/>
            <a:ext cx="7242048" cy="237744"/>
          </a:xfrm>
          <a:prstGeom prst="rect">
            <a:avLst/>
          </a:prstGeom>
          <a:noFill/>
          <a:ln/>
        </p:spPr>
        <p:txBody>
          <a:bodyPr wrap="square" lIns="0" tIns="0" rIns="0" bIns="0" rtlCol="0" anchor="t">
            <a:normAutofit/>
          </a:bodyPr>
          <a:lstStyle/>
          <a:p>
            <a:pPr algn="l" indent="0" marL="0">
              <a:buNone/>
            </a:pPr>
            <a:r>
              <a:rPr lang="en-US" sz="1400" dirty="0">
                <a:solidFill>
                  <a:srgbClr val="9EADB8"/>
                </a:solidFill>
                <a:latin typeface="Aptos Display" pitchFamily="34" charset="0"/>
                <a:ea typeface="Aptos Display" pitchFamily="34" charset="-122"/>
                <a:cs typeface="Aptos Display" pitchFamily="34" charset="-120"/>
              </a:rPr>
              <a:t>Choix d'architecture · preuves disponibles · limites assumées</a:t>
            </a:r>
            <a:endParaRPr lang="en-US" sz="1400" dirty="0"/>
          </a:p>
        </p:txBody>
      </p:sp>
      <p:sp>
        <p:nvSpPr>
          <p:cNvPr id="25" name="Shape 23"/>
          <p:cNvSpPr/>
          <p:nvPr/>
        </p:nvSpPr>
        <p:spPr>
          <a:xfrm>
            <a:off x="713232" y="2999232"/>
            <a:ext cx="5321808" cy="0"/>
          </a:xfrm>
          <a:prstGeom prst="line">
            <a:avLst/>
          </a:prstGeom>
          <a:noFill/>
          <a:ln w="12700">
            <a:solidFill>
              <a:srgbClr val="344653">
                <a:alpha val="85000"/>
              </a:srgbClr>
            </a:solidFill>
            <a:prstDash val="solid"/>
          </a:ln>
        </p:spPr>
      </p:sp>
      <p:sp>
        <p:nvSpPr>
          <p:cNvPr id="26" name="Text 24"/>
          <p:cNvSpPr/>
          <p:nvPr/>
        </p:nvSpPr>
        <p:spPr>
          <a:xfrm>
            <a:off x="713232" y="3273552"/>
            <a:ext cx="1188720" cy="164592"/>
          </a:xfrm>
          <a:prstGeom prst="rect">
            <a:avLst/>
          </a:prstGeom>
          <a:noFill/>
          <a:ln/>
        </p:spPr>
        <p:txBody>
          <a:bodyPr wrap="square" lIns="0" tIns="0" rIns="0" bIns="0" rtlCol="0" anchor="ctr">
            <a:normAutofit/>
          </a:bodyPr>
          <a:lstStyle/>
          <a:p>
            <a:pPr algn="l" indent="0" marL="0">
              <a:buNone/>
            </a:pPr>
            <a:r>
              <a:rPr lang="en-US" sz="800" b="1" spc="90" kern="0" dirty="0">
                <a:solidFill>
                  <a:srgbClr val="9EADB8"/>
                </a:solidFill>
                <a:latin typeface="Aptos Mono" pitchFamily="34" charset="0"/>
                <a:ea typeface="Aptos Mono" pitchFamily="34" charset="-122"/>
                <a:cs typeface="Aptos Mono" pitchFamily="34" charset="-120"/>
              </a:rPr>
              <a:t>LE SYSTÈME</a:t>
            </a:r>
            <a:endParaRPr lang="en-US" sz="800" dirty="0"/>
          </a:p>
        </p:txBody>
      </p:sp>
      <p:sp>
        <p:nvSpPr>
          <p:cNvPr id="27" name="Text 25"/>
          <p:cNvSpPr/>
          <p:nvPr/>
        </p:nvSpPr>
        <p:spPr>
          <a:xfrm>
            <a:off x="713232" y="3675888"/>
            <a:ext cx="1426464" cy="237744"/>
          </a:xfrm>
          <a:prstGeom prst="rect">
            <a:avLst/>
          </a:prstGeom>
          <a:noFill/>
          <a:ln/>
        </p:spPr>
        <p:txBody>
          <a:bodyPr wrap="square" lIns="0" tIns="0" rIns="0" bIns="0" rtlCol="0" anchor="ctr">
            <a:normAutofit/>
          </a:bodyPr>
          <a:lstStyle/>
          <a:p>
            <a:pPr algn="l" indent="0" marL="0">
              <a:buNone/>
            </a:pPr>
            <a:r>
              <a:rPr lang="en-US" sz="1800" b="1" dirty="0">
                <a:solidFill>
                  <a:srgbClr val="68D6E8"/>
                </a:solidFill>
                <a:latin typeface="Aptos Display" pitchFamily="34" charset="0"/>
                <a:ea typeface="Aptos Display" pitchFamily="34" charset="-122"/>
                <a:cs typeface="Aptos Display" pitchFamily="34" charset="-120"/>
              </a:rPr>
              <a:t>raisonne</a:t>
            </a:r>
            <a:endParaRPr lang="en-US" sz="1800" dirty="0"/>
          </a:p>
        </p:txBody>
      </p:sp>
      <p:sp>
        <p:nvSpPr>
          <p:cNvPr id="28" name="Text 26"/>
          <p:cNvSpPr/>
          <p:nvPr/>
        </p:nvSpPr>
        <p:spPr>
          <a:xfrm>
            <a:off x="2468880" y="3675888"/>
            <a:ext cx="1426464" cy="237744"/>
          </a:xfrm>
          <a:prstGeom prst="rect">
            <a:avLst/>
          </a:prstGeom>
          <a:noFill/>
          <a:ln/>
        </p:spPr>
        <p:txBody>
          <a:bodyPr wrap="square" lIns="0" tIns="0" rIns="0" bIns="0" rtlCol="0" anchor="ctr">
            <a:normAutofit/>
          </a:bodyPr>
          <a:lstStyle/>
          <a:p>
            <a:pPr algn="l" indent="0" marL="0">
              <a:buNone/>
            </a:pPr>
            <a:r>
              <a:rPr lang="en-US" sz="1800" b="1" dirty="0">
                <a:solidFill>
                  <a:srgbClr val="F4B84A"/>
                </a:solidFill>
                <a:latin typeface="Aptos Display" pitchFamily="34" charset="0"/>
                <a:ea typeface="Aptos Display" pitchFamily="34" charset="-122"/>
                <a:cs typeface="Aptos Display" pitchFamily="34" charset="-120"/>
              </a:rPr>
              <a:t>contrôle</a:t>
            </a:r>
            <a:endParaRPr lang="en-US" sz="1800" dirty="0"/>
          </a:p>
        </p:txBody>
      </p:sp>
      <p:sp>
        <p:nvSpPr>
          <p:cNvPr id="29" name="Text 27"/>
          <p:cNvSpPr/>
          <p:nvPr/>
        </p:nvSpPr>
        <p:spPr>
          <a:xfrm>
            <a:off x="4224528" y="3675888"/>
            <a:ext cx="1426464" cy="237744"/>
          </a:xfrm>
          <a:prstGeom prst="rect">
            <a:avLst/>
          </a:prstGeom>
          <a:noFill/>
          <a:ln/>
        </p:spPr>
        <p:txBody>
          <a:bodyPr wrap="square" lIns="0" tIns="0" rIns="0" bIns="0" rtlCol="0" anchor="ctr">
            <a:normAutofit/>
          </a:bodyPr>
          <a:lstStyle/>
          <a:p>
            <a:pPr algn="l" indent="0" marL="0">
              <a:buNone/>
            </a:pPr>
            <a:r>
              <a:rPr lang="en-US" sz="1800" b="1" dirty="0">
                <a:solidFill>
                  <a:srgbClr val="41D3AE"/>
                </a:solidFill>
                <a:latin typeface="Aptos Display" pitchFamily="34" charset="0"/>
                <a:ea typeface="Aptos Display" pitchFamily="34" charset="-122"/>
                <a:cs typeface="Aptos Display" pitchFamily="34" charset="-120"/>
              </a:rPr>
              <a:t>prouve</a:t>
            </a:r>
            <a:endParaRPr lang="en-US" sz="1800" dirty="0"/>
          </a:p>
        </p:txBody>
      </p:sp>
      <p:pic>
        <p:nvPicPr>
          <p:cNvPr id="30"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351776" y="1499616"/>
            <a:ext cx="3401568" cy="2340864"/>
          </a:xfrm>
          <a:prstGeom prst="rect">
            <a:avLst/>
          </a:prstGeom>
        </p:spPr>
      </p:pic>
      <p:sp>
        <p:nvSpPr>
          <p:cNvPr id="31" name="Shape 28"/>
          <p:cNvSpPr/>
          <p:nvPr/>
        </p:nvSpPr>
        <p:spPr>
          <a:xfrm>
            <a:off x="7516368" y="4901184"/>
            <a:ext cx="3236976" cy="0"/>
          </a:xfrm>
          <a:prstGeom prst="line">
            <a:avLst/>
          </a:prstGeom>
          <a:noFill/>
          <a:ln w="11430">
            <a:solidFill>
              <a:srgbClr val="344653"/>
            </a:solidFill>
            <a:prstDash val="solid"/>
          </a:ln>
        </p:spPr>
      </p:sp>
      <p:sp>
        <p:nvSpPr>
          <p:cNvPr id="32" name="Text 29"/>
          <p:cNvSpPr/>
          <p:nvPr/>
        </p:nvSpPr>
        <p:spPr>
          <a:xfrm>
            <a:off x="7516368" y="5175504"/>
            <a:ext cx="3236976" cy="164592"/>
          </a:xfrm>
          <a:prstGeom prst="rect">
            <a:avLst/>
          </a:prstGeom>
          <a:noFill/>
          <a:ln/>
        </p:spPr>
        <p:txBody>
          <a:bodyPr wrap="square" lIns="0" tIns="0" rIns="0" bIns="0" rtlCol="0" anchor="ctr">
            <a:normAutofit/>
          </a:bodyPr>
          <a:lstStyle/>
          <a:p>
            <a:pPr algn="r" indent="0" marL="0">
              <a:buNone/>
            </a:pPr>
            <a:r>
              <a:rPr lang="en-US" sz="800" b="1" spc="80" kern="0" dirty="0">
                <a:solidFill>
                  <a:srgbClr val="6C7F89"/>
                </a:solidFill>
                <a:latin typeface="Aptos Mono" pitchFamily="34" charset="0"/>
                <a:ea typeface="Aptos Mono" pitchFamily="34" charset="-122"/>
                <a:cs typeface="Aptos Mono" pitchFamily="34" charset="-120"/>
              </a:rPr>
              <a:t>PFE 2026 · VERSION ANONYMISÉE</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CGI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Migration Platform — Soutenance PFE</dc:title>
  <dc:subject>Soutenance PFE — plateforme agentique de migration</dc:subject>
  <dc:creator>Agentic Migration Platform</dc:creator>
  <cp:lastModifiedBy>Agentic Migration Platform</cp:lastModifiedBy>
  <cp:revision>1</cp:revision>
  <dcterms:created xsi:type="dcterms:W3CDTF">2026-09-15T23:59:30Z</dcterms:created>
  <dcterms:modified xsi:type="dcterms:W3CDTF">2026-09-15T23:59:30Z</dcterms:modified>
</cp:coreProperties>
</file>