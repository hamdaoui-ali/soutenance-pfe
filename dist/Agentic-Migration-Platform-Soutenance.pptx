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présenter la migration comme un problème d'industrialisation et de continuité de service. Préciser que le projet réel chez CGI est confidentiel et que la démonstration est fictive/anonymisée.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une soutenance en sept chapitres. La slide ne liste pas les 18 titres : elle donne au jury la carte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Raconter le déclencheur : un grand client aérien de CGI vise le cloud à horizon fin 2027. Garder le client anonymisé. Insister sur le fait que l'arrière-plan technique doit rester invisible pour l'utilisateur final : l'application doit rester fonctionnelle.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ressentir la tension : les mêmes développeurs maintiennent les applications et migrent progressivement. Les prompts individuels peuvent aider localement, mais ils ne transportent pas à eux seuls le contexte, la décision et la preuve.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naissance de la Migration Factory : après une année de pratiques manuelles et de prompts, la demande augmente et il devient nécessaire de rendre le parcours réutilisable. Distinguer strictement le périmètre démontré de la vision 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séparation entre agents qui raisonnent et services déterministes qui exécutent/vérifient. L'humain reste l'autorité finale, surtout au niveau des gates et des décisions sensibles.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pourquoi Java et Angular ne sont pas fusionnés artificiellement : ils gardent des toolchains spécifiques, tandis que la gouvernance et les preuves sont communes.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migration comme un workflow contrôlé, pas comme une suite de prompts. Faire le lien avec la suite : l'étape de réparation revient vers la validation et la revalidation.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Java/Spring Boot comme le parcours de référence le plus mature : Spring Boot 2.1 vers 2.7, 3.5 et 4.0, avec Java 11/17/21. Maven et OpenRewrite sont les briques de transformation. Les 607 tests passés et 4 ignorés restent une preuve à un instant donné.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très précis : Angular 18→19 et 19→20 sont scellées. 20→21 est préparée, mais non démarrée. Ne jamais annoncer une migration 11→21 comme réalisée.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rôles comme des responsabilités, pas comme des robots autonomes. Les agents analysent, planifient, transforment, réparent et assistent ; ils n'ont pas d'accès libre au terminal et ne remplacent pas la validation humaine.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boucle comme un contrôle de changement : gel de l'échec, collecte du contexte, proposition, review, décision humaine, application isolée, puis build/test et revalidation. Insister sur checksum, tentatives bornées et 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la démo autour d'une seule décision : inspecter la correction Angular G10, vérifier la preuve, puis approuver/modifier/rejeter. Préciser que l'interface est locale, déterministe, anonymisée et basée sur des états préparés. Le projet réel CGI et les environnements Azure ne sont pas exposés.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preuves sans les transformer en KPI : 607 tests backend passés et 4 ignorés, contrôles frontend validés, Angular 18→19 et 19→20 scellées. La baseline frontend 12→11 échecs après intégration peut être dite oralement si nécessaire, mais reste une preuve ponctuelle et non un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quatre difficultés du rapport à la réponse technique : diff structuré, manifeste backend, catalogue de profils et base autoritaire. Conclure sur les compétences développées, sans transformer cette slide en liste de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Assumer les limites : pas d'authentification/rôles livrés, pas de benchmark manuel contrôlé, pas de CI commune, couverture Angular incomplète, coûts et durées LLM non consolidés. Présenter les extensions multi-langages, multi-frameworks et multi-cloud comme vision 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avec le principe architectural : les agents raisonnent et proposent, les services déterministes exécutent et vérifient, l'humain contrôle les décisions sensibles. La contribution n'est pas l'autonomie totale, mais une automatisation gouvernée et revalidable.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l'échange. Revenir vers les choix d'architecture, les preuves du prototype et les limites assumées. Ne pas introduire de nouveau résultat sur cette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66928"/>
            <a:ext cx="512064" cy="0"/>
          </a:xfrm>
          <a:prstGeom prst="line">
            <a:avLst/>
          </a:prstGeom>
          <a:noFill/>
          <a:ln w="27940">
            <a:solidFill>
              <a:srgbClr val="6CD7F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4440" y="457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PFE /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389888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Migration Platform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35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CD7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Migration Factory gouvernée pour moderniser le legacy.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Java / Spring Boot  •  Angular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338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démo fictive et anonymisée — le projet réel réalisé chez CGI est confidentiel.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996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SOUTENANCE DE PROJET DE FIN D'ÉTUDES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86016" y="1261872"/>
            <a:ext cx="3931920" cy="3474720"/>
          </a:xfrm>
          <a:prstGeom prst="line">
            <a:avLst/>
          </a:prstGeom>
          <a:noFill/>
          <a:ln w="19050">
            <a:solidFill>
              <a:srgbClr val="1D4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44384" y="1664208"/>
            <a:ext cx="914400" cy="795528"/>
          </a:xfrm>
          <a:prstGeom prst="line">
            <a:avLst/>
          </a:prstGeom>
          <a:noFill/>
          <a:ln w="16510">
            <a:solidFill>
              <a:srgbClr val="6CD7F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95944" y="2624328"/>
            <a:ext cx="960120" cy="795528"/>
          </a:xfrm>
          <a:prstGeom prst="line">
            <a:avLst/>
          </a:prstGeom>
          <a:noFill/>
          <a:ln w="16510">
            <a:solidFill>
              <a:srgbClr val="5DE2A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93224" y="3584448"/>
            <a:ext cx="822960" cy="804672"/>
          </a:xfrm>
          <a:prstGeom prst="line">
            <a:avLst/>
          </a:prstGeom>
          <a:noFill/>
          <a:ln w="16510">
            <a:solidFill>
              <a:srgbClr val="4FA3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42632" y="1389888"/>
            <a:ext cx="566928" cy="566928"/>
          </a:xfrm>
          <a:prstGeom prst="ellipse">
            <a:avLst/>
          </a:prstGeom>
          <a:solidFill>
            <a:srgbClr val="0F2433"/>
          </a:solidFill>
          <a:ln w="20320">
            <a:solidFill>
              <a:srgbClr val="F2C4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34656" y="1581912"/>
            <a:ext cx="182880" cy="182880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59752" y="2103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LEGACY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28432" y="1426464"/>
            <a:ext cx="713232" cy="7315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2350008"/>
            <a:ext cx="566928" cy="566928"/>
          </a:xfrm>
          <a:prstGeom prst="ellipse">
            <a:avLst/>
          </a:prstGeom>
          <a:solidFill>
            <a:srgbClr val="0F2433"/>
          </a:solidFill>
          <a:ln w="20320">
            <a:solidFill>
              <a:srgbClr val="6CD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2542032"/>
            <a:ext cx="182880" cy="182880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11312" y="3063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79992" y="2386584"/>
            <a:ext cx="713232" cy="7315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3310128"/>
            <a:ext cx="566928" cy="566928"/>
          </a:xfrm>
          <a:prstGeom prst="ellipse">
            <a:avLst/>
          </a:prstGeom>
          <a:solidFill>
            <a:srgbClr val="0F2433"/>
          </a:solidFill>
          <a:ln w="20320">
            <a:solidFill>
              <a:srgbClr val="5DE2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83496" y="3502152"/>
            <a:ext cx="182880" cy="18288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8592" y="4023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177272" y="3346704"/>
            <a:ext cx="713232" cy="7315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51592" y="4279392"/>
            <a:ext cx="566928" cy="566928"/>
          </a:xfrm>
          <a:prstGeom prst="ellipse">
            <a:avLst/>
          </a:prstGeom>
          <a:solidFill>
            <a:srgbClr val="0F2433"/>
          </a:solidFill>
          <a:ln w="20320">
            <a:solidFill>
              <a:srgbClr val="4FA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43616" y="4471416"/>
            <a:ext cx="182880" cy="18288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68712" y="4992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MODERN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03720" y="5193792"/>
            <a:ext cx="4526280" cy="585216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5376672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Reasoning  ·  Control  ·  Evidence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6035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 FIL DE LA SOUTENANCE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93268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présentation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Partir du besoin. Rendre la solution lisible. Finir par les preuves et les limites.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60120" y="2971800"/>
            <a:ext cx="10195560" cy="0"/>
          </a:xfrm>
          <a:prstGeom prst="line">
            <a:avLst/>
          </a:prstGeom>
          <a:noFill/>
          <a:ln w="22860">
            <a:solidFill>
              <a:srgbClr val="1D40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2679192"/>
            <a:ext cx="566928" cy="566928"/>
          </a:xfrm>
          <a:prstGeom prst="ellipse">
            <a:avLst/>
          </a:prstGeom>
          <a:solidFill>
            <a:srgbClr val="6CD7F2"/>
          </a:solidFill>
          <a:ln w="17780">
            <a:solidFill>
              <a:srgbClr val="6CD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D7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déclencheur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98064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Migration Factory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25696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5696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contrats et les gates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53328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Réalisation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Java, Angular, agents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80960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décision prouvée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08592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08592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05088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est démontré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36224" y="2679192"/>
            <a:ext cx="566928" cy="566928"/>
          </a:xfrm>
          <a:prstGeom prst="ellipse">
            <a:avLst/>
          </a:prstGeom>
          <a:solidFill>
            <a:srgbClr val="0F2433"/>
          </a:solidFill>
          <a:ln w="17780">
            <a:solidFill>
              <a:srgbClr val="6F89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36224" y="2834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405872" y="34930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38221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l'on retient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881360" cy="694944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" y="531266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histoire  →  une plateforme  →  une architecture  →  des preuves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1447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18 slides  ·  7 chapitres  ·  1 message principal par slide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561320" y="614476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déclencheur : une migration cloud à grande échelle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défi est de moderniser un portefeuille legacy sans interrompre les services qui tournent déjà.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 POINT DE DÉPART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2478024"/>
            <a:ext cx="256032" cy="256032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25237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" y="23957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cloud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80944" y="24140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client : fin 2027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41248" y="2761488"/>
            <a:ext cx="0" cy="347472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136392"/>
            <a:ext cx="256032" cy="256032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31821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Portefeuille legacy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80944" y="30723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applications à faire évoluer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41248" y="3419856"/>
            <a:ext cx="0" cy="347472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3794760"/>
            <a:ext cx="256032" cy="256032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" y="37124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Cible Azure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980944" y="3730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nouveau terrain d'hébergement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41248" y="4078224"/>
            <a:ext cx="0" cy="347472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453128"/>
            <a:ext cx="256032" cy="256032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44988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" y="4370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Continuité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980944" y="4389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applications restent disponibles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492240" y="2029968"/>
            <a:ext cx="4864608" cy="321868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84848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CADRE INDUSTRIEL · CGI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269748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projet réel est confidentiel.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6784848" y="3182112"/>
            <a:ext cx="4096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soutenance s'appuie sur une version démo fictive et anonymisée de la logique générale.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84848" y="4096512"/>
            <a:ext cx="3950208" cy="67665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40880" y="429768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MODERNISER EN CONTINU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784848" y="49194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contrainte visible : migrer sans arrêter.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réalité opérationnelle : maintenir et migrer en parallèle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migration ne remplace pas le run : elle doit cohabiter avec la production, les incidents et les demandes d'évolution.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2103120"/>
            <a:ext cx="4572000" cy="233172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2103120"/>
            <a:ext cx="54864" cy="2331720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2231136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/ MAINTENIR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542032"/>
            <a:ext cx="4279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Disponibilité de service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41248" y="3822192"/>
            <a:ext cx="1097280" cy="256032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383133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88736" y="2103120"/>
            <a:ext cx="5285232" cy="233172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8736" y="2103120"/>
            <a:ext cx="54864" cy="2331720"/>
          </a:xfrm>
          <a:prstGeom prst="round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53328" y="223113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MIGRATE / TRANSFORMER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053328" y="2542032"/>
            <a:ext cx="49926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du legacy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 et compatibilité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Builds, tests, revalidation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071616" y="3822192"/>
            <a:ext cx="960120" cy="256032"/>
          </a:xfrm>
          <a:prstGeom prst="round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44768" y="3831336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21808" y="2761488"/>
            <a:ext cx="420624" cy="0"/>
          </a:xfrm>
          <a:prstGeom prst="line">
            <a:avLst/>
          </a:prstGeom>
          <a:noFill/>
          <a:ln w="27940">
            <a:solidFill>
              <a:srgbClr val="F2C4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3547872"/>
            <a:ext cx="420624" cy="0"/>
          </a:xfrm>
          <a:prstGeom prst="line">
            <a:avLst/>
          </a:prstGeom>
          <a:noFill/>
          <a:ln w="27940">
            <a:solidFill>
              <a:srgbClr val="F2C4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4648" y="3035808"/>
            <a:ext cx="274320" cy="274320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74336" y="3346704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même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" y="49011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 QUI SE DÉGRADE À L'ÉCHELLE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5184648"/>
            <a:ext cx="3218688" cy="74980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5376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225296" y="52852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perdu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225296" y="55778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cette modification 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79392" y="5184648"/>
            <a:ext cx="3218688" cy="74980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43984" y="5376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4846320" y="52852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Rework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46320" y="55778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non applicable, retour manuel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00416" y="5184648"/>
            <a:ext cx="3218688" cy="74980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65008" y="5376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467344" y="52852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Preuves dispersées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467344" y="55778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difficile à relier au résultat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194560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04288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9736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SOLUTION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besoin à la Migration Factory : objectifs et vision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Capitaliser les pratiques individuelles ne suffit plus : il faut un parcours multi-agents, contrôlé et réutilisable.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 BASCULE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" y="2395728"/>
            <a:ext cx="1664208" cy="100584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2C4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2560320"/>
            <a:ext cx="146304" cy="146304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" y="252374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individuels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31089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ponctuellement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414016" y="2889504"/>
            <a:ext cx="301752" cy="0"/>
          </a:xfrm>
          <a:prstGeom prst="line">
            <a:avLst/>
          </a:prstGeom>
          <a:noFill/>
          <a:ln w="1778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816352" y="2395728"/>
            <a:ext cx="1664208" cy="100584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53512" y="2560320"/>
            <a:ext cx="146304" cy="146304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82112" y="252374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Pratiques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standardisées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80944" y="31089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la variabilité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53712" y="2889504"/>
            <a:ext cx="301752" cy="0"/>
          </a:xfrm>
          <a:prstGeom prst="line">
            <a:avLst/>
          </a:prstGeom>
          <a:noFill/>
          <a:ln w="1778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56048" y="2395728"/>
            <a:ext cx="1664208" cy="1005840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3208" y="2560320"/>
            <a:ext cx="146304" cy="146304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1808" y="252374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31089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industrialiser sous contrôle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351776" y="2304288"/>
            <a:ext cx="3968496" cy="11704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6096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626096" y="2779776"/>
            <a:ext cx="3328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proposent.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vérifient.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Humain décide.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PÉRIMÈTRE DÉMONTRÉ VS VISION CIBLE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368" y="4297680"/>
            <a:ext cx="10661904" cy="310896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9536" y="435254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/ Spring Boot</a:t>
            </a:r>
            <a:endParaRPr lang="en-US" sz="920" dirty="0"/>
          </a:p>
        </p:txBody>
      </p:sp>
      <p:sp>
        <p:nvSpPr>
          <p:cNvPr id="46" name="Text 44"/>
          <p:cNvSpPr txBox="1"/>
          <p:nvPr/>
        </p:nvSpPr>
        <p:spPr>
          <a:xfrm>
            <a:off x="4023360" y="435254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Parcours de référence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802368" y="4338828"/>
            <a:ext cx="1225296" cy="228600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75520" y="4347972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Réalisé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8368" y="4718304"/>
            <a:ext cx="10661904" cy="31089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9536" y="4773168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</a:t>
            </a:r>
            <a:endParaRPr lang="en-US" sz="920" dirty="0"/>
          </a:p>
        </p:txBody>
      </p:sp>
      <p:sp>
        <p:nvSpPr>
          <p:cNvPr id="51" name="Text 49"/>
          <p:cNvSpPr txBox="1"/>
          <p:nvPr/>
        </p:nvSpPr>
        <p:spPr>
          <a:xfrm>
            <a:off x="4023360" y="477316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18→19 et 19→20 scellées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802368" y="4759452"/>
            <a:ext cx="1225296" cy="228600"/>
          </a:xfrm>
          <a:prstGeom prst="roundRect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875520" y="476859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8368" y="5138928"/>
            <a:ext cx="10661904" cy="310896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9536" y="5193792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· PHP · Python · React</a:t>
            </a:r>
            <a:endParaRPr lang="en-US" sz="920" dirty="0"/>
          </a:p>
        </p:txBody>
      </p:sp>
      <p:sp>
        <p:nvSpPr>
          <p:cNvPr id="56" name="Text 54"/>
          <p:cNvSpPr txBox="1"/>
          <p:nvPr/>
        </p:nvSpPr>
        <p:spPr>
          <a:xfrm>
            <a:off x="4023360" y="519379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Extensions de l'écosystème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802368" y="5180076"/>
            <a:ext cx="1225296" cy="228600"/>
          </a:xfrm>
          <a:prstGeom prst="roundRect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75520" y="5189220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cible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368" y="5559552"/>
            <a:ext cx="10661904" cy="31089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59536" y="5614416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On-premise→cloud · cloud→cloud · refactoring</a:t>
            </a:r>
            <a:endParaRPr lang="en-US" sz="920" dirty="0"/>
          </a:p>
        </p:txBody>
      </p:sp>
      <p:sp>
        <p:nvSpPr>
          <p:cNvPr id="61" name="Text 59"/>
          <p:cNvSpPr txBox="1"/>
          <p:nvPr/>
        </p:nvSpPr>
        <p:spPr>
          <a:xfrm>
            <a:off x="4023360" y="561441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Élargissement de la factory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9802368" y="5600700"/>
            <a:ext cx="1225296" cy="228600"/>
          </a:xfrm>
          <a:prstGeom prst="roundRect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75520" y="5609844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cible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822192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fonctionnelle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valeur vient de la séparation des responsabilités : raisonner, exécuter, vérifier et décider.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 SYSTÈME EN UNE VUE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432304"/>
            <a:ext cx="1755648" cy="1481328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2432304"/>
            <a:ext cx="54864" cy="1481328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2560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Humain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87121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sensible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77824" y="4096512"/>
            <a:ext cx="1307592" cy="228600"/>
          </a:xfrm>
          <a:prstGeom prst="round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976" y="4105656"/>
            <a:ext cx="1161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AUTORITÉ FINALE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16352" y="2432304"/>
            <a:ext cx="1874520" cy="148132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352" y="2432304"/>
            <a:ext cx="54864" cy="1481328"/>
          </a:xfrm>
          <a:prstGeom prst="round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80944" y="25603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Orchestrateur</a:t>
            </a:r>
            <a:endParaRPr lang="en-US" sz="1220" dirty="0"/>
          </a:p>
        </p:txBody>
      </p:sp>
      <p:sp>
        <p:nvSpPr>
          <p:cNvPr id="35" name="Text 33"/>
          <p:cNvSpPr txBox="1"/>
          <p:nvPr/>
        </p:nvSpPr>
        <p:spPr>
          <a:xfrm>
            <a:off x="2980944" y="2871216"/>
            <a:ext cx="1581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093208" y="2231136"/>
            <a:ext cx="2359152" cy="1883664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3208" y="2231136"/>
            <a:ext cx="54864" cy="1883664"/>
          </a:xfrm>
          <a:prstGeom prst="roundRect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57800" y="235915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IA spécialisés</a:t>
            </a:r>
            <a:endParaRPr lang="en-US" sz="122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2670048"/>
            <a:ext cx="20665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 ·  Planification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 ·  Réparation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 ·  Assistance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7845552" y="2432304"/>
            <a:ext cx="2240280" cy="148132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45552" y="2432304"/>
            <a:ext cx="54864" cy="1481328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10144" y="25603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déterministes</a:t>
            </a:r>
            <a:endParaRPr lang="en-US" sz="1220" dirty="0"/>
          </a:p>
        </p:txBody>
      </p:sp>
      <p:sp>
        <p:nvSpPr>
          <p:cNvPr id="43" name="Text 41"/>
          <p:cNvSpPr txBox="1"/>
          <p:nvPr/>
        </p:nvSpPr>
        <p:spPr>
          <a:xfrm>
            <a:off x="8010144" y="2871216"/>
            <a:ext cx="1947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/ tests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Checksums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10469880" y="2432304"/>
            <a:ext cx="1024128" cy="148132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69880" y="2432304"/>
            <a:ext cx="54864" cy="1481328"/>
          </a:xfrm>
          <a:prstGeom prst="roundRect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34472" y="25603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État &amp;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preuves</a:t>
            </a:r>
            <a:endParaRPr lang="en-US" sz="1080" dirty="0"/>
          </a:p>
        </p:txBody>
      </p:sp>
      <p:sp>
        <p:nvSpPr>
          <p:cNvPr id="47" name="Text 45"/>
          <p:cNvSpPr txBox="1"/>
          <p:nvPr/>
        </p:nvSpPr>
        <p:spPr>
          <a:xfrm>
            <a:off x="10634472" y="2871216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3172968"/>
            <a:ext cx="292608" cy="0"/>
          </a:xfrm>
          <a:prstGeom prst="line">
            <a:avLst/>
          </a:prstGeom>
          <a:noFill/>
          <a:ln w="19050">
            <a:solidFill>
              <a:srgbClr val="6CD7F2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36592" y="3172968"/>
            <a:ext cx="274320" cy="0"/>
          </a:xfrm>
          <a:prstGeom prst="line">
            <a:avLst/>
          </a:prstGeom>
          <a:noFill/>
          <a:ln w="19050">
            <a:solidFill>
              <a:srgbClr val="4FA3F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498080" y="3172968"/>
            <a:ext cx="274320" cy="0"/>
          </a:xfrm>
          <a:prstGeom prst="line">
            <a:avLst/>
          </a:prstGeom>
          <a:noFill/>
          <a:ln w="19050">
            <a:solidFill>
              <a:srgbClr val="9F8CF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131552" y="3172968"/>
            <a:ext cx="274320" cy="0"/>
          </a:xfrm>
          <a:prstGeom prst="line">
            <a:avLst/>
          </a:prstGeom>
          <a:noFill/>
          <a:ln w="19050">
            <a:solidFill>
              <a:srgbClr val="5DE2A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972800" y="3977640"/>
            <a:ext cx="0" cy="493776"/>
          </a:xfrm>
          <a:prstGeom prst="line">
            <a:avLst/>
          </a:prstGeom>
          <a:noFill/>
          <a:ln w="15240">
            <a:solidFill>
              <a:srgbClr val="F2C46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98064" y="4617720"/>
            <a:ext cx="868680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035808" y="4818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GATES DE PROMOTION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36592" y="4773168"/>
            <a:ext cx="1371600" cy="27432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809744" y="47823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Préconditions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6336792" y="4773168"/>
            <a:ext cx="1371600" cy="274320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9944" y="47823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humaine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7936992" y="4773168"/>
            <a:ext cx="1371600" cy="27432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10144" y="47823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isolée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9537192" y="4773168"/>
            <a:ext cx="1371600" cy="27432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610344" y="47823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Revalidation</a:t>
            </a:r>
            <a:endParaRPr lang="en-US" sz="830" dirty="0"/>
          </a:p>
        </p:txBody>
      </p:sp>
      <p:sp>
        <p:nvSpPr>
          <p:cNvPr id="63" name="Text 61"/>
          <p:cNvSpPr txBox="1"/>
          <p:nvPr/>
        </p:nvSpPr>
        <p:spPr>
          <a:xfrm>
            <a:off x="2834640" y="56509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Aucun agent ne possède l'autorité finale sur l'artefact.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822192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toolchains distinctes, un même noyau de gouvernance : états, preuves, checksums et gates.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NOYAU COMMUN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322576"/>
            <a:ext cx="10652760" cy="640080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2523744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" y="2532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orchestration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2935224" y="2523744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08376" y="2532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état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4910328" y="2523744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2532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ledger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885432" y="2523744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58584" y="2532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Checksums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860536" y="2523744"/>
            <a:ext cx="1554480" cy="256032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33688" y="2532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Gates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58368" y="3328416"/>
            <a:ext cx="5029200" cy="20848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" y="35478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JAVA / SPRING BOOT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32688" y="3941064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52144" y="38770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JDK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2578608" y="3886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·  17  ·  21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32688" y="428853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52144" y="4224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Maven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2578608" y="42336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résolution &amp; build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32688" y="4636008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52144" y="45720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OpenRewrite</a:t>
            </a:r>
            <a:endParaRPr lang="en-US" sz="1020" dirty="0"/>
          </a:p>
        </p:txBody>
      </p:sp>
      <p:sp>
        <p:nvSpPr>
          <p:cNvPr id="47" name="Text 45"/>
          <p:cNvSpPr txBox="1"/>
          <p:nvPr/>
        </p:nvSpPr>
        <p:spPr>
          <a:xfrm>
            <a:off x="2578608" y="458114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transformations codifiées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932688" y="4983480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152144" y="4919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</a:t>
            </a:r>
            <a:endParaRPr lang="en-US" sz="1020" dirty="0"/>
          </a:p>
        </p:txBody>
      </p:sp>
      <p:sp>
        <p:nvSpPr>
          <p:cNvPr id="50" name="Text 48"/>
          <p:cNvSpPr txBox="1"/>
          <p:nvPr/>
        </p:nvSpPr>
        <p:spPr>
          <a:xfrm>
            <a:off x="2578608" y="49286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+ intégration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291072" y="3328416"/>
            <a:ext cx="5029200" cy="20848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28816" y="35478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ANGULAR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65392" y="3941064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784848" y="38770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 / npm</a:t>
            </a:r>
            <a:endParaRPr lang="en-US" sz="1020" dirty="0"/>
          </a:p>
        </p:txBody>
      </p:sp>
      <p:sp>
        <p:nvSpPr>
          <p:cNvPr id="55" name="Text 53"/>
          <p:cNvSpPr txBox="1"/>
          <p:nvPr/>
        </p:nvSpPr>
        <p:spPr>
          <a:xfrm>
            <a:off x="8211312" y="3886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&amp; dépendances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6565392" y="4288536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784848" y="422452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CLI</a:t>
            </a:r>
            <a:endParaRPr lang="en-US" sz="1020" dirty="0"/>
          </a:p>
        </p:txBody>
      </p:sp>
      <p:sp>
        <p:nvSpPr>
          <p:cNvPr id="58" name="Text 56"/>
          <p:cNvSpPr txBox="1"/>
          <p:nvPr/>
        </p:nvSpPr>
        <p:spPr>
          <a:xfrm>
            <a:off x="8211312" y="42336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migrations versionnées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6565392" y="4636008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84848" y="45720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 / RxJS</a:t>
            </a:r>
            <a:endParaRPr lang="en-US" sz="1020" dirty="0"/>
          </a:p>
        </p:txBody>
      </p:sp>
      <p:sp>
        <p:nvSpPr>
          <p:cNvPr id="61" name="Text 59"/>
          <p:cNvSpPr txBox="1"/>
          <p:nvPr/>
        </p:nvSpPr>
        <p:spPr>
          <a:xfrm>
            <a:off x="8211312" y="458114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contrats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565392" y="4983480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784848" y="49194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Checks</a:t>
            </a:r>
            <a:endParaRPr lang="en-US" sz="1020" dirty="0"/>
          </a:p>
        </p:txBody>
      </p:sp>
      <p:sp>
        <p:nvSpPr>
          <p:cNvPr id="64" name="Text 62"/>
          <p:cNvSpPr txBox="1"/>
          <p:nvPr/>
        </p:nvSpPr>
        <p:spPr>
          <a:xfrm>
            <a:off x="8211312" y="49286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statique + build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6035040" y="3584448"/>
            <a:ext cx="0" cy="173736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8368" y="5650992"/>
            <a:ext cx="10652760" cy="53035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05840" y="580644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Même contrat de contrôle  ≠  même chaîne technique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822192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complet de migration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migration avance par états explicites : chaque passage critique produit une preuve et peut être revalidé.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 PARCOURS CONTRÔLÉ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2761488"/>
            <a:ext cx="256032" cy="256032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Qualification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scope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8424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1284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2761488"/>
            <a:ext cx="256032" cy="256032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7744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236829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36829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risques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3872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6732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9F8C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2761488"/>
            <a:ext cx="256032" cy="256032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3192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392277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92277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8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actions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9320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32180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2C46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2761488"/>
            <a:ext cx="256032" cy="256032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47725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47725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patch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4768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87628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5DE2A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40880" y="2761488"/>
            <a:ext cx="256032" cy="256032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4088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703173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03173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build / test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0216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430768" y="2542032"/>
            <a:ext cx="1298448" cy="155448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F8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2761488"/>
            <a:ext cx="256032" cy="256032"/>
          </a:xfrm>
          <a:prstGeom prst="ellipse">
            <a:avLst/>
          </a:prstGeom>
          <a:solidFill>
            <a:srgbClr val="FF8A8A"/>
          </a:solidFill>
          <a:ln w="12700">
            <a:solidFill>
              <a:srgbClr val="FF8A8A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9536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858621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Réparation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58621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A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review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756648" y="3319272"/>
            <a:ext cx="182880" cy="0"/>
          </a:xfrm>
          <a:prstGeom prst="line">
            <a:avLst/>
          </a:prstGeom>
          <a:noFill/>
          <a:ln w="1397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985248" y="2542032"/>
            <a:ext cx="1298448" cy="1554480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49840" y="2761488"/>
            <a:ext cx="256032" cy="256032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149840" y="28254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10140696" y="31821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Scellement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0140696" y="3749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preuve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8368" y="4590288"/>
            <a:ext cx="10652760" cy="7132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5840" y="4800600"/>
            <a:ext cx="1353312" cy="27432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78992" y="480974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962656" y="4937760"/>
            <a:ext cx="420624" cy="0"/>
          </a:xfrm>
          <a:prstGeom prst="line">
            <a:avLst/>
          </a:prstGeom>
          <a:noFill/>
          <a:ln w="15240">
            <a:solidFill>
              <a:srgbClr val="6CD7F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474720" y="4800600"/>
            <a:ext cx="1353312" cy="27432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547872" y="480974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31536" y="4937760"/>
            <a:ext cx="420624" cy="0"/>
          </a:xfrm>
          <a:prstGeom prst="line">
            <a:avLst/>
          </a:prstGeom>
          <a:noFill/>
          <a:ln w="15240">
            <a:solidFill>
              <a:srgbClr val="6CD7F2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943600" y="4800600"/>
            <a:ext cx="1353312" cy="274320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016752" y="480974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900416" y="4937760"/>
            <a:ext cx="420624" cy="0"/>
          </a:xfrm>
          <a:prstGeom prst="line">
            <a:avLst/>
          </a:prstGeom>
          <a:noFill/>
          <a:ln w="15240">
            <a:solidFill>
              <a:srgbClr val="6CD7F2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8412480" y="4800600"/>
            <a:ext cx="1353312" cy="274320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85632" y="480974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Revalidation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1078992" y="574243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machine ne promet pas une action : elle exige une preuve avant de passer à la suivante.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49824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RÉALISATION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Axe 1 — Java / Spring Boot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parcours Java constitue la référence la plus mature de la plateforme.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TRAJECTOIRE DE MODERNISATION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3000" y="3063240"/>
            <a:ext cx="4800600" cy="0"/>
          </a:xfrm>
          <a:prstGeom prst="line">
            <a:avLst/>
          </a:prstGeom>
          <a:noFill/>
          <a:ln w="21590">
            <a:solidFill>
              <a:srgbClr val="1D40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2788920"/>
            <a:ext cx="512064" cy="51206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F2C4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2953512"/>
            <a:ext cx="182880" cy="182880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" y="34564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37673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Legacy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353312" y="3044952"/>
            <a:ext cx="786384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86000" y="2788920"/>
            <a:ext cx="512064" cy="51206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4FA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50592" y="2953512"/>
            <a:ext cx="182880" cy="18288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0280" y="34564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029968" y="37673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Stabiliser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52928" y="3044952"/>
            <a:ext cx="786384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785616" y="2788920"/>
            <a:ext cx="512064" cy="51206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6CD7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0208" y="2953512"/>
            <a:ext cx="182880" cy="182880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39896" y="34564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529584" y="37673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Moderniser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52544" y="3044952"/>
            <a:ext cx="786384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285232" y="2788920"/>
            <a:ext cx="512064" cy="51206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5DE2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9824" y="2953512"/>
            <a:ext cx="182880" cy="18288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39512" y="34564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37673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Cible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572768" y="4352544"/>
            <a:ext cx="2907792" cy="27432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45920" y="436168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11  →  17  →  21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37960" y="2212848"/>
            <a:ext cx="4754880" cy="290779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39712" y="2505456"/>
            <a:ext cx="941832" cy="228600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12864" y="2514600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RÉALISÉ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839712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Parcours de référence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6876288" y="3438144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114032" y="33832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Maven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339242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résolution, build et dépendances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76288" y="3858768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114032" y="38039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OpenRewrite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339328" y="38130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transformations versionnées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76288" y="4279392"/>
            <a:ext cx="109728" cy="109728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14032" y="422452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339328" y="423367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607 tests passés · 4 ignorés*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6839712" y="4736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preuve ponctuelle, non benchmarkée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58368" y="5230368"/>
            <a:ext cx="10634472" cy="64008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1832" y="5440680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code est transformé par étapes ; chaque étape reste observable, testable et réversible.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49824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RÉALISATION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Axe 2 — Angular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de gouvernance se transfère à Angular, avec une couverture volontairement présentée comme partielle.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LIGNE DE PREUVE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60704" y="3072384"/>
            <a:ext cx="7973568" cy="0"/>
          </a:xfrm>
          <a:prstGeom prst="line">
            <a:avLst/>
          </a:prstGeom>
          <a:noFill/>
          <a:ln w="21590">
            <a:solidFill>
              <a:srgbClr val="1D40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2779776"/>
            <a:ext cx="585216" cy="585216"/>
          </a:xfrm>
          <a:prstGeom prst="ellipse">
            <a:avLst/>
          </a:prstGeom>
          <a:solidFill>
            <a:srgbClr val="0F2433"/>
          </a:solidFill>
          <a:ln w="19050">
            <a:solidFill>
              <a:srgbClr val="4FA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2144" y="2980944"/>
            <a:ext cx="182880" cy="18288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" y="35204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" y="3840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591056" y="3072384"/>
            <a:ext cx="1664208" cy="0"/>
          </a:xfrm>
          <a:prstGeom prst="line">
            <a:avLst/>
          </a:prstGeom>
          <a:noFill/>
          <a:ln w="16510">
            <a:solidFill>
              <a:srgbClr val="5DE2A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00784" y="2395728"/>
            <a:ext cx="978408" cy="21945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73936" y="240487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→ 19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438144" y="2779776"/>
            <a:ext cx="585216" cy="585216"/>
          </a:xfrm>
          <a:prstGeom prst="ellipse">
            <a:avLst/>
          </a:prstGeom>
          <a:solidFill>
            <a:srgbClr val="0F2433"/>
          </a:solidFill>
          <a:ln w="19050">
            <a:solidFill>
              <a:srgbClr val="6CD7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2980944"/>
            <a:ext cx="182880" cy="182880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92424" y="35204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118104" y="3840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scellée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78224" y="3072384"/>
            <a:ext cx="1664208" cy="0"/>
          </a:xfrm>
          <a:prstGeom prst="line">
            <a:avLst/>
          </a:prstGeom>
          <a:noFill/>
          <a:ln w="16510">
            <a:solidFill>
              <a:srgbClr val="5DE2A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87952" y="2395728"/>
            <a:ext cx="978408" cy="21945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61104" y="240487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→ 20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925312" y="2779776"/>
            <a:ext cx="585216" cy="585216"/>
          </a:xfrm>
          <a:prstGeom prst="ellipse">
            <a:avLst/>
          </a:prstGeom>
          <a:solidFill>
            <a:srgbClr val="0F2433"/>
          </a:solidFill>
          <a:ln w="19050">
            <a:solidFill>
              <a:srgbClr val="5DE2A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2980944"/>
            <a:ext cx="182880" cy="18288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79592" y="35204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605272" y="3840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scellée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65392" y="3072384"/>
            <a:ext cx="1664208" cy="0"/>
          </a:xfrm>
          <a:prstGeom prst="line">
            <a:avLst/>
          </a:prstGeom>
          <a:noFill/>
          <a:ln w="16510">
            <a:solidFill>
              <a:srgbClr val="F2C46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775704" y="2395728"/>
            <a:ext cx="1115568" cy="21945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4885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démarrée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412480" y="2779776"/>
            <a:ext cx="585216" cy="585216"/>
          </a:xfrm>
          <a:prstGeom prst="ellipse">
            <a:avLst/>
          </a:prstGeom>
          <a:solidFill>
            <a:srgbClr val="0F2433"/>
          </a:solidFill>
          <a:ln w="19050">
            <a:solidFill>
              <a:srgbClr val="F2C46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2980944"/>
            <a:ext cx="182880" cy="182880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66760" y="35204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092440" y="3840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préparée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8368" y="4718304"/>
            <a:ext cx="8065008" cy="786384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976" y="4983480"/>
            <a:ext cx="841248" cy="228600"/>
          </a:xfrm>
          <a:prstGeom prst="roundRect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24128" y="4992624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993392" y="4864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18→19 et 19→20 scellées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645152" y="488289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20→21 préparée, mais non démarrée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125712" y="2304288"/>
            <a:ext cx="2157984" cy="320040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81744" y="2606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À RETENIR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9381744" y="2999232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 de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→ 21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réalisé</a:t>
            </a:r>
            <a:endParaRPr lang="en-US" sz="2000" dirty="0"/>
          </a:p>
        </p:txBody>
      </p:sp>
      <p:sp>
        <p:nvSpPr>
          <p:cNvPr id="60" name="Text 58"/>
          <p:cNvSpPr txBox="1"/>
          <p:nvPr/>
        </p:nvSpPr>
        <p:spPr>
          <a:xfrm>
            <a:off x="9381744" y="42976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extension visée, pas une preuve obtenue.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49824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RÉALISATION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Gouvernance et rôles des agents IA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agents sont spécialisés et bornés ; les gates et l'humain gardent l'autorité finale.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UNE ÉQUIPE SPÉCIALISÉE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450592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25968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25694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285292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diagnostiquer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70048" y="2450592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9F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25968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F8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63824" y="25694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163824" y="285292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2450592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25968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5175504" y="25694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Planificateur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175504" y="285292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ordonner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" y="3419856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2C46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35661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" y="35387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Transformateur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" y="38221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70048" y="3419856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F8A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16352" y="35661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8A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3163824" y="35387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Réparateur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163824" y="38221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3419856"/>
            <a:ext cx="1737360" cy="7132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5DE2A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28032" y="35661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175504" y="35387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175504" y="38221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éclairer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66560" y="2432304"/>
            <a:ext cx="4517136" cy="2670048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59168" y="2706624"/>
            <a:ext cx="1234440" cy="228600"/>
          </a:xfrm>
          <a:prstGeom prst="round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32320" y="2715768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+ HUMAIN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059168" y="31089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Autorité bornée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7095744" y="3675888"/>
            <a:ext cx="109728" cy="109728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51776" y="362102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accès libre au terminal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7095744" y="4069080"/>
            <a:ext cx="109728" cy="109728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51776" y="401421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soumises à un gate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7095744" y="4462272"/>
            <a:ext cx="109728" cy="10972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51776" y="440740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Décisions sensibles validées par l'humain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658368" y="5321808"/>
            <a:ext cx="10625328" cy="59436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32688" y="5522976"/>
            <a:ext cx="10076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3F7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Agents : propositions   |   Services : exécution contrôlée   |   Humain : décision sensible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449824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RÉALISATION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Réparation gouvernée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échec est gelé, contextualisé, proposé, décidé sous contrôle puis revalidé.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48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 BOUCLE DE RÉPARATION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F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" y="2761488"/>
            <a:ext cx="228600" cy="228600"/>
          </a:xfrm>
          <a:prstGeom prst="ellipse">
            <a:avLst/>
          </a:prstGeom>
          <a:solidFill>
            <a:srgbClr val="FF8A8A"/>
          </a:solidFill>
          <a:ln w="12700">
            <a:solidFill>
              <a:srgbClr val="FF8A8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Échec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gelé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198424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21284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68296" y="2761488"/>
            <a:ext cx="228600" cy="22860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6829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35915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réuni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353872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76732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9F8C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22776" y="2761488"/>
            <a:ext cx="228600" cy="228600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2277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391363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Proposition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509320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32180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2C4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7256" y="2761488"/>
            <a:ext cx="228600" cy="228600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7725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546811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indépendante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664768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76288" y="2560320"/>
            <a:ext cx="1298448" cy="1298448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31736" y="2761488"/>
            <a:ext cx="228600" cy="228600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3173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702259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humaine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820216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43076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5DE2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86216" y="2761488"/>
            <a:ext cx="228600" cy="22860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8621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57707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Apply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isolé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9756648" y="3200400"/>
            <a:ext cx="173736" cy="0"/>
          </a:xfrm>
          <a:prstGeom prst="line">
            <a:avLst/>
          </a:prstGeom>
          <a:noFill/>
          <a:ln w="12700">
            <a:solidFill>
              <a:srgbClr val="1D405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985248" y="2560320"/>
            <a:ext cx="1298448" cy="129844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5DE2A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0696" y="2761488"/>
            <a:ext cx="228600" cy="22860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140696" y="281635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10131552" y="3200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/ test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revalidé</a:t>
            </a:r>
            <a:endParaRPr lang="en-US" sz="1070" dirty="0"/>
          </a:p>
        </p:txBody>
      </p:sp>
      <p:sp>
        <p:nvSpPr>
          <p:cNvPr id="60" name="Shape 58"/>
          <p:cNvSpPr/>
          <p:nvPr/>
        </p:nvSpPr>
        <p:spPr>
          <a:xfrm>
            <a:off x="658368" y="4443984"/>
            <a:ext cx="10643616" cy="74980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" y="4681728"/>
            <a:ext cx="1024128" cy="256032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87552" y="469087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checksum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2103120" y="47000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décider sur le bon artefact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4370832" y="4681728"/>
            <a:ext cx="1024128" cy="2560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443984" y="469087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bornage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5559552" y="47000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limiter les tentatives</a:t>
            </a:r>
            <a:endParaRPr lang="en-US" sz="870" dirty="0"/>
          </a:p>
        </p:txBody>
      </p:sp>
      <p:sp>
        <p:nvSpPr>
          <p:cNvPr id="67" name="Shape 65"/>
          <p:cNvSpPr/>
          <p:nvPr/>
        </p:nvSpPr>
        <p:spPr>
          <a:xfrm>
            <a:off x="7827264" y="4681728"/>
            <a:ext cx="1024128" cy="2560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900416" y="469087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historique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9015984" y="47000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conserver chaque décision</a:t>
            </a:r>
            <a:endParaRPr lang="en-US" sz="870" dirty="0"/>
          </a:p>
        </p:txBody>
      </p:sp>
      <p:sp>
        <p:nvSpPr>
          <p:cNvPr id="70" name="Text 68"/>
          <p:cNvSpPr txBox="1"/>
          <p:nvPr/>
        </p:nvSpPr>
        <p:spPr>
          <a:xfrm>
            <a:off x="1097280" y="5705856"/>
            <a:ext cx="9985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réparation n'est pas un retry aveugle : c'est une décision prouvée.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077456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87184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DÉMO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 : scénario utilisateur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 locale — scénario anonymisé, états préparés. L'utilisateur décide à partir d'une preuve.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2139696"/>
            <a:ext cx="6510528" cy="363931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2359152"/>
            <a:ext cx="3840480" cy="256032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264" y="236829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 LOCALE  ·  ANGULAR G10  ·  ÉTAT PRÉPARÉ</a:t>
            </a:r>
            <a:endParaRPr lang="en-US" sz="820" dirty="0"/>
          </a:p>
        </p:txBody>
      </p:sp>
      <p:pic>
        <p:nvPicPr>
          <p:cNvPr id="28" name="Image 0" descr="C:\Users\aliha\Soutenance-pfe\.worktrees\deck-pptx-artifact\assets\presentation\angular-g10-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724912"/>
            <a:ext cx="6035040" cy="285292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571232" y="2340864"/>
            <a:ext cx="3694176" cy="74980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90688" y="2551176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90688" y="262432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11312" y="245973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Inspecter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211312" y="273405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la correction proposée et son contexte.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7571232" y="3310128"/>
            <a:ext cx="3694176" cy="74980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90688" y="3520440"/>
            <a:ext cx="274320" cy="274320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35935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8211312" y="34290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Vérifier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211312" y="37033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Relier la proposition à la preuve affichée.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7571232" y="4279392"/>
            <a:ext cx="3694176" cy="74980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90688" y="4489704"/>
            <a:ext cx="274320" cy="27432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90688" y="45628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8211312" y="439826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Décider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211312" y="467258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Approuver, modifier ou rejeter.</a:t>
            </a:r>
            <a:endParaRPr lang="en-US" sz="870" dirty="0"/>
          </a:p>
        </p:txBody>
      </p:sp>
      <p:sp>
        <p:nvSpPr>
          <p:cNvPr id="44" name="Shape 41"/>
          <p:cNvSpPr/>
          <p:nvPr/>
        </p:nvSpPr>
        <p:spPr>
          <a:xfrm>
            <a:off x="7571232" y="5266944"/>
            <a:ext cx="3694176" cy="512064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808976" y="543153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C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Même logique sur le parcours Java.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76656" y="599846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locale, déterministe et anonymisée — pas d'accès CGI/Azure.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705088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RÉSULTATS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et preuves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est démontré : le contrôle, la traçabilité et la revalidation — pas un gain de temps extrapolé.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2029968"/>
            <a:ext cx="2670048" cy="228600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2039112"/>
            <a:ext cx="2523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 PONCTUELLES · NON BENCHMARKÉES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2542032"/>
            <a:ext cx="3255264" cy="226771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5DE2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7824" y="2798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CAMPAGNE JAVA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3145536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607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1956816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backend passés</a:t>
            </a:r>
            <a:endParaRPr lang="en-US" sz="102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398678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tests ignorés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77824" y="4425696"/>
            <a:ext cx="896112" cy="228600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" y="443484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RÉALISÉ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34256" y="2542032"/>
            <a:ext cx="3255264" cy="226771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53712" y="2798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4FA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VALIDATION FRONTEND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3145536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5632704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· statique · conformité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4553712" y="398678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validé au point d'observation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553712" y="4425696"/>
            <a:ext cx="896112" cy="228600"/>
          </a:xfrm>
          <a:prstGeom prst="roundRect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26864" y="443484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VALIDÉ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10144" y="2542032"/>
            <a:ext cx="3255264" cy="226771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6CD7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2798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TRANSITIONS ANGULAR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3145536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9308592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transitions scellées</a:t>
            </a:r>
            <a:endParaRPr lang="en-US" sz="102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398678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18→19 · 19→20  |  20→21 préparée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229600" y="4425696"/>
            <a:ext cx="896112" cy="228600"/>
          </a:xfrm>
          <a:prstGeom prst="roundRect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02752" y="443484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58368" y="5138928"/>
            <a:ext cx="10607040" cy="676656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" y="5358384"/>
            <a:ext cx="9985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contribution observable : une décision laisse une trace et revient dans une boucle de validation.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76656" y="60167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i="1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chiffres décrivent un état du prototype ; ils ne constituent pas une mesure comparative.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705088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RÉSULTATS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Difficultés rencontrées et apports techniques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difficulté a renforcé un contrat : transformation, commande, version ou persistance.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PROBLÈME → RÉPONSE ARCHITECTURALE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450592"/>
            <a:ext cx="3730752" cy="47548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2615184"/>
            <a:ext cx="128016" cy="128016"/>
          </a:xfrm>
          <a:prstGeom prst="ellipse">
            <a:avLst/>
          </a:prstGeom>
          <a:solidFill>
            <a:srgbClr val="FF8A8A"/>
          </a:solidFill>
          <a:ln w="12700">
            <a:solidFill>
              <a:srgbClr val="FF8A8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15568" y="2578608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 non applicable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53712" y="2688336"/>
            <a:ext cx="347472" cy="0"/>
          </a:xfrm>
          <a:prstGeom prst="line">
            <a:avLst/>
          </a:prstGeom>
          <a:noFill/>
          <a:ln w="16510">
            <a:solidFill>
              <a:srgbClr val="FF8A8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47488" y="2450592"/>
            <a:ext cx="3822192" cy="47548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03520" y="257860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structuré + validation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58368" y="3108960"/>
            <a:ext cx="3730752" cy="47548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3273552"/>
            <a:ext cx="128016" cy="128016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15568" y="323697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Autorité de commande ambiguë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3346704"/>
            <a:ext cx="347472" cy="0"/>
          </a:xfrm>
          <a:prstGeom prst="line">
            <a:avLst/>
          </a:prstGeom>
          <a:noFill/>
          <a:ln w="16510">
            <a:solidFill>
              <a:srgbClr val="F2C46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47488" y="3108960"/>
            <a:ext cx="3822192" cy="47548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03520" y="3236976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Manifeste backend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58368" y="3767328"/>
            <a:ext cx="3730752" cy="47548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" y="3931920"/>
            <a:ext cx="128016" cy="128016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15568" y="389534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 Angular incompatible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53712" y="4005072"/>
            <a:ext cx="347472" cy="0"/>
          </a:xfrm>
          <a:prstGeom prst="line">
            <a:avLst/>
          </a:prstGeom>
          <a:noFill/>
          <a:ln w="16510">
            <a:solidFill>
              <a:srgbClr val="4FA3F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47488" y="3767328"/>
            <a:ext cx="3822192" cy="47548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03520" y="3895344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versionné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58368" y="4425696"/>
            <a:ext cx="3730752" cy="475488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" y="4590288"/>
            <a:ext cx="128016" cy="128016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15568" y="455371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Cohérence SQLite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53712" y="4663440"/>
            <a:ext cx="347472" cy="0"/>
          </a:xfrm>
          <a:prstGeom prst="line">
            <a:avLst/>
          </a:prstGeom>
          <a:noFill/>
          <a:ln w="16510">
            <a:solidFill>
              <a:srgbClr val="5DE2A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47488" y="4425696"/>
            <a:ext cx="3822192" cy="475488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03520" y="4553712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autoritaire réconciliée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9235440" y="2450592"/>
            <a:ext cx="2048256" cy="3127248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73184" y="272491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COMPÉTENCES CONSOLIDÉES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473184" y="3255264"/>
            <a:ext cx="1554480" cy="256032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46336" y="32644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9473184" y="3648456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46336" y="36576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9473184" y="4041648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546336" y="405079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Checksums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9473184" y="4434840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546336" y="444398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473184" y="4828032"/>
            <a:ext cx="1554480" cy="256032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546336" y="483717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design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658368" y="5321808"/>
            <a:ext cx="8211312" cy="502920"/>
          </a:xfrm>
          <a:prstGeom prst="roundRect">
            <a:avLst/>
          </a:prstGeom>
          <a:solidFill>
            <a:srgbClr val="153346"/>
          </a:solidFill>
          <a:ln w="12700">
            <a:solidFill>
              <a:srgbClr val="153346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2688" y="5477256"/>
            <a:ext cx="7662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prototype utile n'efface pas les difficultés : il les rend explicites et gouvernables.</a:t>
            </a:r>
            <a:endParaRPr lang="en-US" sz="10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705088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442448" y="182880"/>
            <a:ext cx="91440" cy="91440"/>
          </a:xfrm>
          <a:prstGeom prst="ellipse">
            <a:avLst/>
          </a:prstGeom>
          <a:solidFill>
            <a:srgbClr val="6F8999">
              <a:alpha val="85000"/>
            </a:srgbClr>
          </a:solidFill>
          <a:ln w="12700">
            <a:solidFill>
              <a:srgbClr val="6F899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F8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RÉSULTATS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et perspectives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prototype est gouverné ; son industrialisation reste à compléter.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2176272"/>
            <a:ext cx="4956048" cy="34564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F2C4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468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F2C46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AUJOURD'HUI · LIMITES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0" y="2816352"/>
            <a:ext cx="1261872" cy="228600"/>
          </a:xfrm>
          <a:prstGeom prst="roundRect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" y="282549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 ACTUELLES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0976" y="3374136"/>
            <a:ext cx="109728" cy="109728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07008" y="33101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Authentification et rôles non livrés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50976" y="3803904"/>
            <a:ext cx="109728" cy="109728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07008" y="37398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benchmark manuel contrôlé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950976" y="4233672"/>
            <a:ext cx="109728" cy="109728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07008" y="41696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CI commune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50976" y="4663440"/>
            <a:ext cx="109728" cy="109728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07008" y="4599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Angular incomplète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50976" y="5093208"/>
            <a:ext cx="109728" cy="109728"/>
          </a:xfrm>
          <a:prstGeom prst="ellipse">
            <a:avLst/>
          </a:prstGeom>
          <a:solidFill>
            <a:srgbClr val="F2C46D"/>
          </a:solidFill>
          <a:ln w="12700">
            <a:solidFill>
              <a:srgbClr val="F2C46D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07008" y="5029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 / durée LLM non consolidés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6309360" y="2176272"/>
            <a:ext cx="4956048" cy="345643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9F8C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2468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9F8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DEMAIN · VISION CIBLE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65392" y="2816352"/>
            <a:ext cx="932688" cy="228600"/>
          </a:xfrm>
          <a:prstGeom prst="roundRect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38544" y="2825496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PERSPECTIVES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01968" y="3374136"/>
            <a:ext cx="109728" cy="10972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0" y="33101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 et rôles industrialisés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6601968" y="3803904"/>
            <a:ext cx="109728" cy="10972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0" y="37398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de benchmark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601968" y="4233672"/>
            <a:ext cx="109728" cy="10972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0" y="41696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Instrumentation coût / durée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601968" y="4663440"/>
            <a:ext cx="109728" cy="10972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0" y="4599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· PHP · Python · React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6601968" y="5093208"/>
            <a:ext cx="109728" cy="10972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0" y="5029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On-premise→cloud · cloud→cloud · refactoring</a:t>
            </a:r>
            <a:endParaRPr lang="en-US" sz="960" dirty="0"/>
          </a:p>
        </p:txBody>
      </p:sp>
      <p:sp>
        <p:nvSpPr>
          <p:cNvPr id="53" name="Text 51"/>
          <p:cNvSpPr txBox="1"/>
          <p:nvPr/>
        </p:nvSpPr>
        <p:spPr>
          <a:xfrm>
            <a:off x="960120" y="59253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qui est visé n'est pas présenté comme livré.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94944"/>
            <a:ext cx="0" cy="5669280"/>
          </a:xfrm>
          <a:prstGeom prst="line">
            <a:avLst/>
          </a:prstGeom>
          <a:noFill/>
          <a:ln w="8890">
            <a:solidFill>
              <a:srgbClr val="15334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0332720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42448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97896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03504" y="6446520"/>
            <a:ext cx="10991088" cy="0"/>
          </a:xfrm>
          <a:prstGeom prst="line">
            <a:avLst/>
          </a:prstGeom>
          <a:noFill/>
          <a:ln w="10160">
            <a:solidFill>
              <a:srgbClr val="1533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492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17 / 18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822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10241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1554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contribution principale est une automatisation gouvernée, traçable et revalidable.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2176272"/>
            <a:ext cx="10643616" cy="786384"/>
          </a:xfrm>
          <a:prstGeom prst="roundRect">
            <a:avLst/>
          </a:prstGeom>
          <a:solidFill>
            <a:srgbClr val="1D4057"/>
          </a:solidFill>
          <a:ln w="12700">
            <a:solidFill>
              <a:srgbClr val="1D40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" y="2441448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migration agentique n'est pas une autonomie totale.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" y="3456432"/>
            <a:ext cx="2852928" cy="1499616"/>
          </a:xfrm>
          <a:prstGeom prst="roundRect">
            <a:avLst/>
          </a:prstGeom>
          <a:solidFill>
            <a:srgbClr val="0F2433"/>
          </a:solidFill>
          <a:ln w="15240">
            <a:solidFill>
              <a:srgbClr val="9F8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33856" y="3703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10" kern="0" dirty="0">
                <a:solidFill>
                  <a:srgbClr val="9F8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AGENTS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4096512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Raisonnent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proposent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5696" y="3456432"/>
            <a:ext cx="2852928" cy="1499616"/>
          </a:xfrm>
          <a:prstGeom prst="roundRect">
            <a:avLst/>
          </a:prstGeom>
          <a:solidFill>
            <a:srgbClr val="0F2433"/>
          </a:solidFill>
          <a:ln w="15240">
            <a:solidFill>
              <a:srgbClr val="5DE2A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26864" y="3703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10" kern="0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SERVICES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4626864" y="4096512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Exécutent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vérifient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18704" y="3456432"/>
            <a:ext cx="2852928" cy="1499616"/>
          </a:xfrm>
          <a:prstGeom prst="roundRect">
            <a:avLst/>
          </a:prstGeom>
          <a:solidFill>
            <a:srgbClr val="0F2433"/>
          </a:solidFill>
          <a:ln w="15240">
            <a:solidFill>
              <a:srgbClr val="6CD7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19872" y="3703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spc="11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HUMAIN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8119872" y="4096512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assume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" y="5449824"/>
            <a:ext cx="9985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système automatise le chemin ; la gouvernance garde le contrôle.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" y="5925312"/>
            <a:ext cx="998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Reasoning   ·   Control   ·   Evidence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233172"/>
            <a:ext cx="11109960" cy="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210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2304288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59736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931920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87368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559552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Réalisation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187184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42632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814816" y="182880"/>
            <a:ext cx="91440" cy="91440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0264" y="11887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9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0332720" y="91440"/>
            <a:ext cx="1463040" cy="310896"/>
          </a:xfrm>
          <a:prstGeom prst="roundRect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42448" y="173736"/>
            <a:ext cx="109728" cy="109728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97896" y="109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71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03504" y="566928"/>
            <a:ext cx="512064" cy="0"/>
          </a:xfrm>
          <a:prstGeom prst="line">
            <a:avLst/>
          </a:prstGeom>
          <a:noFill/>
          <a:ln w="27940">
            <a:solidFill>
              <a:srgbClr val="6CD7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457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ÉCHANGE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1261872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/ Discussion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048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C0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d'architecture · preuves disponibles · limites assumées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76288" y="1755648"/>
            <a:ext cx="2359152" cy="2670048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1737360"/>
            <a:ext cx="1938528" cy="2560320"/>
          </a:xfrm>
          <a:prstGeom prst="line">
            <a:avLst/>
          </a:prstGeom>
          <a:noFill/>
          <a:ln w="15240">
            <a:solidFill>
              <a:srgbClr val="1D40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1481328"/>
            <a:ext cx="694944" cy="69494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9F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728216"/>
            <a:ext cx="201168" cy="201168"/>
          </a:xfrm>
          <a:prstGeom prst="ellipse">
            <a:avLst/>
          </a:prstGeom>
          <a:solidFill>
            <a:srgbClr val="9F8CFF"/>
          </a:solidFill>
          <a:ln w="12700">
            <a:solidFill>
              <a:srgbClr val="9F8C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2359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9F8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REASONING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321040" y="2779776"/>
            <a:ext cx="694944" cy="69494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6CD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67928" y="3026664"/>
            <a:ext cx="201168" cy="201168"/>
          </a:xfrm>
          <a:prstGeom prst="ellipse">
            <a:avLst/>
          </a:prstGeom>
          <a:solidFill>
            <a:srgbClr val="6CD7F2"/>
          </a:solidFill>
          <a:ln w="12700">
            <a:solidFill>
              <a:srgbClr val="6CD7F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91856" y="36576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6CD7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CONTROL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839712" y="4078224"/>
            <a:ext cx="694944" cy="694944"/>
          </a:xfrm>
          <a:prstGeom prst="ellipse">
            <a:avLst/>
          </a:prstGeom>
          <a:solidFill>
            <a:srgbClr val="0F2433"/>
          </a:solidFill>
          <a:ln w="19050">
            <a:solidFill>
              <a:srgbClr val="5DE2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4325112"/>
            <a:ext cx="201168" cy="201168"/>
          </a:xfrm>
          <a:prstGeom prst="ellipse">
            <a:avLst/>
          </a:prstGeom>
          <a:solidFill>
            <a:srgbClr val="5DE2A4"/>
          </a:solidFill>
          <a:ln w="12700">
            <a:solidFill>
              <a:srgbClr val="5DE2A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10528" y="49560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5DE2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640080" y="5833872"/>
            <a:ext cx="3931920" cy="438912"/>
          </a:xfrm>
          <a:prstGeom prst="roundRect">
            <a:avLst/>
          </a:prstGeom>
          <a:solidFill>
            <a:srgbClr val="0F2433"/>
          </a:solidFill>
          <a:ln w="12700">
            <a:solidFill>
              <a:srgbClr val="0F2433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961888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55664" y="5961888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spc="60" kern="0" dirty="0">
                <a:solidFill>
                  <a:srgbClr val="6F89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 MIGRATION PLATFORM  ·  PFE 2026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Migration Platform — Soutenance PFE</dc:title>
  <dc:subject>Soutenance PFE — plateforme agentique de migration</dc:subject>
  <dc:creator>Agentic Migration Platform</dc:creator>
  <cp:lastModifiedBy>Agentic Migration Platform</cp:lastModifiedBy>
  <cp:revision>1</cp:revision>
  <dcterms:created xsi:type="dcterms:W3CDTF">2026-09-15T21:07:33Z</dcterms:created>
  <dcterms:modified xsi:type="dcterms:W3CDTF">2026-09-15T21:07:33Z</dcterms:modified>
</cp:coreProperties>
</file>